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343" r:id="rId2"/>
    <p:sldId id="344" r:id="rId3"/>
    <p:sldId id="286" r:id="rId4"/>
    <p:sldId id="312" r:id="rId5"/>
    <p:sldId id="311" r:id="rId6"/>
    <p:sldId id="310" r:id="rId7"/>
    <p:sldId id="314" r:id="rId8"/>
    <p:sldId id="313" r:id="rId9"/>
    <p:sldId id="316" r:id="rId10"/>
    <p:sldId id="315" r:id="rId11"/>
    <p:sldId id="319" r:id="rId12"/>
    <p:sldId id="318" r:id="rId13"/>
    <p:sldId id="317" r:id="rId14"/>
    <p:sldId id="320" r:id="rId15"/>
    <p:sldId id="324" r:id="rId16"/>
    <p:sldId id="321" r:id="rId17"/>
    <p:sldId id="323" r:id="rId18"/>
    <p:sldId id="327" r:id="rId19"/>
    <p:sldId id="326" r:id="rId20"/>
    <p:sldId id="325" r:id="rId21"/>
    <p:sldId id="322" r:id="rId22"/>
    <p:sldId id="330" r:id="rId23"/>
    <p:sldId id="329" r:id="rId24"/>
    <p:sldId id="328" r:id="rId25"/>
    <p:sldId id="333" r:id="rId26"/>
    <p:sldId id="332" r:id="rId27"/>
    <p:sldId id="331" r:id="rId28"/>
    <p:sldId id="336" r:id="rId29"/>
    <p:sldId id="335" r:id="rId30"/>
    <p:sldId id="339" r:id="rId31"/>
    <p:sldId id="338" r:id="rId32"/>
    <p:sldId id="337" r:id="rId33"/>
    <p:sldId id="341" r:id="rId34"/>
    <p:sldId id="340" r:id="rId35"/>
    <p:sldId id="345" r:id="rId36"/>
    <p:sldId id="346" r:id="rId3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451E79BE-1E82-4850-8D30-A9027FBE7332}">
          <p14:sldIdLst>
            <p14:sldId id="343"/>
            <p14:sldId id="344"/>
          </p14:sldIdLst>
        </p14:section>
        <p14:section name="Untitled Section" id="{878596D7-06AD-4E46-BC8A-0B98917CA2D1}">
          <p14:sldIdLst>
            <p14:sldId id="286"/>
            <p14:sldId id="312"/>
            <p14:sldId id="311"/>
            <p14:sldId id="310"/>
            <p14:sldId id="314"/>
            <p14:sldId id="313"/>
            <p14:sldId id="316"/>
            <p14:sldId id="315"/>
            <p14:sldId id="319"/>
            <p14:sldId id="318"/>
            <p14:sldId id="317"/>
            <p14:sldId id="320"/>
            <p14:sldId id="324"/>
            <p14:sldId id="321"/>
            <p14:sldId id="323"/>
            <p14:sldId id="327"/>
            <p14:sldId id="326"/>
            <p14:sldId id="325"/>
            <p14:sldId id="322"/>
            <p14:sldId id="330"/>
            <p14:sldId id="329"/>
            <p14:sldId id="328"/>
            <p14:sldId id="333"/>
            <p14:sldId id="332"/>
            <p14:sldId id="331"/>
            <p14:sldId id="336"/>
            <p14:sldId id="335"/>
            <p14:sldId id="339"/>
            <p14:sldId id="338"/>
            <p14:sldId id="337"/>
            <p14:sldId id="341"/>
            <p14:sldId id="340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53" d="100"/>
          <a:sy n="53" d="100"/>
        </p:scale>
        <p:origin x="1242" y="36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677867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B48FC-AB47-4F5D-9725-BF22E783BC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7061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B48FC-AB47-4F5D-9725-BF22E783BCCD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478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1169CD1-0D36-4DBD-B921-2C1A5D282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0" y="8693224"/>
            <a:ext cx="2814124" cy="184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1169CD1-0D36-4DBD-B921-2C1A5D282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0700544" y="254000"/>
            <a:ext cx="2304256" cy="172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C2C9487-CB88-45EF-AFD8-0F5BB6851C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212" y="8722432"/>
            <a:ext cx="2741588" cy="89827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2C9487-CB88-45EF-AFD8-0F5BB6851C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725" y="8645014"/>
            <a:ext cx="2710075" cy="1302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1169CD1-0D36-4DBD-B921-2C1A5D282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 flipV="1">
            <a:off x="195613" y="9288983"/>
            <a:ext cx="2880320" cy="230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1169CD1-0D36-4DBD-B921-2C1A5D2821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 flipV="1">
            <a:off x="10120400" y="0"/>
            <a:ext cx="2880320" cy="23042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://www.tarahtech.com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://www.tarahtech.com/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7B2DFA0-1D0E-4EA2-9BA9-E01292BC1A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78"/>
          <a:stretch/>
        </p:blipFill>
        <p:spPr>
          <a:xfrm flipV="1">
            <a:off x="-50965" y="0"/>
            <a:ext cx="13055765" cy="975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44" y="3585864"/>
            <a:ext cx="7222456" cy="2581872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60555" y="6000134"/>
            <a:ext cx="7033863" cy="35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7" dirty="0">
                <a:solidFill>
                  <a:srgbClr val="214F5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www.tarahtech.com</a:t>
            </a:r>
            <a:endParaRPr lang="en-US" sz="1707" dirty="0">
              <a:solidFill>
                <a:srgbClr val="214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199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E9980A1-55E4-45A5-BA35-3D5B0A0D4D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-1" b="84384"/>
          <a:stretch/>
        </p:blipFill>
        <p:spPr>
          <a:xfrm rot="16200000" flipV="1">
            <a:off x="6929028" y="3677827"/>
            <a:ext cx="9753601" cy="239794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5695" y="3102731"/>
            <a:ext cx="8496945" cy="3672408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/>
                </a:solidFill>
              </a:rPr>
              <a:t>DATA MANIPULATION AND VISUALIZATION</a:t>
            </a:r>
            <a:endParaRPr lang="en-IN" sz="4400" dirty="0"/>
          </a:p>
        </p:txBody>
      </p:sp>
      <p:pic>
        <p:nvPicPr>
          <p:cNvPr id="4" name="Picture 4" descr="https://lh6.googleusercontent.com/RzpCUWdFjHvAA400KsCGDl1BpSKQEENZ8AsnF_LI5z0w2p2FNamijhubAqCnJs717ROnMxCNrd2K5qWyQJlnhObTeJk8GaKK9pySlB6g7iB_kt1gDK_iiVg1osoV_Yzm6DRYVoySM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736" y="-3"/>
            <a:ext cx="936104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7265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04" y="412304"/>
            <a:ext cx="11017224" cy="2000696"/>
          </a:xfrm>
        </p:spPr>
        <p:txBody>
          <a:bodyPr anchor="t">
            <a:normAutofit/>
          </a:bodyPr>
          <a:lstStyle/>
          <a:p>
            <a:pPr algn="l"/>
            <a:r>
              <a:rPr lang="en-IN" sz="4000" b="1" dirty="0" smtClean="0">
                <a:solidFill>
                  <a:schemeClr val="accent1"/>
                </a:solidFill>
              </a:rPr>
              <a:t>DATA MANIPULATION AND VISUALIZATION</a:t>
            </a:r>
            <a:endParaRPr lang="en-IN" sz="4000" b="1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744" y="1276400"/>
            <a:ext cx="11099800" cy="784887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IN" sz="3600" dirty="0" smtClean="0">
                <a:solidFill>
                  <a:schemeClr val="accent1"/>
                </a:solidFill>
              </a:rPr>
              <a:t>1) Data Manipulation:</a:t>
            </a:r>
          </a:p>
          <a:p>
            <a:pPr lvl="1"/>
            <a:r>
              <a:rPr lang="en-IN" sz="2600" dirty="0" smtClean="0"/>
              <a:t>Filtering Data</a:t>
            </a:r>
          </a:p>
          <a:p>
            <a:pPr lvl="1"/>
            <a:r>
              <a:rPr lang="en-IN" sz="2600" dirty="0" smtClean="0"/>
              <a:t>Selecting sub data</a:t>
            </a:r>
          </a:p>
          <a:p>
            <a:pPr lvl="1"/>
            <a:r>
              <a:rPr lang="en-IN" sz="2600" dirty="0" smtClean="0"/>
              <a:t>Sorting Data</a:t>
            </a:r>
          </a:p>
          <a:p>
            <a:pPr lvl="1"/>
            <a:r>
              <a:rPr lang="en-IN" sz="2600" dirty="0" smtClean="0"/>
              <a:t>Grouping Data</a:t>
            </a:r>
          </a:p>
          <a:p>
            <a:pPr lvl="1"/>
            <a:r>
              <a:rPr lang="en-IN" sz="2600" dirty="0" smtClean="0"/>
              <a:t>Dates manipulations</a:t>
            </a:r>
          </a:p>
          <a:p>
            <a:pPr lvl="1"/>
            <a:r>
              <a:rPr lang="en-IN" sz="2600" dirty="0" smtClean="0"/>
              <a:t>String Manipulations</a:t>
            </a:r>
          </a:p>
          <a:p>
            <a:pPr lvl="1"/>
            <a:r>
              <a:rPr lang="en-IN" sz="2600" dirty="0" smtClean="0"/>
              <a:t>Joining datasets: a) Concatenation                                                             </a:t>
            </a:r>
          </a:p>
          <a:p>
            <a:pPr marL="444500" lvl="1" indent="0">
              <a:buNone/>
            </a:pPr>
            <a:r>
              <a:rPr lang="en-IN" sz="2600" dirty="0" smtClean="0"/>
              <a:t>                                b)  Merging Data</a:t>
            </a:r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101800" y="412304"/>
            <a:ext cx="10950500" cy="8064896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IN" sz="4600" dirty="0" smtClean="0">
                <a:solidFill>
                  <a:schemeClr val="accent1"/>
                </a:solidFill>
              </a:rPr>
              <a:t>2) Data Visualization:</a:t>
            </a:r>
          </a:p>
          <a:p>
            <a:pPr marL="444500" lvl="1" indent="0">
              <a:buNone/>
            </a:pPr>
            <a:r>
              <a:rPr lang="en-IN" dirty="0" smtClean="0"/>
              <a:t>a) </a:t>
            </a:r>
            <a:r>
              <a:rPr lang="en-IN" sz="2800" dirty="0" smtClean="0">
                <a:solidFill>
                  <a:schemeClr val="accent1"/>
                </a:solidFill>
              </a:rPr>
              <a:t>Univariate visualization</a:t>
            </a:r>
          </a:p>
          <a:p>
            <a:pPr lvl="2"/>
            <a:r>
              <a:rPr lang="en-IN" sz="2600" dirty="0" smtClean="0"/>
              <a:t>Histogram</a:t>
            </a:r>
          </a:p>
          <a:p>
            <a:pPr lvl="2"/>
            <a:r>
              <a:rPr lang="en-IN" sz="2600" dirty="0" smtClean="0"/>
              <a:t>Boxplot</a:t>
            </a:r>
          </a:p>
          <a:p>
            <a:pPr lvl="2"/>
            <a:r>
              <a:rPr lang="en-IN" sz="2600" dirty="0" smtClean="0"/>
              <a:t>Density Graph </a:t>
            </a:r>
          </a:p>
          <a:p>
            <a:pPr lvl="2"/>
            <a:r>
              <a:rPr lang="en-IN" sz="2600" dirty="0" err="1" smtClean="0"/>
              <a:t>Distplot</a:t>
            </a:r>
            <a:endParaRPr lang="en-IN" sz="2600" dirty="0" smtClean="0"/>
          </a:p>
          <a:p>
            <a:pPr marL="444500" lvl="1" indent="0">
              <a:buNone/>
            </a:pPr>
            <a:r>
              <a:rPr lang="en-IN" dirty="0" smtClean="0"/>
              <a:t>b) </a:t>
            </a:r>
            <a:r>
              <a:rPr lang="en-IN" sz="2600" dirty="0" smtClean="0">
                <a:solidFill>
                  <a:schemeClr val="accent1"/>
                </a:solidFill>
              </a:rPr>
              <a:t>Bivariate visualization</a:t>
            </a:r>
          </a:p>
          <a:p>
            <a:pPr lvl="2"/>
            <a:r>
              <a:rPr lang="en-IN" sz="2600" dirty="0" smtClean="0"/>
              <a:t>Bar Graph</a:t>
            </a:r>
          </a:p>
          <a:p>
            <a:pPr lvl="2"/>
            <a:r>
              <a:rPr lang="en-IN" sz="2600" dirty="0" smtClean="0"/>
              <a:t>Stacked Graph</a:t>
            </a:r>
          </a:p>
          <a:p>
            <a:pPr marL="0" indent="0">
              <a:buNone/>
            </a:pPr>
            <a:r>
              <a:rPr lang="en-IN" sz="2600" dirty="0" smtClean="0"/>
              <a:t>     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630918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lvl="1"/>
            <a:r>
              <a:rPr lang="en-IN" sz="2400" dirty="0"/>
              <a:t>Scatter </a:t>
            </a:r>
            <a:r>
              <a:rPr lang="en-IN" sz="2400" dirty="0" smtClean="0"/>
              <a:t>plot</a:t>
            </a:r>
          </a:p>
          <a:p>
            <a:pPr lvl="1"/>
            <a:r>
              <a:rPr lang="en-IN" sz="2400" dirty="0" smtClean="0"/>
              <a:t>Line </a:t>
            </a:r>
            <a:r>
              <a:rPr lang="en-IN" sz="2400" dirty="0"/>
              <a:t>Graph</a:t>
            </a:r>
          </a:p>
          <a:p>
            <a:pPr lvl="1"/>
            <a:r>
              <a:rPr lang="en-IN" sz="2400" dirty="0"/>
              <a:t>Hex </a:t>
            </a:r>
            <a:r>
              <a:rPr lang="en-IN" sz="2400" dirty="0" smtClean="0"/>
              <a:t>plot</a:t>
            </a:r>
          </a:p>
          <a:p>
            <a:pPr lvl="1"/>
            <a:r>
              <a:rPr lang="en-IN" sz="2400" dirty="0" smtClean="0"/>
              <a:t>Scatter matrix</a:t>
            </a:r>
          </a:p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c) Multivariate Visualization</a:t>
            </a:r>
          </a:p>
          <a:p>
            <a:pPr lvl="1"/>
            <a:r>
              <a:rPr lang="en-IN" sz="2400" dirty="0" err="1" smtClean="0"/>
              <a:t>Lmplot</a:t>
            </a:r>
            <a:endParaRPr lang="en-IN" sz="2400" dirty="0" smtClean="0"/>
          </a:p>
          <a:p>
            <a:pPr lvl="1"/>
            <a:r>
              <a:rPr lang="en-IN" sz="2400" dirty="0" smtClean="0"/>
              <a:t>Scatter plot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7178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950392"/>
          </a:xfrm>
        </p:spPr>
        <p:txBody>
          <a:bodyPr anchor="ctr">
            <a:normAutofit/>
          </a:bodyPr>
          <a:lstStyle/>
          <a:p>
            <a:r>
              <a:rPr lang="en-IN" sz="4000" dirty="0" smtClean="0">
                <a:solidFill>
                  <a:schemeClr val="accent1"/>
                </a:solidFill>
              </a:rPr>
              <a:t>Data Manipulations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52500" y="1204392"/>
            <a:ext cx="11454556" cy="7416824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1.Filtering Data:</a:t>
            </a:r>
            <a:endParaRPr lang="en-IN" sz="2400" dirty="0" smtClean="0">
              <a:solidFill>
                <a:schemeClr val="accent1"/>
              </a:solidFill>
            </a:endParaRPr>
          </a:p>
          <a:p>
            <a:pPr lvl="1"/>
            <a:r>
              <a:rPr lang="en-IN" sz="2400" dirty="0" smtClean="0">
                <a:solidFill>
                  <a:schemeClr val="tx1"/>
                </a:solidFill>
              </a:rPr>
              <a:t>For </a:t>
            </a:r>
            <a:r>
              <a:rPr lang="en-US" sz="2400" dirty="0" err="1" smtClean="0"/>
              <a:t>subsetting</a:t>
            </a:r>
            <a:r>
              <a:rPr lang="en-US" sz="2400" dirty="0" smtClean="0"/>
              <a:t> </a:t>
            </a:r>
            <a:r>
              <a:rPr lang="en-US" sz="2400" dirty="0"/>
              <a:t>a </a:t>
            </a:r>
            <a:r>
              <a:rPr lang="en-US" sz="2400" dirty="0" smtClean="0"/>
              <a:t>data frame </a:t>
            </a:r>
            <a:r>
              <a:rPr lang="en-US" sz="2400" dirty="0"/>
              <a:t>based on one or more values of </a:t>
            </a:r>
            <a:r>
              <a:rPr lang="en-US" sz="2400" dirty="0" smtClean="0"/>
              <a:t>a column</a:t>
            </a:r>
            <a:r>
              <a:rPr lang="en-US" sz="2400" dirty="0"/>
              <a:t> </a:t>
            </a:r>
            <a:r>
              <a:rPr lang="en-US" sz="2400" dirty="0" smtClean="0"/>
              <a:t>or rows, filtering data comes handy.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Example: The dataset(E-commerce) of 8523 rows and 12 columns. When data of column’s specific value(Dairy in </a:t>
            </a:r>
            <a:r>
              <a:rPr lang="en-US" sz="2400" dirty="0" err="1" smtClean="0">
                <a:solidFill>
                  <a:schemeClr val="tx1"/>
                </a:solidFill>
              </a:rPr>
              <a:t>Item_type</a:t>
            </a:r>
            <a:r>
              <a:rPr lang="en-US" sz="2400" dirty="0" smtClean="0">
                <a:solidFill>
                  <a:schemeClr val="tx1"/>
                </a:solidFill>
              </a:rPr>
              <a:t>) is required, then filtering is used.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# filtering data set for rows where </a:t>
            </a:r>
            <a:r>
              <a:rPr lang="en-US" sz="2400" dirty="0" err="1">
                <a:solidFill>
                  <a:schemeClr val="tx1"/>
                </a:solidFill>
              </a:rPr>
              <a:t>item_type</a:t>
            </a:r>
            <a:r>
              <a:rPr lang="en-US" sz="2400" dirty="0">
                <a:solidFill>
                  <a:schemeClr val="tx1"/>
                </a:solidFill>
              </a:rPr>
              <a:t>=Dairy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         [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filter =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data[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data.Item_Type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=='Dairy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']  </a:t>
            </a:r>
            <a:r>
              <a:rPr lang="en-US" sz="2400" dirty="0" smtClean="0">
                <a:solidFill>
                  <a:schemeClr val="tx1"/>
                </a:solidFill>
              </a:rPr>
              <a:t>]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2.Selecting Data: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sz="2400" dirty="0" smtClean="0">
                <a:solidFill>
                  <a:schemeClr val="tx1"/>
                </a:solidFill>
              </a:rPr>
              <a:t>While working on data, sometimes we need to  take subsets of the whole data or subset of the data.</a:t>
            </a:r>
          </a:p>
          <a:p>
            <a:pPr lvl="1"/>
            <a:r>
              <a:rPr lang="en-IN" sz="2400" dirty="0" smtClean="0">
                <a:solidFill>
                  <a:schemeClr val="tx1"/>
                </a:solidFill>
              </a:rPr>
              <a:t>In such cases, we select the required data, using select() function.</a:t>
            </a:r>
          </a:p>
        </p:txBody>
      </p:sp>
    </p:spTree>
    <p:extLst>
      <p:ext uri="{BB962C8B-B14F-4D97-AF65-F5344CB8AC3E}">
        <p14:creationId xmlns:p14="http://schemas.microsoft.com/office/powerpoint/2010/main" val="8404185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52500" y="412304"/>
            <a:ext cx="11099800" cy="8071296"/>
          </a:xfrm>
        </p:spPr>
        <p:txBody>
          <a:bodyPr anchor="t">
            <a:normAutofit fontScale="77500" lnSpcReduction="20000"/>
          </a:bodyPr>
          <a:lstStyle/>
          <a:p>
            <a:pPr lvl="1"/>
            <a:r>
              <a:rPr lang="en-IN" dirty="0" smtClean="0"/>
              <a:t>Example; Taking the previous E-commerce dataset, which has 8523 rows and 12 columns. We want only columns of </a:t>
            </a:r>
            <a:r>
              <a:rPr lang="en-IN" dirty="0" err="1" smtClean="0"/>
              <a:t>Item_type</a:t>
            </a:r>
            <a:r>
              <a:rPr lang="en-IN" dirty="0" smtClean="0"/>
              <a:t> and </a:t>
            </a:r>
            <a:r>
              <a:rPr lang="en-IN" dirty="0" err="1" smtClean="0"/>
              <a:t>Item_MRP</a:t>
            </a:r>
            <a:r>
              <a:rPr lang="en-IN" dirty="0" smtClean="0"/>
              <a:t>, in such cases we use select function. </a:t>
            </a:r>
          </a:p>
          <a:p>
            <a:pPr marL="444500" lvl="1" indent="0">
              <a:buNone/>
            </a:pPr>
            <a:r>
              <a:rPr lang="en-US" dirty="0"/>
              <a:t>#to select columns </a:t>
            </a:r>
            <a:r>
              <a:rPr lang="en-US" dirty="0" err="1"/>
              <a:t>item_type</a:t>
            </a:r>
            <a:r>
              <a:rPr lang="en-US" dirty="0"/>
              <a:t> and </a:t>
            </a:r>
            <a:r>
              <a:rPr lang="en-US" dirty="0" err="1" smtClean="0"/>
              <a:t>item_mrp</a:t>
            </a:r>
            <a:endParaRPr lang="en-IN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[ 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select1=data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[['Item_Type','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Item_MRP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']]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]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4100" dirty="0" smtClean="0">
                <a:solidFill>
                  <a:schemeClr val="accent1"/>
                </a:solidFill>
              </a:rPr>
              <a:t>3.Sorting Data: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Sorting Data is sorting continuous variables in ascending and descending order, categorical variables in alphabetic order.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sort </a:t>
            </a:r>
            <a:r>
              <a:rPr lang="en-US" dirty="0" smtClean="0"/>
              <a:t>data </a:t>
            </a:r>
            <a:r>
              <a:rPr lang="en-US" dirty="0"/>
              <a:t>frame based on the values of one or more columns or sort based on the values of row index or row names of pandas </a:t>
            </a:r>
            <a:r>
              <a:rPr lang="en-US" dirty="0" smtClean="0"/>
              <a:t>data frame, we can use these two functions.</a:t>
            </a:r>
            <a:endParaRPr lang="en-US" dirty="0"/>
          </a:p>
          <a:p>
            <a:pPr lvl="1"/>
            <a:r>
              <a:rPr lang="en-US" b="1" dirty="0" err="1"/>
              <a:t>sort_values</a:t>
            </a:r>
            <a:r>
              <a:rPr lang="en-US" b="1" dirty="0"/>
              <a:t>()</a:t>
            </a:r>
            <a:r>
              <a:rPr lang="en-US" dirty="0"/>
              <a:t>: to sort pandas data frame by one or more columns</a:t>
            </a:r>
          </a:p>
          <a:p>
            <a:pPr lvl="1"/>
            <a:r>
              <a:rPr lang="en-US" b="1" dirty="0" err="1"/>
              <a:t>sort_index</a:t>
            </a:r>
            <a:r>
              <a:rPr lang="en-US" b="1" dirty="0"/>
              <a:t>()</a:t>
            </a:r>
            <a:r>
              <a:rPr lang="en-US" dirty="0"/>
              <a:t>: to sort pandas data frame by row index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6387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700336"/>
            <a:ext cx="11454556" cy="7783264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#</a:t>
            </a:r>
            <a:r>
              <a:rPr lang="en-IN" dirty="0">
                <a:solidFill>
                  <a:schemeClr val="tx1"/>
                </a:solidFill>
              </a:rPr>
              <a:t>sorting on </a:t>
            </a:r>
            <a:r>
              <a:rPr lang="en-IN" dirty="0" smtClean="0">
                <a:solidFill>
                  <a:schemeClr val="tx1"/>
                </a:solidFill>
              </a:rPr>
              <a:t>continuous value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sort1=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data.sort_values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('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Item_Weight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')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#sorting on categorical values is done in </a:t>
            </a:r>
            <a:r>
              <a:rPr lang="en-IN" dirty="0" smtClean="0">
                <a:solidFill>
                  <a:schemeClr val="tx1"/>
                </a:solidFill>
              </a:rPr>
              <a:t>alphabetical </a:t>
            </a:r>
            <a:r>
              <a:rPr lang="en-IN" dirty="0">
                <a:solidFill>
                  <a:schemeClr val="tx1"/>
                </a:solidFill>
              </a:rPr>
              <a:t>order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sort2=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data.sort_values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Item_Fat_Content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#sorting on </a:t>
            </a:r>
            <a:r>
              <a:rPr lang="en-IN" dirty="0" smtClean="0">
                <a:solidFill>
                  <a:schemeClr val="tx1"/>
                </a:solidFill>
              </a:rPr>
              <a:t>continuous </a:t>
            </a:r>
            <a:r>
              <a:rPr lang="en-IN" dirty="0">
                <a:solidFill>
                  <a:schemeClr val="tx1"/>
                </a:solidFill>
              </a:rPr>
              <a:t>values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sort3=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data.sort_values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('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Item_Weight',ascending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=False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#sorting on two </a:t>
            </a:r>
            <a:r>
              <a:rPr lang="en-IN" dirty="0" smtClean="0">
                <a:solidFill>
                  <a:schemeClr val="tx1"/>
                </a:solidFill>
              </a:rPr>
              <a:t>values; one </a:t>
            </a:r>
            <a:r>
              <a:rPr lang="en-IN" dirty="0">
                <a:solidFill>
                  <a:schemeClr val="tx1"/>
                </a:solidFill>
              </a:rPr>
              <a:t>in ascending and the other in </a:t>
            </a:r>
            <a:r>
              <a:rPr lang="en-IN" dirty="0" smtClean="0">
                <a:solidFill>
                  <a:schemeClr val="tx1"/>
                </a:solidFill>
              </a:rPr>
              <a:t>descending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[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sort4=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data.sort_values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(['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Item_Weight','revenue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'],ascending=[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True,False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])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315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52500" y="628328"/>
            <a:ext cx="11099800" cy="9125272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IN" sz="4600" dirty="0" smtClean="0">
                <a:solidFill>
                  <a:schemeClr val="accent1"/>
                </a:solidFill>
              </a:rPr>
              <a:t>Grouping Data</a:t>
            </a:r>
            <a:r>
              <a:rPr lang="en-IN" dirty="0" smtClean="0">
                <a:solidFill>
                  <a:schemeClr val="accent1"/>
                </a:solidFill>
              </a:rPr>
              <a:t>:</a:t>
            </a:r>
          </a:p>
          <a:p>
            <a:pPr lvl="1"/>
            <a:r>
              <a:rPr lang="en-US" dirty="0"/>
              <a:t>Groupby essentially splits the data into different groups depending on a variable of your choice.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</a:t>
            </a:r>
            <a:r>
              <a:rPr lang="en-US" dirty="0" smtClean="0"/>
              <a:t>expression</a:t>
            </a:r>
            <a:r>
              <a:rPr lang="en-US" dirty="0"/>
              <a:t> </a:t>
            </a:r>
            <a:r>
              <a:rPr lang="en-US" dirty="0" err="1"/>
              <a:t>data.groupby</a:t>
            </a:r>
            <a:r>
              <a:rPr lang="en-US" dirty="0" smtClean="0"/>
              <a:t>(‘</a:t>
            </a:r>
            <a:r>
              <a:rPr lang="en-US" dirty="0" err="1" smtClean="0"/>
              <a:t>Item_type</a:t>
            </a:r>
            <a:r>
              <a:rPr lang="en-US" dirty="0" smtClean="0"/>
              <a:t>’)</a:t>
            </a:r>
            <a:r>
              <a:rPr lang="en-US" dirty="0"/>
              <a:t>  will split our current </a:t>
            </a:r>
            <a:r>
              <a:rPr lang="en-US" dirty="0" err="1"/>
              <a:t>DataFrame</a:t>
            </a:r>
            <a:r>
              <a:rPr lang="en-US" dirty="0"/>
              <a:t> by </a:t>
            </a:r>
            <a:r>
              <a:rPr lang="en-US" dirty="0" err="1" smtClean="0"/>
              <a:t>Item_type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On these splits aggregation functions(mean(),sum(),count()) can be performed.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#To find mean of a grouped data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[ 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mean_item_mrp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data.groupby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("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Item_Type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")["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Item_MRP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"].mean()  </a:t>
            </a:r>
            <a:r>
              <a:rPr lang="en-US" dirty="0" smtClean="0">
                <a:solidFill>
                  <a:schemeClr val="tx1"/>
                </a:solidFill>
              </a:rPr>
              <a:t>]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# </a:t>
            </a:r>
            <a:r>
              <a:rPr lang="en-US" dirty="0">
                <a:solidFill>
                  <a:schemeClr val="tx1"/>
                </a:solidFill>
              </a:rPr>
              <a:t>finding mean for every item according to their weights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[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mean_x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data.groupby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(["Item_Type","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Item_Weight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"])["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Item_MRP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"].mean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() </a:t>
            </a:r>
            <a:r>
              <a:rPr lang="en-US" dirty="0" smtClean="0">
                <a:solidFill>
                  <a:schemeClr val="tx1"/>
                </a:solidFill>
              </a:rPr>
              <a:t>]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4445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9571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556320"/>
            <a:ext cx="11454556" cy="9001000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sz="5100" dirty="0" smtClean="0">
                <a:solidFill>
                  <a:schemeClr val="accent1"/>
                </a:solidFill>
              </a:rPr>
              <a:t>Date Manipulation:</a:t>
            </a:r>
          </a:p>
          <a:p>
            <a:pPr lvl="1"/>
            <a:r>
              <a:rPr lang="en-US" dirty="0"/>
              <a:t>When a csv file is imported and a Data Frame is made, the Date time objects in the file are read as a string object rather a Date Time </a:t>
            </a:r>
            <a:r>
              <a:rPr lang="en-US" dirty="0" smtClean="0"/>
              <a:t>object</a:t>
            </a:r>
          </a:p>
          <a:p>
            <a:pPr lvl="1"/>
            <a:r>
              <a:rPr lang="en-US" dirty="0"/>
              <a:t>Hence it’s very tough to perform operations like Time difference on a string rather a Date Time </a:t>
            </a:r>
            <a:r>
              <a:rPr lang="en-US" dirty="0" smtClean="0"/>
              <a:t>object.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Pandas </a:t>
            </a:r>
            <a:r>
              <a:rPr lang="en-IN" dirty="0" err="1" smtClean="0">
                <a:solidFill>
                  <a:schemeClr val="tx1"/>
                </a:solidFill>
              </a:rPr>
              <a:t>to_datetime</a:t>
            </a:r>
            <a:r>
              <a:rPr lang="en-IN" dirty="0" smtClean="0">
                <a:solidFill>
                  <a:schemeClr val="tx1"/>
                </a:solidFill>
              </a:rPr>
              <a:t>() method helps to convert string Date time into python Date time object.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[ </a:t>
            </a:r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flt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['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FlightDate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'].head(2)</a:t>
            </a:r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444500" lvl="1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    result:    0 01-Jan-14</a:t>
            </a:r>
          </a:p>
          <a:p>
            <a:pPr marL="444500" lvl="1" indent="0">
              <a:buNone/>
            </a:pP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                 1  01-jan-14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flt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["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FlightDate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"]=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pd.to_datetime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flt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["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FlightDate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"],format="%d-%b-%y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").head(2)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444500" lvl="1" indent="0"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IN" dirty="0" smtClean="0">
                <a:solidFill>
                  <a:schemeClr val="tx1"/>
                </a:solidFill>
              </a:rPr>
              <a:t>result     0 2014-01-01</a:t>
            </a:r>
          </a:p>
          <a:p>
            <a:pPr marL="444500" lvl="1" indent="0">
              <a:buNone/>
            </a:pP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                   1 2014-01-01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3708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628328"/>
            <a:ext cx="11099800" cy="8784976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n-IN" sz="4100" dirty="0" smtClean="0">
                <a:solidFill>
                  <a:schemeClr val="accent1"/>
                </a:solidFill>
              </a:rPr>
              <a:t>String Manipulations:</a:t>
            </a:r>
          </a:p>
          <a:p>
            <a:pPr lvl="1"/>
            <a:r>
              <a:rPr lang="en-IN" sz="2600" dirty="0" smtClean="0">
                <a:solidFill>
                  <a:schemeClr val="tx1"/>
                </a:solidFill>
              </a:rPr>
              <a:t>There are many built in functions to manipulate the strings in the dataset.</a:t>
            </a:r>
          </a:p>
          <a:p>
            <a:pPr lvl="1"/>
            <a:r>
              <a:rPr lang="en-IN" sz="2600" dirty="0" smtClean="0">
                <a:solidFill>
                  <a:schemeClr val="tx1"/>
                </a:solidFill>
              </a:rPr>
              <a:t>Examples; len(), count(), find(), index(), replace(), reversed()</a:t>
            </a:r>
          </a:p>
          <a:p>
            <a:pPr lvl="1"/>
            <a:r>
              <a:rPr lang="en-IN" sz="2600" dirty="0" smtClean="0">
                <a:solidFill>
                  <a:schemeClr val="tx1"/>
                </a:solidFill>
              </a:rPr>
              <a:t>These functions are used to describe and manipulate strings.</a:t>
            </a:r>
          </a:p>
          <a:p>
            <a:pPr lvl="1"/>
            <a:r>
              <a:rPr lang="en-IN" sz="2600" dirty="0" smtClean="0">
                <a:solidFill>
                  <a:schemeClr val="tx1"/>
                </a:solidFill>
              </a:rPr>
              <a:t>[  </a:t>
            </a:r>
            <a:r>
              <a:rPr lang="en-IN" sz="2600" dirty="0" smtClean="0">
                <a:solidFill>
                  <a:schemeClr val="accent5">
                    <a:lumMod val="75000"/>
                  </a:schemeClr>
                </a:solidFill>
              </a:rPr>
              <a:t>print(book</a:t>
            </a:r>
            <a:r>
              <a:rPr lang="en-IN" sz="2600" dirty="0">
                <a:solidFill>
                  <a:schemeClr val="accent5">
                    <a:lumMod val="75000"/>
                  </a:schemeClr>
                </a:solidFill>
              </a:rPr>
              <a:t>["income"].head(2</a:t>
            </a:r>
            <a:r>
              <a:rPr lang="en-IN" sz="2600" dirty="0" smtClean="0">
                <a:solidFill>
                  <a:schemeClr val="accent5">
                    <a:lumMod val="75000"/>
                  </a:schemeClr>
                </a:solidFill>
              </a:rPr>
              <a:t>))  </a:t>
            </a:r>
            <a:r>
              <a:rPr lang="en-IN" sz="2600" dirty="0" smtClean="0">
                <a:solidFill>
                  <a:schemeClr val="tx1"/>
                </a:solidFill>
              </a:rPr>
              <a:t>]</a:t>
            </a:r>
          </a:p>
          <a:p>
            <a:pPr marL="444500" lvl="1" indent="0">
              <a:buNone/>
            </a:pPr>
            <a:r>
              <a:rPr lang="en-IN" sz="2600" dirty="0">
                <a:solidFill>
                  <a:schemeClr val="tx1"/>
                </a:solidFill>
              </a:rPr>
              <a:t> </a:t>
            </a:r>
            <a:r>
              <a:rPr lang="en-IN" sz="2600" dirty="0" smtClean="0">
                <a:solidFill>
                  <a:schemeClr val="tx1"/>
                </a:solidFill>
              </a:rPr>
              <a:t>    result:0 51/-</a:t>
            </a:r>
          </a:p>
          <a:p>
            <a:pPr marL="444500" lvl="1" indent="0">
              <a:buNone/>
            </a:pPr>
            <a:r>
              <a:rPr lang="en-IN" sz="2600" dirty="0">
                <a:solidFill>
                  <a:schemeClr val="tx1"/>
                </a:solidFill>
              </a:rPr>
              <a:t> </a:t>
            </a:r>
            <a:r>
              <a:rPr lang="en-IN" sz="2600" dirty="0" smtClean="0">
                <a:solidFill>
                  <a:schemeClr val="tx1"/>
                </a:solidFill>
              </a:rPr>
              <a:t>              1 52/-</a:t>
            </a:r>
          </a:p>
          <a:p>
            <a:pPr lvl="1"/>
            <a:r>
              <a:rPr lang="en-IN" sz="2600" dirty="0" smtClean="0">
                <a:solidFill>
                  <a:schemeClr val="tx1"/>
                </a:solidFill>
              </a:rPr>
              <a:t>[  </a:t>
            </a:r>
            <a:r>
              <a:rPr lang="en-IN" sz="2600" dirty="0" smtClean="0">
                <a:solidFill>
                  <a:schemeClr val="accent5">
                    <a:lumMod val="75000"/>
                  </a:schemeClr>
                </a:solidFill>
              </a:rPr>
              <a:t>print(book</a:t>
            </a:r>
            <a:r>
              <a:rPr lang="en-IN" sz="2600" dirty="0">
                <a:solidFill>
                  <a:schemeClr val="accent5">
                    <a:lumMod val="75000"/>
                  </a:schemeClr>
                </a:solidFill>
              </a:rPr>
              <a:t>["income"].</a:t>
            </a:r>
            <a:r>
              <a:rPr lang="en-IN" sz="2600" dirty="0" err="1">
                <a:solidFill>
                  <a:schemeClr val="accent5">
                    <a:lumMod val="75000"/>
                  </a:schemeClr>
                </a:solidFill>
              </a:rPr>
              <a:t>str.replace</a:t>
            </a:r>
            <a:r>
              <a:rPr lang="en-IN" sz="2600" dirty="0">
                <a:solidFill>
                  <a:schemeClr val="accent5">
                    <a:lumMod val="75000"/>
                  </a:schemeClr>
                </a:solidFill>
              </a:rPr>
              <a:t>("/-","").head(2</a:t>
            </a:r>
            <a:r>
              <a:rPr lang="en-IN" sz="2600" dirty="0" smtClean="0">
                <a:solidFill>
                  <a:schemeClr val="accent5">
                    <a:lumMod val="75000"/>
                  </a:schemeClr>
                </a:solidFill>
              </a:rPr>
              <a:t>)  </a:t>
            </a:r>
            <a:r>
              <a:rPr lang="en-IN" sz="2600" dirty="0" smtClean="0">
                <a:solidFill>
                  <a:schemeClr val="tx1"/>
                </a:solidFill>
              </a:rPr>
              <a:t>]</a:t>
            </a:r>
          </a:p>
          <a:p>
            <a:pPr marL="444500" lvl="1" indent="0">
              <a:buNone/>
            </a:pPr>
            <a:r>
              <a:rPr lang="en-IN" sz="2600" dirty="0">
                <a:solidFill>
                  <a:schemeClr val="tx1"/>
                </a:solidFill>
              </a:rPr>
              <a:t> </a:t>
            </a:r>
            <a:r>
              <a:rPr lang="en-IN" sz="2600" dirty="0" smtClean="0">
                <a:solidFill>
                  <a:schemeClr val="tx1"/>
                </a:solidFill>
              </a:rPr>
              <a:t>     result:0 51</a:t>
            </a:r>
          </a:p>
          <a:p>
            <a:pPr marL="444500" lvl="1" indent="0">
              <a:buNone/>
            </a:pPr>
            <a:r>
              <a:rPr lang="en-IN" sz="2600" dirty="0">
                <a:solidFill>
                  <a:schemeClr val="tx1"/>
                </a:solidFill>
              </a:rPr>
              <a:t> </a:t>
            </a:r>
            <a:r>
              <a:rPr lang="en-IN" sz="2600" dirty="0" smtClean="0">
                <a:solidFill>
                  <a:schemeClr val="tx1"/>
                </a:solidFill>
              </a:rPr>
              <a:t>               1 52</a:t>
            </a:r>
            <a:endParaRPr lang="en-IN" sz="2600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4653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526564" cy="8071296"/>
          </a:xfrm>
        </p:spPr>
        <p:txBody>
          <a:bodyPr anchor="t">
            <a:normAutofit fontScale="62500" lnSpcReduction="20000"/>
          </a:bodyPr>
          <a:lstStyle/>
          <a:p>
            <a:r>
              <a:rPr lang="en-IN" sz="5100" dirty="0" smtClean="0">
                <a:solidFill>
                  <a:schemeClr val="accent1"/>
                </a:solidFill>
              </a:rPr>
              <a:t>Joining datasets</a:t>
            </a:r>
          </a:p>
          <a:p>
            <a:pPr marL="444500" lvl="1" indent="0">
              <a:buNone/>
            </a:pPr>
            <a:r>
              <a:rPr lang="en-IN" dirty="0" smtClean="0"/>
              <a:t>a) Concatenation:</a:t>
            </a:r>
          </a:p>
          <a:p>
            <a:pPr lvl="2"/>
            <a:r>
              <a:rPr lang="en-IN" dirty="0" smtClean="0"/>
              <a:t>Concatenation of two or more datasets is done by using function </a:t>
            </a:r>
            <a:r>
              <a:rPr lang="en-IN" dirty="0" err="1" smtClean="0"/>
              <a:t>concat</a:t>
            </a:r>
            <a:r>
              <a:rPr lang="en-IN" dirty="0" smtClean="0"/>
              <a:t>().</a:t>
            </a:r>
          </a:p>
          <a:p>
            <a:pPr lvl="2"/>
            <a:r>
              <a:rPr lang="en-IN" dirty="0" smtClean="0"/>
              <a:t>Datasets with same number of rows are concatenated with axis 1, which will combine all there columns, resulting in increase of columns.</a:t>
            </a:r>
          </a:p>
          <a:p>
            <a:pPr lvl="2"/>
            <a:r>
              <a:rPr lang="en-IN" dirty="0" smtClean="0"/>
              <a:t>Whereas, axis 0 is used, datasets are combined vertically, increasing the row numbers.</a:t>
            </a:r>
          </a:p>
          <a:p>
            <a:pPr lvl="2"/>
            <a:r>
              <a:rPr lang="en-IN" dirty="0" smtClean="0"/>
              <a:t>Let us take 4 datasets; data1(5000,12),data2(3523,12),data3(8523,5) and data4(8523,7)</a:t>
            </a:r>
          </a:p>
          <a:p>
            <a:pPr lvl="2"/>
            <a:r>
              <a:rPr lang="en-IN" dirty="0" smtClean="0"/>
              <a:t>#concatenating rows</a:t>
            </a:r>
            <a:endParaRPr lang="en-IN" dirty="0"/>
          </a:p>
          <a:p>
            <a:pPr lvl="2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print(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pd.concat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([datar1,datar2],axis=0).shape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  </a:t>
            </a:r>
            <a:r>
              <a:rPr lang="en-IN" dirty="0" smtClean="0"/>
              <a:t>] result;(8523,12)</a:t>
            </a:r>
          </a:p>
          <a:p>
            <a:pPr lvl="2"/>
            <a:r>
              <a:rPr lang="en-IN" dirty="0"/>
              <a:t>#</a:t>
            </a:r>
            <a:r>
              <a:rPr lang="en-IN" dirty="0" smtClean="0"/>
              <a:t>concatenating </a:t>
            </a:r>
            <a:r>
              <a:rPr lang="en-IN" dirty="0"/>
              <a:t>columns</a:t>
            </a:r>
            <a:endParaRPr lang="en-IN" dirty="0" smtClean="0"/>
          </a:p>
          <a:p>
            <a:pPr lvl="2"/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print(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pd.concat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([datac1,datac2],axis=1).shape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  </a:t>
            </a:r>
            <a:r>
              <a:rPr lang="en-IN" dirty="0" smtClean="0">
                <a:solidFill>
                  <a:schemeClr val="tx1"/>
                </a:solidFill>
              </a:rPr>
              <a:t>] result</a:t>
            </a:r>
            <a:r>
              <a:rPr lang="en-IN" dirty="0" smtClean="0">
                <a:solidFill>
                  <a:schemeClr val="tx1"/>
                </a:solidFill>
                <a:sym typeface="Wingdings" panose="05000000000000000000" pitchFamily="2" charset="2"/>
              </a:rPr>
              <a:t>:(8523,12)</a:t>
            </a:r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8255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b) Merging Datasets</a:t>
            </a:r>
          </a:p>
          <a:p>
            <a:pPr lvl="1"/>
            <a:r>
              <a:rPr lang="en-US" sz="2400" dirty="0"/>
              <a:t>Merge is an important tool to have because it allows you to efficiently combine data tables together in a nice and orderly fashion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It can merge either inner(), outer(), left() or right() of the datasets</a:t>
            </a:r>
            <a:r>
              <a:rPr lang="en-US" dirty="0" smtClean="0"/>
              <a:t>.</a:t>
            </a:r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872" y="4228728"/>
            <a:ext cx="10966897" cy="4392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735" y="8765232"/>
            <a:ext cx="2758114" cy="10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839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1886496"/>
          </a:xfrm>
        </p:spPr>
        <p:txBody>
          <a:bodyPr>
            <a:normAutofit fontScale="90000"/>
          </a:bodyPr>
          <a:lstStyle/>
          <a:p>
            <a:pPr algn="l"/>
            <a:r>
              <a:rPr lang="en-IN" sz="4800" dirty="0" smtClean="0">
                <a:solidFill>
                  <a:schemeClr val="accent1"/>
                </a:solidFill>
              </a:rPr>
              <a:t>                       Data Visualization</a:t>
            </a:r>
            <a:r>
              <a:rPr lang="en-IN" sz="3600" dirty="0" smtClean="0">
                <a:solidFill>
                  <a:schemeClr val="accent1"/>
                </a:solidFill>
              </a:rPr>
              <a:t/>
            </a:r>
            <a:br>
              <a:rPr lang="en-IN" sz="3600" dirty="0" smtClean="0">
                <a:solidFill>
                  <a:schemeClr val="accent1"/>
                </a:solidFill>
              </a:rPr>
            </a:br>
            <a:r>
              <a:rPr lang="en-IN" sz="3600" dirty="0" smtClean="0">
                <a:solidFill>
                  <a:schemeClr val="accent1"/>
                </a:solidFill>
              </a:rPr>
              <a:t/>
            </a:r>
            <a:br>
              <a:rPr lang="en-IN" sz="3600" dirty="0" smtClean="0">
                <a:solidFill>
                  <a:schemeClr val="accent1"/>
                </a:solidFill>
              </a:rPr>
            </a:br>
            <a:r>
              <a:rPr lang="en-IN" sz="3600" dirty="0" smtClean="0">
                <a:solidFill>
                  <a:schemeClr val="accent1"/>
                </a:solidFill>
              </a:rPr>
              <a:t>Univariate </a:t>
            </a:r>
            <a:r>
              <a:rPr lang="en-IN" sz="3600" dirty="0">
                <a:solidFill>
                  <a:schemeClr val="accent1"/>
                </a:solidFill>
              </a:rPr>
              <a:t>Visualization:</a:t>
            </a:r>
            <a:r>
              <a:rPr lang="en-IN" sz="4800" dirty="0">
                <a:solidFill>
                  <a:schemeClr val="accent1"/>
                </a:solidFill>
              </a:rPr>
              <a:t/>
            </a:r>
            <a:br>
              <a:rPr lang="en-IN" sz="4800" dirty="0">
                <a:solidFill>
                  <a:schemeClr val="accent1"/>
                </a:solidFill>
              </a:rPr>
            </a:br>
            <a:endParaRPr lang="en-IN" sz="4800" dirty="0">
              <a:solidFill>
                <a:schemeClr val="accen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780456"/>
            <a:ext cx="11099800" cy="7096844"/>
          </a:xfrm>
        </p:spPr>
        <p:txBody>
          <a:bodyPr anchor="t">
            <a:normAutofit/>
          </a:bodyPr>
          <a:lstStyle/>
          <a:p>
            <a:pPr marL="444500" lvl="1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1.Histogram</a:t>
            </a:r>
          </a:p>
          <a:p>
            <a:pPr lvl="2"/>
            <a:r>
              <a:rPr lang="en-US" sz="2400" dirty="0"/>
              <a:t>A histogram is a plot that lets </a:t>
            </a:r>
            <a:r>
              <a:rPr lang="en-US" sz="2400" dirty="0" smtClean="0"/>
              <a:t>us </a:t>
            </a:r>
            <a:r>
              <a:rPr lang="en-US" sz="2400" dirty="0"/>
              <a:t>discover, and show, the underlying frequency distribution </a:t>
            </a:r>
            <a:r>
              <a:rPr lang="en-US" sz="2400" dirty="0" smtClean="0"/>
              <a:t>of </a:t>
            </a:r>
            <a:r>
              <a:rPr lang="en-US" sz="2400" dirty="0"/>
              <a:t>a </a:t>
            </a:r>
            <a:r>
              <a:rPr lang="en-US" sz="2400" dirty="0" smtClean="0"/>
              <a:t>set of</a:t>
            </a:r>
            <a:r>
              <a:rPr lang="en-US" sz="2400" dirty="0"/>
              <a:t> </a:t>
            </a:r>
            <a:r>
              <a:rPr lang="en-US" sz="2400" dirty="0" smtClean="0"/>
              <a:t>continuous</a:t>
            </a:r>
            <a:r>
              <a:rPr lang="en-US" sz="2400" dirty="0"/>
              <a:t> data</a:t>
            </a:r>
            <a:r>
              <a:rPr lang="en-US" sz="2400" dirty="0" smtClean="0"/>
              <a:t>.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#histogram on continuous variable</a:t>
            </a:r>
          </a:p>
          <a:p>
            <a:pPr marL="889000" lvl="2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[ 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data.hist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(column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="revenue",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figsize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=(8,8),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color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="blue",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bins=10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)      </a:t>
            </a:r>
            <a:r>
              <a:rPr lang="en-US" sz="2400" dirty="0" smtClean="0">
                <a:solidFill>
                  <a:schemeClr val="tx1"/>
                </a:solidFill>
              </a:rPr>
              <a:t>]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   </a:t>
            </a:r>
            <a:endParaRPr lang="en-IN" sz="2400" dirty="0" smtClean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sz="2400" dirty="0" smtClean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024" y="5328878"/>
            <a:ext cx="6300635" cy="36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420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772344"/>
            <a:ext cx="11099800" cy="7848872"/>
          </a:xfrm>
        </p:spPr>
        <p:txBody>
          <a:bodyPr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IN" sz="5100" dirty="0" smtClean="0">
                <a:solidFill>
                  <a:schemeClr val="accent1"/>
                </a:solidFill>
              </a:rPr>
              <a:t>2. Boxplot</a:t>
            </a:r>
          </a:p>
          <a:p>
            <a:pPr lvl="1"/>
            <a:r>
              <a:rPr lang="en-US" sz="4400" dirty="0" smtClean="0"/>
              <a:t>A </a:t>
            </a:r>
            <a:r>
              <a:rPr lang="en-US" sz="4400" dirty="0"/>
              <a:t>Box Plot is the visual representation of the statistical five number summary of a given data set.</a:t>
            </a:r>
          </a:p>
          <a:p>
            <a:pPr marL="889000" lvl="2" indent="0">
              <a:buNone/>
            </a:pPr>
            <a:r>
              <a:rPr lang="en-US" sz="4400" dirty="0"/>
              <a:t>A Five Number Summary includes:</a:t>
            </a:r>
          </a:p>
          <a:p>
            <a:pPr marL="1333500" lvl="3" indent="0">
              <a:buNone/>
            </a:pPr>
            <a:r>
              <a:rPr lang="en-US" sz="4400" dirty="0" smtClean="0"/>
              <a:t>a)Minimum</a:t>
            </a:r>
            <a:endParaRPr lang="en-US" sz="4400" dirty="0"/>
          </a:p>
          <a:p>
            <a:pPr marL="1333500" lvl="3" indent="0">
              <a:buNone/>
            </a:pPr>
            <a:r>
              <a:rPr lang="en-US" sz="4400" dirty="0" smtClean="0"/>
              <a:t>b)First Quartile</a:t>
            </a:r>
          </a:p>
          <a:p>
            <a:pPr marL="1333500" lvl="3" indent="0">
              <a:buNone/>
            </a:pPr>
            <a:r>
              <a:rPr lang="en-US" sz="4400" dirty="0" smtClean="0"/>
              <a:t>c)Median </a:t>
            </a:r>
            <a:r>
              <a:rPr lang="en-US" sz="4400" dirty="0"/>
              <a:t>(Second Quartile)</a:t>
            </a:r>
          </a:p>
          <a:p>
            <a:pPr marL="1333500" lvl="3" indent="0">
              <a:buNone/>
            </a:pPr>
            <a:r>
              <a:rPr lang="en-US" sz="4400" dirty="0" smtClean="0"/>
              <a:t>d)Third </a:t>
            </a:r>
            <a:r>
              <a:rPr lang="en-US" sz="4400" dirty="0"/>
              <a:t>Quartile</a:t>
            </a:r>
          </a:p>
          <a:p>
            <a:pPr marL="1333500" lvl="3" indent="0">
              <a:buNone/>
            </a:pPr>
            <a:r>
              <a:rPr lang="en-US" sz="4400" dirty="0" smtClean="0"/>
              <a:t>e)Maximum</a:t>
            </a:r>
            <a:endParaRPr lang="en-US" sz="4400" dirty="0"/>
          </a:p>
          <a:p>
            <a:pPr lvl="1"/>
            <a:r>
              <a:rPr lang="en-IN" sz="4400" dirty="0" smtClean="0"/>
              <a:t>This is also used to know about the outliers in a dataset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3140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5429" y="268288"/>
            <a:ext cx="11099800" cy="76456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[ 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data.boxplot(column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="Estimated Number of Adults Had Diabetes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",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by= "Demographic",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figsize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 (8,8),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rot=270, grid=True)  </a:t>
            </a:r>
            <a:r>
              <a:rPr lang="en-US" sz="2400" dirty="0" smtClean="0">
                <a:solidFill>
                  <a:schemeClr val="tx1"/>
                </a:solidFill>
              </a:rPr>
              <a:t>]</a:t>
            </a:r>
            <a:endParaRPr lang="en-IN" sz="2400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888" y="1132384"/>
            <a:ext cx="8398202" cy="842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598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3.Density Graph</a:t>
            </a:r>
          </a:p>
          <a:p>
            <a:pPr lvl="1"/>
            <a:r>
              <a:rPr lang="en-US" sz="2800" dirty="0" smtClean="0"/>
              <a:t>A </a:t>
            </a:r>
            <a:r>
              <a:rPr lang="en-US" sz="2800" dirty="0"/>
              <a:t>density plot shows the distribution of a numerical variable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 </a:t>
            </a:r>
            <a:r>
              <a:rPr lang="en-US" sz="2800" dirty="0"/>
              <a:t>It takes only set of numeric values as input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To </a:t>
            </a:r>
            <a:r>
              <a:rPr lang="en-US" sz="2800" dirty="0"/>
              <a:t>represent a density, you need only one vector of numbers</a:t>
            </a:r>
            <a:r>
              <a:rPr lang="en-US" sz="2800" dirty="0" smtClean="0"/>
              <a:t>.</a:t>
            </a:r>
            <a:endParaRPr lang="en-US" sz="2800" dirty="0"/>
          </a:p>
          <a:p>
            <a:pPr lvl="1"/>
            <a:r>
              <a:rPr lang="en-US" sz="2800" dirty="0" smtClean="0"/>
              <a:t>We can plot </a:t>
            </a:r>
            <a:r>
              <a:rPr lang="en-US" sz="2800" dirty="0"/>
              <a:t>several </a:t>
            </a:r>
            <a:r>
              <a:rPr lang="en-US" sz="2800" dirty="0" smtClean="0"/>
              <a:t>densities for several </a:t>
            </a:r>
            <a:r>
              <a:rPr lang="en-US" sz="2800" dirty="0"/>
              <a:t>numerical </a:t>
            </a:r>
            <a:r>
              <a:rPr lang="en-US" sz="2800" dirty="0" smtClean="0"/>
              <a:t>variable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761663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[  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data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["revenue"].plot(kind="density",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figsize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=(8,8)) 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2400" dirty="0" smtClean="0">
                <a:solidFill>
                  <a:schemeClr val="tx1"/>
                </a:solidFill>
              </a:rPr>
              <a:t>]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905" y="2312225"/>
            <a:ext cx="8530678" cy="59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331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84836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4.Dist Plot</a:t>
            </a:r>
          </a:p>
          <a:p>
            <a:pPr lvl="1"/>
            <a:r>
              <a:rPr lang="en-IN" sz="2400" dirty="0" err="1" smtClean="0"/>
              <a:t>Dist</a:t>
            </a:r>
            <a:r>
              <a:rPr lang="en-IN" sz="2400" dirty="0" smtClean="0"/>
              <a:t> plot allow us to plot density of variable over the histogram.</a:t>
            </a:r>
          </a:p>
          <a:p>
            <a:pPr lvl="1"/>
            <a:r>
              <a:rPr lang="en-IN" sz="2400" dirty="0" smtClean="0"/>
              <a:t>It helps us to visualize both density and histogram of a variable.</a:t>
            </a:r>
          </a:p>
          <a:p>
            <a:pPr lvl="1"/>
            <a:r>
              <a:rPr lang="en-IN" sz="2400" dirty="0" err="1" smtClean="0"/>
              <a:t>Distplot</a:t>
            </a:r>
            <a:r>
              <a:rPr lang="en-IN" sz="2400" dirty="0" smtClean="0"/>
              <a:t>() is the function used to plot the graph.</a:t>
            </a:r>
          </a:p>
          <a:p>
            <a:pPr marL="444500" lvl="1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[ 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x=data[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data.Item_Type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=="Dairy"]</a:t>
            </a:r>
          </a:p>
          <a:p>
            <a:pPr marL="444500" lvl="1" indent="0">
              <a:buNone/>
            </a:pP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sns.distplot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(x["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Item_weight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"],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hist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=True,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kde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=True, bins=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(10),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color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 'blue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',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hist_kws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={'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edgecolor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':'black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'},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kde_kws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={'linewidth': 2.5})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100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880" y="772344"/>
            <a:ext cx="9721080" cy="69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798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sz="4000" dirty="0" smtClean="0">
                <a:solidFill>
                  <a:schemeClr val="accent1"/>
                </a:solidFill>
              </a:rPr>
              <a:t>Bivariate visualization</a:t>
            </a:r>
          </a:p>
          <a:p>
            <a:pPr marL="444500" lvl="1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1.Bar chart</a:t>
            </a:r>
          </a:p>
          <a:p>
            <a:pPr lvl="2"/>
            <a:r>
              <a:rPr lang="en-US" sz="2400" dirty="0"/>
              <a:t>Bar charts are a type of graph that are used to display and compare the number, frequency or other </a:t>
            </a:r>
            <a:r>
              <a:rPr lang="en-US" sz="2400" dirty="0" smtClean="0"/>
              <a:t>measure </a:t>
            </a:r>
            <a:r>
              <a:rPr lang="en-US" sz="2400" dirty="0"/>
              <a:t>for </a:t>
            </a:r>
            <a:r>
              <a:rPr lang="en-US" sz="2400" dirty="0" smtClean="0"/>
              <a:t>different </a:t>
            </a:r>
            <a:r>
              <a:rPr lang="en-US" sz="2400" dirty="0"/>
              <a:t>discrete categories of data</a:t>
            </a:r>
            <a:r>
              <a:rPr lang="en-US" sz="2400" dirty="0" smtClean="0"/>
              <a:t>.</a:t>
            </a:r>
          </a:p>
          <a:p>
            <a:pPr lvl="2"/>
            <a:r>
              <a:rPr lang="en-US" sz="2400" dirty="0" smtClean="0"/>
              <a:t>They consist bars which vary in size according to their values w.r.t y-axis(vertical graph) or x-axis(horizontal graph).</a:t>
            </a:r>
          </a:p>
          <a:p>
            <a:pPr lvl="2"/>
            <a:r>
              <a:rPr lang="en-US" sz="2400" dirty="0" smtClean="0"/>
              <a:t>It is used in Bi-variate analysis.</a:t>
            </a:r>
            <a:endParaRPr lang="en-IN" sz="2400" dirty="0" smtClean="0"/>
          </a:p>
          <a:p>
            <a:pPr marL="4445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135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Import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seaborn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as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sns</a:t>
            </a:r>
            <a:endParaRPr lang="en-IN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x=data[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data.Item_Type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=="Soft Drinks"]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sns.barplot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(x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= "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revenue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", y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="Outlet_Identifier",data=x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)  </a:t>
            </a:r>
            <a:r>
              <a:rPr lang="en-IN" dirty="0" smtClean="0">
                <a:solidFill>
                  <a:schemeClr val="tx1"/>
                </a:solidFill>
              </a:rPr>
              <a:t>]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08" y="4228728"/>
            <a:ext cx="1004350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920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2.stacked Bar graph</a:t>
            </a:r>
          </a:p>
          <a:p>
            <a:pPr lvl="1"/>
            <a:r>
              <a:rPr lang="en-US" sz="2400" dirty="0" smtClean="0"/>
              <a:t>Stacked </a:t>
            </a:r>
            <a:r>
              <a:rPr lang="en-US" sz="2400" dirty="0"/>
              <a:t>Bar Graphs segment their bars of multiple datasets on top of each other. </a:t>
            </a:r>
            <a:endParaRPr lang="en-US" sz="2400" dirty="0" smtClean="0"/>
          </a:p>
          <a:p>
            <a:pPr lvl="1"/>
            <a:r>
              <a:rPr lang="en-US" sz="2400" dirty="0" smtClean="0"/>
              <a:t>They </a:t>
            </a:r>
            <a:r>
              <a:rPr lang="en-US" sz="2400" dirty="0"/>
              <a:t>are used to show how a larger category is divided into smaller categories and what the relationship of each part has on the total amount. </a:t>
            </a:r>
            <a:endParaRPr lang="en-US" sz="2400" dirty="0" smtClean="0"/>
          </a:p>
          <a:p>
            <a:pPr lvl="1"/>
            <a:r>
              <a:rPr lang="en-US" sz="2400" dirty="0"/>
              <a:t>There are two types of Stacked Bar </a:t>
            </a:r>
            <a:r>
              <a:rPr lang="en-US" sz="2400" dirty="0" smtClean="0"/>
              <a:t>Graphs:</a:t>
            </a:r>
          </a:p>
          <a:p>
            <a:pPr marL="889000" lvl="2" indent="0">
              <a:buNone/>
            </a:pPr>
            <a:r>
              <a:rPr lang="en-US" sz="2400" dirty="0" smtClean="0"/>
              <a:t>a) </a:t>
            </a:r>
            <a:r>
              <a:rPr lang="en-IN" sz="2400" dirty="0" smtClean="0"/>
              <a:t>Simple </a:t>
            </a:r>
            <a:r>
              <a:rPr lang="en-IN" sz="2400" dirty="0"/>
              <a:t>Stacked Bar </a:t>
            </a:r>
            <a:r>
              <a:rPr lang="en-IN" sz="2400" dirty="0" smtClean="0"/>
              <a:t>Graph</a:t>
            </a:r>
          </a:p>
          <a:p>
            <a:pPr marL="889000" lvl="2" indent="0">
              <a:buNone/>
            </a:pPr>
            <a:r>
              <a:rPr lang="en-IN" sz="2400" dirty="0" smtClean="0"/>
              <a:t>b)</a:t>
            </a:r>
            <a:r>
              <a:rPr lang="en-IN" sz="2400" b="1" dirty="0"/>
              <a:t> </a:t>
            </a:r>
            <a:r>
              <a:rPr lang="en-IN" sz="2400" dirty="0"/>
              <a:t>100% Stack Bar Graphs</a:t>
            </a:r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21357211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412304"/>
            <a:ext cx="11099800" cy="9073008"/>
          </a:xfrm>
        </p:spPr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[   </a:t>
            </a:r>
            <a:r>
              <a:rPr lang="en-IN" sz="2400" dirty="0" err="1" smtClean="0">
                <a:solidFill>
                  <a:schemeClr val="accent5">
                    <a:lumMod val="75000"/>
                  </a:schemeClr>
                </a:solidFill>
              </a:rPr>
              <a:t>data_table</a:t>
            </a:r>
            <a:r>
              <a:rPr lang="en-IN" sz="24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= pd.crosstab(index=data["Percent of Adults with Diabetes</a:t>
            </a:r>
            <a:r>
              <a:rPr lang="en-IN" sz="2400" dirty="0" smtClean="0">
                <a:solidFill>
                  <a:schemeClr val="accent5">
                    <a:lumMod val="75000"/>
                  </a:schemeClr>
                </a:solidFill>
              </a:rPr>
              <a:t>"], columns=data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["Demographic</a:t>
            </a:r>
            <a:r>
              <a:rPr lang="en-IN" sz="2400" dirty="0" smtClean="0">
                <a:solidFill>
                  <a:schemeClr val="accent5">
                    <a:lumMod val="75000"/>
                  </a:schemeClr>
                </a:solidFill>
              </a:rPr>
              <a:t>"])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data_table.plot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(kind="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bar",stacked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True,figsize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=(8,8</a:t>
            </a:r>
            <a:r>
              <a:rPr lang="en-IN" sz="2400" dirty="0" smtClean="0">
                <a:solidFill>
                  <a:schemeClr val="accent5">
                    <a:lumMod val="75000"/>
                  </a:schemeClr>
                </a:solidFill>
              </a:rPr>
              <a:t>))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IN" dirty="0" smtClean="0">
                <a:solidFill>
                  <a:schemeClr val="tx1"/>
                </a:solidFill>
              </a:rPr>
              <a:t>]  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24" y="2572544"/>
            <a:ext cx="10081120" cy="691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464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3. Scatter plot</a:t>
            </a:r>
          </a:p>
          <a:p>
            <a:pPr lvl="1"/>
            <a:r>
              <a:rPr lang="en-IN" dirty="0" smtClean="0"/>
              <a:t>Scatter plot has points that shows the relationship between two(bivariate) or more variables(multivariate) in a dataset.</a:t>
            </a:r>
          </a:p>
          <a:p>
            <a:pPr lvl="1"/>
            <a:r>
              <a:rPr lang="en-IN" dirty="0" smtClean="0"/>
              <a:t>In case of more than two variables, it uses colour and shape to represent variables.</a:t>
            </a:r>
          </a:p>
          <a:p>
            <a:pPr marL="444500" lvl="1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[  </a:t>
            </a: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plt.scatter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(x=data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["Data Years"],y=data["Percent of Adults with Diabetes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"])</a:t>
            </a:r>
          </a:p>
          <a:p>
            <a:pPr marL="444500" lvl="1" indent="0">
              <a:buNone/>
            </a:pPr>
            <a:r>
              <a:rPr lang="en-US" dirty="0" err="1" smtClean="0">
                <a:solidFill>
                  <a:schemeClr val="accent5">
                    <a:lumMod val="75000"/>
                  </a:schemeClr>
                </a:solidFill>
              </a:rPr>
              <a:t>plt.xticks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(data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["Data Years"],rotation="vertical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")  </a:t>
            </a:r>
            <a:r>
              <a:rPr lang="en-US" dirty="0" smtClean="0">
                <a:solidFill>
                  <a:schemeClr val="tx1"/>
                </a:solidFill>
              </a:rPr>
              <a:t>]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556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In the above scatter plot, the relationship between data Years and Percentage of adults with diabetes is visualized.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888" y="1270000"/>
            <a:ext cx="7776864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105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310540" cy="7495232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IN" sz="4100" dirty="0" smtClean="0">
                <a:solidFill>
                  <a:schemeClr val="accent1"/>
                </a:solidFill>
              </a:rPr>
              <a:t>4.Line graph</a:t>
            </a:r>
          </a:p>
          <a:p>
            <a:pPr lvl="1"/>
            <a:r>
              <a:rPr lang="en-US" dirty="0"/>
              <a:t>A line </a:t>
            </a:r>
            <a:r>
              <a:rPr lang="en-US" dirty="0" smtClean="0"/>
              <a:t>graph</a:t>
            </a:r>
            <a:r>
              <a:rPr lang="en-US" dirty="0"/>
              <a:t> is a graphical display of information that changes continuously over time. </a:t>
            </a:r>
            <a:endParaRPr lang="en-US" dirty="0" smtClean="0"/>
          </a:p>
          <a:p>
            <a:pPr lvl="1"/>
            <a:r>
              <a:rPr lang="en-US" dirty="0" smtClean="0"/>
              <a:t>Within </a:t>
            </a:r>
            <a:r>
              <a:rPr lang="en-US" dirty="0"/>
              <a:t>a line graph, there are points connecting the data to show a continuous change.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lines in a line graph can descend and ascend based on the data. </a:t>
            </a:r>
            <a:endParaRPr lang="en-US" dirty="0" smtClean="0"/>
          </a:p>
          <a:p>
            <a:pPr lvl="1"/>
            <a:r>
              <a:rPr lang="en-US" dirty="0" smtClean="0"/>
              <a:t>We </a:t>
            </a:r>
            <a:r>
              <a:rPr lang="en-US" dirty="0"/>
              <a:t>can use a line graph to compare different events, situations, and information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</a:t>
            </a:r>
            <a:r>
              <a:rPr lang="en-US" dirty="0"/>
              <a:t> line graph has two axes. </a:t>
            </a:r>
            <a:endParaRPr lang="en-US" dirty="0" smtClean="0"/>
          </a:p>
          <a:p>
            <a:pPr lvl="1"/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i="1" dirty="0"/>
              <a:t>x</a:t>
            </a:r>
            <a:r>
              <a:rPr lang="en-US" dirty="0"/>
              <a:t>-axis of a line graph shows the occurrences and the categories being compared over time and the </a:t>
            </a:r>
            <a:r>
              <a:rPr lang="en-US" i="1" dirty="0"/>
              <a:t>y</a:t>
            </a:r>
            <a:r>
              <a:rPr lang="en-US" dirty="0"/>
              <a:t>-axis represents the scale, which is a set of numbers that represents the data and is organized into equal intervals.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80849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[  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plt.plot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data_hisp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["Data Years"],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data_hisp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["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total_pop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"])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plt.xticks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data_hisp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["Data Years"],rotation="vertical")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plt.xlabel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("Data Years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"),</a:t>
            </a:r>
            <a:r>
              <a:rPr lang="en-IN" dirty="0" err="1" smtClean="0">
                <a:solidFill>
                  <a:schemeClr val="accent5">
                    <a:lumMod val="75000"/>
                  </a:schemeClr>
                </a:solidFill>
              </a:rPr>
              <a:t>plt.ylabel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total_pop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")  </a:t>
            </a:r>
            <a:r>
              <a:rPr lang="en-IN" dirty="0" smtClean="0">
                <a:solidFill>
                  <a:schemeClr val="tx1"/>
                </a:solidFill>
              </a:rPr>
              <a:t>]  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32" y="4392716"/>
            <a:ext cx="9035388" cy="47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715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5.Scatter matrix</a:t>
            </a:r>
          </a:p>
          <a:p>
            <a:pPr lvl="1"/>
            <a:r>
              <a:rPr lang="en-IN" sz="2400" dirty="0" smtClean="0"/>
              <a:t>scatter matrix is used to visualize all the possible bi-variate scatter plots in a datasets.</a:t>
            </a:r>
          </a:p>
          <a:p>
            <a:pPr lvl="1"/>
            <a:r>
              <a:rPr lang="en-IN" sz="2400" dirty="0" smtClean="0"/>
              <a:t>The diagonal of the matrix, which is plot of same variable on x and y-axis, can be used for viewing histogram or density plots.</a:t>
            </a:r>
          </a:p>
          <a:p>
            <a:pPr marL="444500" lvl="1" indent="0">
              <a:buNone/>
            </a:pPr>
            <a:r>
              <a:rPr lang="en-IN" dirty="0" smtClean="0"/>
              <a:t>[ 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from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pandas.plotting import scatter_matrix</a:t>
            </a:r>
          </a:p>
          <a:p>
            <a:pPr marL="444500" lvl="1" indent="0"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scatter_matrix(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data,alpha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=0.9,figsize=(10,10),diagonal="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kde</a:t>
            </a:r>
            <a:r>
              <a:rPr lang="en-IN" dirty="0" smtClean="0">
                <a:solidFill>
                  <a:schemeClr val="accent5">
                    <a:lumMod val="75000"/>
                  </a:schemeClr>
                </a:solidFill>
              </a:rPr>
              <a:t>")</a:t>
            </a:r>
            <a:r>
              <a:rPr lang="en-IN" dirty="0" smtClean="0"/>
              <a:t> ]</a:t>
            </a:r>
          </a:p>
          <a:p>
            <a:pPr marL="4445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5943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r>
              <a:rPr lang="en-IN" sz="2400" dirty="0" smtClean="0"/>
              <a:t>When diagonal= “</a:t>
            </a:r>
            <a:r>
              <a:rPr lang="en-IN" sz="2400" dirty="0" err="1" smtClean="0"/>
              <a:t>hist</a:t>
            </a:r>
            <a:r>
              <a:rPr lang="en-IN" sz="2400" dirty="0" smtClean="0"/>
              <a:t>”, we get histograms instead of density graphs.</a:t>
            </a:r>
            <a:endParaRPr lang="en-IN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93" y="2428527"/>
            <a:ext cx="10998891" cy="65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123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1800" y="1348408"/>
            <a:ext cx="11099800" cy="7213600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IN" sz="4000" dirty="0" smtClean="0">
                <a:solidFill>
                  <a:schemeClr val="accent1"/>
                </a:solidFill>
              </a:rPr>
              <a:t>Multi variate visualization</a:t>
            </a:r>
          </a:p>
          <a:p>
            <a:pPr marL="444500" lvl="1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1.Lmplot</a:t>
            </a:r>
          </a:p>
          <a:p>
            <a:pPr lvl="2"/>
            <a:r>
              <a:rPr lang="en-IN" sz="2800" dirty="0" err="1" smtClean="0">
                <a:solidFill>
                  <a:schemeClr val="tx1"/>
                </a:solidFill>
              </a:rPr>
              <a:t>Lmplot</a:t>
            </a:r>
            <a:r>
              <a:rPr lang="en-IN" sz="2800" dirty="0" smtClean="0">
                <a:solidFill>
                  <a:schemeClr val="tx1"/>
                </a:solidFill>
              </a:rPr>
              <a:t> gives the relationship between variables more than 2.</a:t>
            </a:r>
          </a:p>
          <a:p>
            <a:pPr lvl="2"/>
            <a:r>
              <a:rPr lang="en-IN" sz="2800" dirty="0" smtClean="0">
                <a:solidFill>
                  <a:schemeClr val="tx1"/>
                </a:solidFill>
              </a:rPr>
              <a:t>Hue and col are used to represent the variables apart from x and y-axis.</a:t>
            </a:r>
          </a:p>
          <a:p>
            <a:pPr marL="889000" lvl="2" indent="0">
              <a:buNone/>
            </a:pP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 smtClean="0">
                <a:solidFill>
                  <a:schemeClr val="tx1"/>
                </a:solidFill>
              </a:rPr>
              <a:t>[  </a:t>
            </a:r>
            <a:r>
              <a:rPr lang="en-IN" sz="2800" dirty="0" err="1" smtClean="0">
                <a:solidFill>
                  <a:schemeClr val="accent5">
                    <a:lumMod val="75000"/>
                  </a:schemeClr>
                </a:solidFill>
              </a:rPr>
              <a:t>sea.lmplot</a:t>
            </a:r>
            <a:r>
              <a:rPr lang="en-IN" sz="2800" dirty="0" smtClean="0">
                <a:solidFill>
                  <a:schemeClr val="accent5">
                    <a:lumMod val="75000"/>
                  </a:schemeClr>
                </a:solidFill>
              </a:rPr>
              <a:t>(x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='</a:t>
            </a:r>
            <a:r>
              <a:rPr lang="en-IN" sz="2800" dirty="0" err="1">
                <a:solidFill>
                  <a:schemeClr val="accent5">
                    <a:lumMod val="75000"/>
                  </a:schemeClr>
                </a:solidFill>
              </a:rPr>
              <a:t>Item_MRP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', y='</a:t>
            </a:r>
            <a:r>
              <a:rPr lang="en-IN" sz="2800" dirty="0" err="1">
                <a:solidFill>
                  <a:schemeClr val="accent5">
                    <a:lumMod val="75000"/>
                  </a:schemeClr>
                </a:solidFill>
              </a:rPr>
              <a:t>Item_Outlet_Sales',hue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='</a:t>
            </a:r>
            <a:r>
              <a:rPr lang="en-IN" sz="2800" dirty="0" err="1">
                <a:solidFill>
                  <a:schemeClr val="accent5">
                    <a:lumMod val="75000"/>
                  </a:schemeClr>
                </a:solidFill>
              </a:rPr>
              <a:t>Outlet_Size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', col="Item_Fat_Content",</a:t>
            </a:r>
            <a:r>
              <a:rPr lang="en-IN" sz="2800" dirty="0" err="1" smtClean="0">
                <a:solidFill>
                  <a:schemeClr val="accent5">
                    <a:lumMod val="75000"/>
                  </a:schemeClr>
                </a:solidFill>
              </a:rPr>
              <a:t>col_wrap</a:t>
            </a:r>
            <a:r>
              <a:rPr lang="en-IN" sz="2800" dirty="0" smtClean="0">
                <a:solidFill>
                  <a:schemeClr val="accent5">
                    <a:lumMod val="75000"/>
                  </a:schemeClr>
                </a:solidFill>
              </a:rPr>
              <a:t>=2, data=data2, </a:t>
            </a:r>
            <a:r>
              <a:rPr lang="en-IN" sz="2800" dirty="0" err="1" smtClean="0">
                <a:solidFill>
                  <a:schemeClr val="accent5">
                    <a:lumMod val="75000"/>
                  </a:schemeClr>
                </a:solidFill>
              </a:rPr>
              <a:t>fit_reg</a:t>
            </a:r>
            <a:r>
              <a:rPr lang="en-IN" sz="2800" dirty="0" smtClean="0">
                <a:solidFill>
                  <a:schemeClr val="accent5">
                    <a:lumMod val="75000"/>
                  </a:schemeClr>
                </a:solidFill>
              </a:rPr>
              <a:t>=True)  </a:t>
            </a:r>
            <a:r>
              <a:rPr lang="en-IN" sz="2800" dirty="0" smtClean="0">
                <a:solidFill>
                  <a:schemeClr val="tx1"/>
                </a:solidFill>
              </a:rPr>
              <a:t>]</a:t>
            </a:r>
            <a:endParaRPr lang="en-IN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lvl="2"/>
            <a:r>
              <a:rPr lang="en-IN" sz="2800" dirty="0" err="1" smtClean="0">
                <a:solidFill>
                  <a:schemeClr val="tx1"/>
                </a:solidFill>
              </a:rPr>
              <a:t>Fit_reg</a:t>
            </a:r>
            <a:r>
              <a:rPr lang="en-IN" sz="2800" dirty="0" smtClean="0">
                <a:solidFill>
                  <a:schemeClr val="tx1"/>
                </a:solidFill>
              </a:rPr>
              <a:t>= True/False helps in giving regression line for the data</a:t>
            </a:r>
          </a:p>
          <a:p>
            <a:pPr lvl="2"/>
            <a:endParaRPr lang="en-IN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8073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028109"/>
            <a:ext cx="11099800" cy="74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085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chemeClr val="accent1"/>
                </a:solidFill>
              </a:rPr>
              <a:t>2.Scatter plot</a:t>
            </a:r>
          </a:p>
          <a:p>
            <a:pPr lvl="1"/>
            <a:r>
              <a:rPr lang="en-US" sz="2400" dirty="0"/>
              <a:t>One of the best ways of </a:t>
            </a:r>
            <a:r>
              <a:rPr lang="en-US" sz="2400" dirty="0" smtClean="0"/>
              <a:t>visualizing the </a:t>
            </a:r>
            <a:r>
              <a:rPr lang="en-US" sz="2400" dirty="0"/>
              <a:t>relationship between measures is to use a scatter </a:t>
            </a:r>
            <a:r>
              <a:rPr lang="en-US" sz="2400" dirty="0" smtClean="0"/>
              <a:t>plot.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scatter plot works by looking at the </a:t>
            </a:r>
            <a:r>
              <a:rPr lang="en-US" sz="2400" dirty="0" smtClean="0"/>
              <a:t>relationship between </a:t>
            </a:r>
            <a:r>
              <a:rPr lang="en-US" sz="2400" dirty="0"/>
              <a:t>two different </a:t>
            </a:r>
            <a:r>
              <a:rPr lang="en-US" sz="2400" dirty="0" smtClean="0"/>
              <a:t>measures and </a:t>
            </a:r>
            <a:r>
              <a:rPr lang="en-US" sz="2400" dirty="0"/>
              <a:t>subdividing it one or more different </a:t>
            </a:r>
            <a:r>
              <a:rPr lang="en-US" sz="2400" dirty="0" smtClean="0"/>
              <a:t>categories or dimensions.</a:t>
            </a:r>
          </a:p>
          <a:p>
            <a:pPr lvl="1"/>
            <a:r>
              <a:rPr lang="en-US" sz="2400" dirty="0" smtClean="0"/>
              <a:t>Parameters like color and size are used to represent different variables rather than x-axis and y-axis.</a:t>
            </a:r>
          </a:p>
          <a:p>
            <a:pPr lvl="1"/>
            <a:r>
              <a:rPr lang="en-US" sz="2400" dirty="0" smtClean="0"/>
              <a:t>Note: Color and size using for categorical variable is advisable, as numeric variables use lot of colors resulting in confusion and misunderstanding during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7622957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In the above graph, colour is used to represent different variable apart from x and y-axis.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24" y="988368"/>
            <a:ext cx="784887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4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DB8DDBF-6777-4D97-A499-4CFE76844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11058" b="84384"/>
          <a:stretch/>
        </p:blipFill>
        <p:spPr>
          <a:xfrm rot="16200000" flipH="1">
            <a:off x="-3789017" y="3782665"/>
            <a:ext cx="9759957" cy="21819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DDCA6EB-0864-4248-86FA-78CCEF5576D9}"/>
              </a:ext>
            </a:extLst>
          </p:cNvPr>
          <p:cNvSpPr txBox="1"/>
          <p:nvPr/>
        </p:nvSpPr>
        <p:spPr>
          <a:xfrm>
            <a:off x="4375423" y="3076600"/>
            <a:ext cx="8507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rgbClr val="1CB1C2"/>
                </a:solidFill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rPr>
              <a:t>Thank You</a:t>
            </a:r>
          </a:p>
        </p:txBody>
      </p:sp>
      <p:pic>
        <p:nvPicPr>
          <p:cNvPr id="4" name="Picture 4" descr="https://lh6.googleusercontent.com/RzpCUWdFjHvAA400KsCGDl1BpSKQEENZ8AsnF_LI5z0w2p2FNamijhubAqCnJs717ROnMxCNrd2K5qWyQJlnhObTeJk8GaKK9pySlB6g7iB_kt1gDK_iiVg1osoV_Yzm6DRYVoySM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936" y="0"/>
            <a:ext cx="1152128" cy="974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7250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7B2DFA0-1D0E-4EA2-9BA9-E01292BC1A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78"/>
          <a:stretch/>
        </p:blipFill>
        <p:spPr>
          <a:xfrm flipV="1">
            <a:off x="-50965" y="1218247"/>
            <a:ext cx="13055765" cy="7659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44" y="3585864"/>
            <a:ext cx="7222456" cy="2581872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60555" y="6000134"/>
            <a:ext cx="7033863" cy="35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7" dirty="0">
                <a:solidFill>
                  <a:srgbClr val="214F5E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www.tarahtech.com</a:t>
            </a:r>
            <a:endParaRPr lang="en-US" sz="1707" dirty="0">
              <a:solidFill>
                <a:srgbClr val="214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0951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</TotalTime>
  <Words>1452</Words>
  <Application>Microsoft Office PowerPoint</Application>
  <PresentationFormat>Custom</PresentationFormat>
  <Paragraphs>186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Helvetica Light</vt:lpstr>
      <vt:lpstr>Helvetica Neue</vt:lpstr>
      <vt:lpstr>Helvetica Neue Light</vt:lpstr>
      <vt:lpstr>Helvetica Neue Medium</vt:lpstr>
      <vt:lpstr>Open Sans Extrabold</vt:lpstr>
      <vt:lpstr>Wingdings</vt:lpstr>
      <vt:lpstr>White</vt:lpstr>
      <vt:lpstr>PowerPoint Presentation</vt:lpstr>
      <vt:lpstr>DATA MANIPULATION AND VISUALIZATION</vt:lpstr>
      <vt:lpstr>DATA MANIPULATION AND VISUALIZATION</vt:lpstr>
      <vt:lpstr>PowerPoint Presentation</vt:lpstr>
      <vt:lpstr>PowerPoint Presentation</vt:lpstr>
      <vt:lpstr>Data Manipulations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Data Visualization  Univariate Visualization: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Sayeed</dc:creator>
  <cp:lastModifiedBy>Lenovo</cp:lastModifiedBy>
  <cp:revision>124</cp:revision>
  <dcterms:modified xsi:type="dcterms:W3CDTF">2018-10-03T16:11:47Z</dcterms:modified>
</cp:coreProperties>
</file>
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56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6A300-E523-4C3C-83E8-5BCB41580B37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772E5-0DC6-4746-819D-2D851D635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68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B48FC-AB47-4F5D-9725-BF22E783BC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45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B48FC-AB47-4F5D-9725-BF22E783BCC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7082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B48FC-AB47-4F5D-9725-BF22E783BCC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2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8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29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1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3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60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50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4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37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313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151388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ADVANT </a:t>
            </a:r>
            <a:r>
              <a:rPr lang="en-GB" sz="1400" dirty="0"/>
              <a:t>Multipurpose  Presentation 2017 </a:t>
            </a:r>
          </a:p>
        </p:txBody>
      </p:sp>
    </p:spTree>
    <p:extLst>
      <p:ext uri="{BB962C8B-B14F-4D97-AF65-F5344CB8AC3E}">
        <p14:creationId xmlns:p14="http://schemas.microsoft.com/office/powerpoint/2010/main" val="2141685453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C4AD9-F494-4823-9F01-7423C56E68B6}" type="datetimeFigureOut">
              <a:rPr lang="en-IN" smtClean="0"/>
              <a:t>05-10-2018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3354-432B-4FCB-84A6-B5A01B7769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9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tarahtech.com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B2DFA0-1D0E-4EA2-9BA9-E01292BC1A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78"/>
          <a:stretch/>
        </p:blipFill>
        <p:spPr>
          <a:xfrm flipV="1">
            <a:off x="1588" y="-320723"/>
            <a:ext cx="12236592" cy="7178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94" y="2219063"/>
            <a:ext cx="6769289" cy="2419875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52069" y="4481852"/>
            <a:ext cx="6592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214F5E"/>
                </a:solidFill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www.tarahtech.com</a:t>
            </a:r>
            <a:endParaRPr lang="en-US" sz="1600" dirty="0">
              <a:solidFill>
                <a:srgbClr val="214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17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>
          <a:xfrm>
            <a:off x="10050193" y="2037468"/>
            <a:ext cx="2140220" cy="4820532"/>
          </a:xfrm>
          <a:custGeom>
            <a:avLst/>
            <a:gdLst>
              <a:gd name="connsiteX0" fmla="*/ 4280440 w 4280440"/>
              <a:gd name="connsiteY0" fmla="*/ 0 h 9641064"/>
              <a:gd name="connsiteX1" fmla="*/ 4280440 w 4280440"/>
              <a:gd name="connsiteY1" fmla="*/ 9641064 h 9641064"/>
              <a:gd name="connsiteX2" fmla="*/ 0 w 4280440"/>
              <a:gd name="connsiteY2" fmla="*/ 9641064 h 964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0440" h="9641064">
                <a:moveTo>
                  <a:pt x="4280440" y="0"/>
                </a:moveTo>
                <a:lnTo>
                  <a:pt x="4280440" y="9641064"/>
                </a:lnTo>
                <a:lnTo>
                  <a:pt x="0" y="96410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980A1-55E4-45A5-BA35-3D5B0A0D4D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-1" b="84384"/>
          <a:stretch/>
        </p:blipFill>
        <p:spPr>
          <a:xfrm rot="16200000" flipV="1">
            <a:off x="7525603" y="2193190"/>
            <a:ext cx="6858001" cy="2471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031" y="2138632"/>
            <a:ext cx="8064362" cy="1446550"/>
          </a:xfrm>
          <a:prstGeom prst="rect">
            <a:avLst/>
          </a:prstGeom>
          <a:solidFill>
            <a:schemeClr val="bg1">
              <a:alpha val="44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B0F0"/>
                </a:solidFill>
              </a:rPr>
              <a:t>Data Cleansing, Missing Data Imputation and Outlier Detection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B8DDBF-6777-4D97-A499-4CFE76844D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11058" b="84384"/>
          <a:stretch/>
        </p:blipFill>
        <p:spPr>
          <a:xfrm rot="16200000" flipH="1">
            <a:off x="5682460" y="3005928"/>
            <a:ext cx="6974005" cy="73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4825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1.Missing Data Imputation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missing values treatment is required?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Why data has missing values?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Checking for missing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Treating missing data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b="1" dirty="0"/>
              <a:t>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Outlier Detection and Treatment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What is an Outlier?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What causes Outliers?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is the impact of Outliers on a dataset?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How to detect Outliers?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How to remove Outliers?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4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339639"/>
            <a:ext cx="11073538" cy="5982788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Missing Data Imputation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lvl="1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1.Why missing values treatment is required?</a:t>
            </a:r>
          </a:p>
          <a:p>
            <a:pPr lvl="1"/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data leads to biased machine learning models.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Affects the behavior and relationship with other variables.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lead to wrong prediction or classification.</a:t>
            </a:r>
          </a:p>
          <a:p>
            <a:pPr lvl="1"/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Data can have Missing Values because of wrong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</a:p>
          <a:p>
            <a:pPr lvl="4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Missing data can occur during data extraction process.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  <a:p>
            <a:pPr lvl="4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These errors occur at time of data collection. There are 4 types of data</a:t>
            </a:r>
          </a:p>
          <a:p>
            <a:pPr lvl="4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collection errors.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9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/>
          <a:lstStyle/>
          <a:p>
            <a:pPr marL="1428750" lvl="2" indent="-514350">
              <a:buAutoNum type="alphaL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Missing completely at random</a:t>
            </a:r>
          </a:p>
          <a:p>
            <a:pPr marL="1428750" lvl="2" indent="-514350">
              <a:buAutoNum type="alphaL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Missing at random</a:t>
            </a:r>
          </a:p>
          <a:p>
            <a:pPr marL="1428750" lvl="2" indent="-514350">
              <a:buAutoNum type="alphaL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Missing that depends on unobserved predictors</a:t>
            </a:r>
          </a:p>
          <a:p>
            <a:pPr marL="1428750" lvl="2" indent="-514350">
              <a:buAutoNum type="alphaLcParenR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Missing that depends on the missing value itself    </a:t>
            </a:r>
          </a:p>
          <a:p>
            <a:pPr lvl="1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for missing data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python, in order to check for outliers in a pandas data frame, function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is.null()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be used.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Example; Let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 a pandas data frame,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df.is.null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 will give True for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all the missing values present.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9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Treating missing data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a) Deletion: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Deleting missing data is the easiest process to eliminate the missing data. There are   two types of deletions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)  list wise deletion ii)</a:t>
            </a:r>
            <a:r>
              <a:rPr lang="en-IN" sz="2400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pair wise deletion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b)</a:t>
            </a:r>
            <a:r>
              <a:rPr lang="en-IN" sz="2400" b="1" dirty="0"/>
              <a:t>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Mean/ Mode/ Median Imputation: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Imputation is a method to fill in the missing values with estimated ones.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Mean/median imputation deals with missing data by imputing mean of the all values of the same category.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Mean and Median are used only for numerical data.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 imputation is used for categorical data, it imputes the mode of that category.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few more imputation techniques like KNN, Hot Deck imputation etc.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08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46749" y="326573"/>
            <a:ext cx="10515600" cy="5812969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below two pictures show before and after missing data imputation.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88" y="787783"/>
            <a:ext cx="7307634" cy="24849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588" y="3439546"/>
            <a:ext cx="7630456" cy="276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82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Outlier Detection and Treatment</a:t>
            </a:r>
          </a:p>
          <a:p>
            <a:pPr lvl="1"/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1.What is an Outlier?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An observation that diverges from an overall pattern in a sample is called an outlier.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Example; Salary of a CEO would be a outlier when comparing salaries of workers in a company.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516" y="2307102"/>
            <a:ext cx="6142857" cy="402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36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/>
          </a:bodyPr>
          <a:lstStyle/>
          <a:p>
            <a:endParaRPr lang="en-IN" sz="2400" dirty="0">
              <a:solidFill>
                <a:schemeClr val="tx2"/>
              </a:solidFill>
            </a:endParaRPr>
          </a:p>
          <a:p>
            <a:r>
              <a:rPr lang="en-IN" sz="2400" dirty="0">
                <a:solidFill>
                  <a:schemeClr val="tx2"/>
                </a:solidFill>
              </a:rPr>
              <a:t>2.</a:t>
            </a:r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What causes Outliers?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Outliers can be formed either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naturally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non-natural.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Natural outliers can be like salary of a CEO in a company. These are not intentional but they exist as they should be.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Non-natural outliers are due to :-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lvl="2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a) Data Entry Errors</a:t>
            </a:r>
          </a:p>
          <a:p>
            <a:pPr lvl="2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b) Measurement Error</a:t>
            </a:r>
          </a:p>
          <a:p>
            <a:pPr lvl="2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c) Experimental Error</a:t>
            </a:r>
          </a:p>
          <a:p>
            <a:pPr lvl="2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d) Intentional Outlier</a:t>
            </a:r>
          </a:p>
          <a:p>
            <a:pPr lvl="2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e) Data Processing Error</a:t>
            </a:r>
          </a:p>
          <a:p>
            <a:pPr lvl="2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    f) Sampling error</a:t>
            </a:r>
          </a:p>
          <a:p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8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 lnSpcReduction="10000"/>
          </a:bodyPr>
          <a:lstStyle/>
          <a:p>
            <a:endParaRPr lang="en-IN" sz="2400" dirty="0">
              <a:solidFill>
                <a:schemeClr val="tx2"/>
              </a:solidFill>
            </a:endParaRPr>
          </a:p>
          <a:p>
            <a:r>
              <a:rPr lang="en-IN" sz="2400" dirty="0">
                <a:solidFill>
                  <a:schemeClr val="tx2"/>
                </a:solidFill>
              </a:rPr>
              <a:t>3.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Impact of Outliers on a dataset?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Outliers can influence results very drastically.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 can increase the mean values and increase the error variance.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the outliers are non-randomly distributed, they can decrease normality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They can bias or influence estimates that may be of substantive interest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pPr lvl="1"/>
            <a:r>
              <a:rPr lang="en-IN" dirty="0"/>
              <a:t>     </a:t>
            </a:r>
          </a:p>
          <a:p>
            <a:pPr lvl="1"/>
            <a:r>
              <a:rPr lang="en-IN" dirty="0"/>
              <a:t> 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above two columns are similar but due to influence of a outlier (44) in 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data2, the mean value has increased</a:t>
            </a:r>
            <a:r>
              <a:rPr lang="en-IN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767" y="2716254"/>
            <a:ext cx="4328895" cy="219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30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2"/>
                </a:solidFill>
              </a:rPr>
              <a:t>4. </a:t>
            </a:r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Detecting Outliers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Outliers can be detected visually using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Boxplot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Histogram(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univariate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Scatter plot(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multivariate</a:t>
            </a:r>
            <a:r>
              <a:rPr lang="en-IN" sz="2400" i="1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Any value, which is beyond the range of -1.5 x IQR to 1.5 x IQR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that are out of range of 5th and 95th percentile can be considered as outlier(capping method)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points, three or more standard deviation away from mean are considered outlier</a:t>
            </a:r>
          </a:p>
          <a:p>
            <a:endParaRPr lang="en-IN" sz="2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137" y="3520468"/>
            <a:ext cx="3890189" cy="2592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08" y="3494343"/>
            <a:ext cx="3753374" cy="261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16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Removal of outliers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Dealing with outliers is similar as dealing with missing values a)Deleting observations, b)Transforming , c)Binning , d)Treat them as a separate group, e)Imputing values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Deleting observations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   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delete outlier values if it is due to data entry error, data processing </a:t>
            </a:r>
          </a:p>
          <a:p>
            <a:pPr lvl="2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error or outlier observations are very small in numbers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Transforming outliers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Transforming variables can also eliminate outliers. Natural log of a </a:t>
            </a:r>
          </a:p>
          <a:p>
            <a:pPr lvl="2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value reduce the variation caused by extreme values.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Imputing outliers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2"/>
            <a:r>
              <a:rPr lang="en-US" sz="2200" i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Imputing outliers is similar to imputing missing values. Here, outliers </a:t>
            </a:r>
          </a:p>
          <a:p>
            <a:pPr lvl="2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are imputed with mean, median or mode values.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1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839788" y="130630"/>
            <a:ext cx="11073538" cy="5982788"/>
          </a:xfrm>
        </p:spPr>
        <p:txBody>
          <a:bodyPr/>
          <a:lstStyle/>
          <a:p>
            <a:r>
              <a:rPr lang="en-IN" sz="3200" dirty="0">
                <a:solidFill>
                  <a:schemeClr val="accent1"/>
                </a:solidFill>
              </a:rPr>
              <a:t>Summary: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Missing values occurrence and their imputations are talked along with the outlier occurrence, disadvantages of them in data and their imputations.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Note: Outliers deletion or imputation is done knowing if they have occurred artificially or not.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134394" y="6557553"/>
            <a:ext cx="2061486" cy="169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169CD1-0D36-4DBD-B921-2C1A5D2821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84" t="14233" r="13948" b="84384"/>
          <a:stretch/>
        </p:blipFill>
        <p:spPr>
          <a:xfrm flipH="1">
            <a:off x="9611373" y="104505"/>
            <a:ext cx="2301953" cy="22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1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>
          <a:xfrm>
            <a:off x="10050193" y="2037468"/>
            <a:ext cx="2140220" cy="4820532"/>
          </a:xfrm>
          <a:custGeom>
            <a:avLst/>
            <a:gdLst>
              <a:gd name="connsiteX0" fmla="*/ 4280440 w 4280440"/>
              <a:gd name="connsiteY0" fmla="*/ 0 h 9641064"/>
              <a:gd name="connsiteX1" fmla="*/ 4280440 w 4280440"/>
              <a:gd name="connsiteY1" fmla="*/ 9641064 h 9641064"/>
              <a:gd name="connsiteX2" fmla="*/ 0 w 4280440"/>
              <a:gd name="connsiteY2" fmla="*/ 9641064 h 964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0440" h="9641064">
                <a:moveTo>
                  <a:pt x="4280440" y="0"/>
                </a:moveTo>
                <a:lnTo>
                  <a:pt x="4280440" y="9641064"/>
                </a:lnTo>
                <a:lnTo>
                  <a:pt x="0" y="96410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980A1-55E4-45A5-BA35-3D5B0A0D4D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-1" b="84384"/>
          <a:stretch/>
        </p:blipFill>
        <p:spPr>
          <a:xfrm rot="16200000" flipV="1">
            <a:off x="-2191604" y="2193190"/>
            <a:ext cx="6858001" cy="2471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B8DDBF-6777-4D97-A499-4CFE76844D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3" t="11058" b="84384"/>
          <a:stretch/>
        </p:blipFill>
        <p:spPr>
          <a:xfrm rot="16200000" flipH="1">
            <a:off x="-414677" y="3063931"/>
            <a:ext cx="6857999" cy="7301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DCA6EB-0864-4248-86FA-78CCEF5576D9}"/>
              </a:ext>
            </a:extLst>
          </p:cNvPr>
          <p:cNvSpPr txBox="1"/>
          <p:nvPr/>
        </p:nvSpPr>
        <p:spPr>
          <a:xfrm>
            <a:off x="5944171" y="1927310"/>
            <a:ext cx="42539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rgbClr val="1CB1C2"/>
                </a:solidFill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rPr>
              <a:t>Thank You</a:t>
            </a:r>
            <a:endParaRPr lang="en-GB" sz="2700" dirty="0">
              <a:solidFill>
                <a:srgbClr val="1CB1C2"/>
              </a:solidFill>
              <a:latin typeface="+mj-lt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C9487-CB88-45EF-AFD8-0F5BB6851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882" y="6139543"/>
            <a:ext cx="2020444" cy="71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6026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593</Words>
  <Application>Microsoft Office PowerPoint</Application>
  <PresentationFormat>Widescreen</PresentationFormat>
  <Paragraphs>111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Open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jayanth srinivas</dc:creator>
  <cp:lastModifiedBy>Neelima Vobugari</cp:lastModifiedBy>
  <cp:revision>24</cp:revision>
  <dcterms:created xsi:type="dcterms:W3CDTF">2018-10-04T08:05:07Z</dcterms:created>
  <dcterms:modified xsi:type="dcterms:W3CDTF">2018-10-05T15:18:24Z</dcterms:modified>
</cp:coreProperties>
</file>
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Lato" panose="020F0502020204030203"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192"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2f8320af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2f8320af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42f8320af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42f8320af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42f8320afc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42f8320af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42f8320af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42f8320af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42f8320af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42f8320af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42f8320af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42f8320af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42f92ed18d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42f92ed18d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42f92ed18d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42f92ed18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42f92ed18d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42f92ed18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42f92ed18d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42f92ed18d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42f92ed18d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2f92ed18d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42f92ed18d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42f92ed18d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42f92ed18d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42f92ed18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42f92ed18d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42f92ed18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42f92ed18d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42f92ed18d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42f92ed18d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42f92ed18d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55" name="Google Shape;55;p13"/>
          <p:cNvPicPr preferRelativeResize="0"/>
          <p:nvPr/>
        </p:nvPicPr>
        <p:blipFill>
          <a:blip r:embed="rId4">
            <a:alphaModFix/>
          </a:blip>
          <a:stretch>
            <a:fillRect/>
          </a:stretch>
        </p:blipFill>
        <p:spPr>
          <a:xfrm>
            <a:off x="0" y="3282150"/>
            <a:ext cx="5212750" cy="1861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a:blip r:embed="rId3">
            <a:alphaModFix/>
          </a:blip>
          <a:stretch>
            <a:fillRect/>
          </a:stretch>
        </p:blipFill>
        <p:spPr>
          <a:xfrm>
            <a:off x="0" y="0"/>
            <a:ext cx="9143999" cy="5143501"/>
          </a:xfrm>
          <a:prstGeom prst="rect">
            <a:avLst/>
          </a:prstGeom>
          <a:noFill/>
          <a:ln>
            <a:noFill/>
          </a:ln>
        </p:spPr>
      </p:pic>
      <p:sp>
        <p:nvSpPr>
          <p:cNvPr id="61" name="Google Shape;61;p14"/>
          <p:cNvSpPr txBox="1"/>
          <p:nvPr/>
        </p:nvSpPr>
        <p:spPr>
          <a:xfrm>
            <a:off x="190500" y="857250"/>
            <a:ext cx="3941100" cy="57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latin typeface="Lato"/>
                <a:ea typeface="Lato"/>
                <a:cs typeface="Lato"/>
                <a:sym typeface="Lato"/>
              </a:rPr>
              <a:t>Descriptive Analytics:</a:t>
            </a:r>
            <a:endParaRPr sz="3000" b="1">
              <a:latin typeface="Lato"/>
              <a:ea typeface="Lato"/>
              <a:cs typeface="Lato"/>
              <a:sym typeface="Lato"/>
            </a:endParaRPr>
          </a:p>
        </p:txBody>
      </p:sp>
      <p:sp>
        <p:nvSpPr>
          <p:cNvPr id="62" name="Google Shape;62;p14"/>
          <p:cNvSpPr txBox="1"/>
          <p:nvPr/>
        </p:nvSpPr>
        <p:spPr>
          <a:xfrm>
            <a:off x="273850" y="1690700"/>
            <a:ext cx="7667700" cy="3392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dirty="0">
                <a:solidFill>
                  <a:schemeClr val="dk1"/>
                </a:solidFill>
                <a:highlight>
                  <a:srgbClr val="FFFFFF"/>
                </a:highlight>
                <a:latin typeface="Lato"/>
                <a:ea typeface="Lato"/>
                <a:cs typeface="Lato"/>
                <a:sym typeface="Lato"/>
              </a:rPr>
              <a:t>Descriptive analytics is the interpretation of historical data to better understand changes that have happened in a business. </a:t>
            </a:r>
            <a:endParaRPr sz="1800" dirty="0">
              <a:solidFill>
                <a:schemeClr val="dk1"/>
              </a:solidFill>
              <a:highlight>
                <a:srgbClr val="FFFFFF"/>
              </a:highlight>
              <a:latin typeface="Lato"/>
              <a:ea typeface="Lato"/>
              <a:cs typeface="Lato"/>
              <a:sym typeface="Lato"/>
            </a:endParaRPr>
          </a:p>
          <a:p>
            <a:pPr marL="0" lvl="0" indent="0" algn="l" rtl="0">
              <a:spcBef>
                <a:spcPts val="0"/>
              </a:spcBef>
              <a:spcAft>
                <a:spcPts val="0"/>
              </a:spcAft>
              <a:buClr>
                <a:schemeClr val="dk1"/>
              </a:buClr>
              <a:buSzPts val="1100"/>
              <a:buFont typeface="Arial"/>
              <a:buNone/>
            </a:pPr>
            <a:endParaRPr sz="1800" dirty="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dirty="0">
                <a:solidFill>
                  <a:srgbClr val="111111"/>
                </a:solidFill>
                <a:highlight>
                  <a:srgbClr val="FFFFFF"/>
                </a:highlight>
                <a:latin typeface="Lato"/>
                <a:ea typeface="Lato"/>
                <a:cs typeface="Lato"/>
                <a:sym typeface="Lato"/>
              </a:rPr>
              <a:t>Descriptive analytics describes the past using a range of data to draw comparisons.</a:t>
            </a:r>
            <a:endParaRPr sz="1800" dirty="0">
              <a:solidFill>
                <a:srgbClr val="111111"/>
              </a:solidFill>
              <a:highlight>
                <a:srgbClr val="FFFFFF"/>
              </a:highlight>
              <a:latin typeface="Lato"/>
              <a:ea typeface="Lato"/>
              <a:cs typeface="Lato"/>
              <a:sym typeface="Lato"/>
            </a:endParaRPr>
          </a:p>
          <a:p>
            <a:pPr marL="0" lvl="0" indent="0" algn="l" rtl="0">
              <a:spcBef>
                <a:spcPts val="0"/>
              </a:spcBef>
              <a:spcAft>
                <a:spcPts val="0"/>
              </a:spcAft>
              <a:buNone/>
            </a:pPr>
            <a:r>
              <a:rPr lang="en" sz="1800" dirty="0">
                <a:solidFill>
                  <a:srgbClr val="111111"/>
                </a:solidFill>
                <a:highlight>
                  <a:srgbClr val="FFFFFF"/>
                </a:highlight>
                <a:latin typeface="Lato"/>
                <a:ea typeface="Lato"/>
                <a:cs typeface="Lato"/>
                <a:sym typeface="Lato"/>
              </a:rPr>
              <a:t> </a:t>
            </a:r>
            <a:endParaRPr sz="1800" dirty="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dirty="0">
                <a:solidFill>
                  <a:srgbClr val="111111"/>
                </a:solidFill>
                <a:highlight>
                  <a:srgbClr val="FFFFFF"/>
                </a:highlight>
                <a:latin typeface="Lato"/>
                <a:ea typeface="Lato"/>
                <a:cs typeface="Lato"/>
                <a:sym typeface="Lato"/>
              </a:rPr>
              <a:t>Most commonly reported financial metrics are a product of descriptive analytics,</a:t>
            </a:r>
            <a:r>
              <a:rPr lang="en" sz="1800" dirty="0">
                <a:solidFill>
                  <a:schemeClr val="dk1"/>
                </a:solidFill>
                <a:highlight>
                  <a:srgbClr val="FFFFFF"/>
                </a:highlight>
                <a:latin typeface="Lato"/>
                <a:ea typeface="Lato"/>
                <a:cs typeface="Lato"/>
                <a:sym typeface="Lato"/>
              </a:rPr>
              <a:t> e.g., </a:t>
            </a:r>
            <a:r>
              <a:rPr lang="en" sz="1800" dirty="0">
                <a:solidFill>
                  <a:schemeClr val="dk1"/>
                </a:solidFill>
                <a:latin typeface="Lato"/>
                <a:ea typeface="Lato"/>
                <a:cs typeface="Lato"/>
                <a:sym typeface="Lato"/>
              </a:rPr>
              <a:t>year over year </a:t>
            </a:r>
            <a:r>
              <a:rPr lang="en" sz="1800" dirty="0">
                <a:solidFill>
                  <a:schemeClr val="dk1"/>
                </a:solidFill>
                <a:highlight>
                  <a:srgbClr val="FFFFFF"/>
                </a:highlight>
                <a:latin typeface="Lato"/>
                <a:ea typeface="Lato"/>
                <a:cs typeface="Lato"/>
                <a:sym typeface="Lato"/>
              </a:rPr>
              <a:t>pricing changes,month-over-month sales growth, the number of users, or the total </a:t>
            </a:r>
            <a:r>
              <a:rPr lang="en" sz="1800" dirty="0">
                <a:solidFill>
                  <a:schemeClr val="dk1"/>
                </a:solidFill>
                <a:latin typeface="Lato"/>
                <a:ea typeface="Lato"/>
                <a:cs typeface="Lato"/>
                <a:sym typeface="Lato"/>
              </a:rPr>
              <a:t>revenue per subscriber.</a:t>
            </a:r>
            <a:endParaRPr sz="1800" dirty="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dirty="0">
                <a:solidFill>
                  <a:schemeClr val="dk1"/>
                </a:solidFill>
                <a:highlight>
                  <a:srgbClr val="FFFFFF"/>
                </a:highlight>
                <a:latin typeface="Lato"/>
                <a:ea typeface="Lato"/>
                <a:cs typeface="Lato"/>
                <a:sym typeface="Lato"/>
              </a:rPr>
              <a:t>These all describe what has occurred in the business in the time period being measured.</a:t>
            </a:r>
            <a:endParaRPr sz="1800" dirty="0">
              <a:solidFill>
                <a:schemeClr val="dk1"/>
              </a:solidFill>
              <a:highlight>
                <a:srgbClr val="FFFFFF"/>
              </a:highlight>
              <a:latin typeface="Lato"/>
              <a:ea typeface="Lato"/>
              <a:cs typeface="Lato"/>
              <a:sym typeface="Lato"/>
            </a:endParaRPr>
          </a:p>
          <a:p>
            <a:pPr marL="0" lvl="0" indent="0" algn="l" rtl="0">
              <a:spcBef>
                <a:spcPts val="0"/>
              </a:spcBef>
              <a:spcAft>
                <a:spcPts val="0"/>
              </a:spcAft>
              <a:buNone/>
            </a:pPr>
            <a:endParaRPr sz="1200" dirty="0">
              <a:solidFill>
                <a:schemeClr val="dk1"/>
              </a:solidFill>
              <a:highlight>
                <a:srgbClr val="FFFFFF"/>
              </a:highlight>
            </a:endParaRPr>
          </a:p>
          <a:p>
            <a:pPr marL="0" lvl="0" indent="0" algn="l" rtl="0">
              <a:spcBef>
                <a:spcPts val="0"/>
              </a:spcBef>
              <a:spcAft>
                <a:spcPts val="0"/>
              </a:spcAft>
              <a:buNone/>
            </a:pPr>
            <a:endParaRPr sz="1800" dirty="0">
              <a:solidFill>
                <a:srgbClr val="111111"/>
              </a:solidFill>
              <a:highlight>
                <a:srgbClr val="FFFFFF"/>
              </a:highlight>
            </a:endParaRPr>
          </a:p>
        </p:txBody>
      </p:sp>
      <p:pic>
        <p:nvPicPr>
          <p:cNvPr id="63" name="Google Shape;63;p14"/>
          <p:cNvPicPr preferRelativeResize="0"/>
          <p:nvPr/>
        </p:nvPicPr>
        <p:blipFill>
          <a:blip r:embed="rId4">
            <a:alphaModFix/>
          </a:blip>
          <a:stretch>
            <a:fillRect/>
          </a:stretch>
        </p:blipFill>
        <p:spPr>
          <a:xfrm>
            <a:off x="7815750" y="3815050"/>
            <a:ext cx="1328250" cy="1328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69" name="Google Shape;69;p15"/>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70" name="Google Shape;70;p15"/>
          <p:cNvSpPr txBox="1"/>
          <p:nvPr/>
        </p:nvSpPr>
        <p:spPr>
          <a:xfrm>
            <a:off x="107150" y="678650"/>
            <a:ext cx="3595800" cy="5001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Peep at Your Data :</a:t>
            </a:r>
            <a:endParaRPr sz="2400" b="1"/>
          </a:p>
        </p:txBody>
      </p:sp>
      <p:sp>
        <p:nvSpPr>
          <p:cNvPr id="71" name="Google Shape;71;p15"/>
          <p:cNvSpPr txBox="1"/>
          <p:nvPr/>
        </p:nvSpPr>
        <p:spPr>
          <a:xfrm>
            <a:off x="273850" y="1381125"/>
            <a:ext cx="7542000" cy="35835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SzPts val="1800"/>
              <a:buFont typeface="Lato"/>
              <a:buChar char="●"/>
            </a:pPr>
            <a:r>
              <a:rPr lang="en" sz="1800">
                <a:latin typeface="Lato"/>
                <a:ea typeface="Lato"/>
                <a:cs typeface="Lato"/>
                <a:sym typeface="Lato"/>
              </a:rPr>
              <a:t>Import the libraries as</a:t>
            </a:r>
            <a:endParaRPr sz="1800">
              <a:latin typeface="Lato"/>
              <a:ea typeface="Lato"/>
              <a:cs typeface="Lato"/>
              <a:sym typeface="Lato"/>
            </a:endParaRPr>
          </a:p>
          <a:p>
            <a:pPr marL="457200" lvl="0" indent="0" algn="l" rtl="0">
              <a:spcBef>
                <a:spcPts val="0"/>
              </a:spcBef>
              <a:spcAft>
                <a:spcPts val="0"/>
              </a:spcAft>
              <a:buNone/>
            </a:pPr>
            <a:endParaRPr sz="1800"/>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latin typeface="Lato"/>
              <a:ea typeface="Lato"/>
              <a:cs typeface="Lato"/>
              <a:sym typeface="Lato"/>
            </a:endParaRPr>
          </a:p>
          <a:p>
            <a:pPr marL="457200" lvl="0" indent="0" algn="l" rtl="0">
              <a:spcBef>
                <a:spcPts val="0"/>
              </a:spcBef>
              <a:spcAft>
                <a:spcPts val="0"/>
              </a:spcAft>
              <a:buNone/>
            </a:pPr>
            <a:endParaRPr>
              <a:latin typeface="Lato"/>
              <a:ea typeface="Lato"/>
              <a:cs typeface="Lato"/>
              <a:sym typeface="Lato"/>
            </a:endParaRPr>
          </a:p>
          <a:p>
            <a:pPr marL="457200" lvl="0" indent="-342900" algn="l" rtl="0">
              <a:spcBef>
                <a:spcPts val="0"/>
              </a:spcBef>
              <a:spcAft>
                <a:spcPts val="0"/>
              </a:spcAft>
              <a:buSzPts val="1800"/>
              <a:buFont typeface="Lato"/>
              <a:buChar char="●"/>
            </a:pPr>
            <a:r>
              <a:rPr lang="en" sz="1800">
                <a:latin typeface="Lato"/>
                <a:ea typeface="Lato"/>
                <a:cs typeface="Lato"/>
                <a:sym typeface="Lato"/>
              </a:rPr>
              <a:t>Read the csv(comma separated values) file using pandas.</a:t>
            </a:r>
            <a:endParaRPr sz="1800">
              <a:latin typeface="Lato"/>
              <a:ea typeface="Lato"/>
              <a:cs typeface="Lato"/>
              <a:sym typeface="Lato"/>
            </a:endParaRPr>
          </a:p>
          <a:p>
            <a:pPr marL="457200" lvl="0" indent="-342900" algn="l" rtl="0">
              <a:spcBef>
                <a:spcPts val="0"/>
              </a:spcBef>
              <a:spcAft>
                <a:spcPts val="0"/>
              </a:spcAft>
              <a:buSzPts val="1800"/>
              <a:buFont typeface="Lato"/>
              <a:buChar char="●"/>
            </a:pPr>
            <a:r>
              <a:rPr lang="en" sz="1800">
                <a:latin typeface="Lato"/>
                <a:ea typeface="Lato"/>
                <a:cs typeface="Lato"/>
                <a:sym typeface="Lato"/>
              </a:rPr>
              <a:t>We can review the first 5 rows of our data using the head( ) function on the pandas DataFrame.</a:t>
            </a:r>
            <a:endParaRPr sz="1800">
              <a:latin typeface="Lato"/>
              <a:ea typeface="Lato"/>
              <a:cs typeface="Lato"/>
              <a:sym typeface="Lato"/>
            </a:endParaRPr>
          </a:p>
          <a:p>
            <a:pPr marL="914400" lvl="0" indent="0" algn="l" rtl="0">
              <a:spcBef>
                <a:spcPts val="0"/>
              </a:spcBef>
              <a:spcAft>
                <a:spcPts val="0"/>
              </a:spcAft>
              <a:buNone/>
            </a:pPr>
            <a:endParaRPr>
              <a:latin typeface="Lato"/>
              <a:ea typeface="Lato"/>
              <a:cs typeface="Lato"/>
              <a:sym typeface="Lato"/>
            </a:endParaRPr>
          </a:p>
        </p:txBody>
      </p:sp>
      <p:pic>
        <p:nvPicPr>
          <p:cNvPr id="72" name="Google Shape;72;p15"/>
          <p:cNvPicPr preferRelativeResize="0"/>
          <p:nvPr/>
        </p:nvPicPr>
        <p:blipFill>
          <a:blip r:embed="rId5">
            <a:alphaModFix/>
          </a:blip>
          <a:stretch>
            <a:fillRect/>
          </a:stretch>
        </p:blipFill>
        <p:spPr>
          <a:xfrm>
            <a:off x="773900" y="1743975"/>
            <a:ext cx="5012550" cy="982550"/>
          </a:xfrm>
          <a:prstGeom prst="rect">
            <a:avLst/>
          </a:prstGeom>
          <a:noFill/>
          <a:ln>
            <a:noFill/>
          </a:ln>
        </p:spPr>
      </p:pic>
      <p:pic>
        <p:nvPicPr>
          <p:cNvPr id="73" name="Google Shape;73;p15"/>
          <p:cNvPicPr preferRelativeResize="0"/>
          <p:nvPr/>
        </p:nvPicPr>
        <p:blipFill>
          <a:blip r:embed="rId6">
            <a:alphaModFix/>
          </a:blip>
          <a:stretch>
            <a:fillRect/>
          </a:stretch>
        </p:blipFill>
        <p:spPr>
          <a:xfrm>
            <a:off x="961100" y="4000551"/>
            <a:ext cx="5012550" cy="821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79" name="Google Shape;79;p16"/>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80" name="Google Shape;80;p16"/>
          <p:cNvSpPr txBox="1"/>
          <p:nvPr/>
        </p:nvSpPr>
        <p:spPr>
          <a:xfrm>
            <a:off x="166700" y="904875"/>
            <a:ext cx="4405200" cy="5001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Char char="★"/>
            </a:pPr>
            <a:r>
              <a:rPr lang="en" sz="2400" b="1">
                <a:solidFill>
                  <a:srgbClr val="222222"/>
                </a:solidFill>
                <a:highlight>
                  <a:srgbClr val="FFFFFF"/>
                </a:highlight>
              </a:rPr>
              <a:t>Dimensions of Your Data:</a:t>
            </a:r>
            <a:endParaRPr sz="2400" b="1">
              <a:solidFill>
                <a:srgbClr val="222222"/>
              </a:solidFill>
              <a:highlight>
                <a:srgbClr val="FFFFFF"/>
              </a:highlight>
            </a:endParaRPr>
          </a:p>
          <a:p>
            <a:pPr marL="0" lvl="0" indent="0" algn="l" rtl="0">
              <a:spcBef>
                <a:spcPts val="700"/>
              </a:spcBef>
              <a:spcAft>
                <a:spcPts val="0"/>
              </a:spcAft>
              <a:buNone/>
            </a:pPr>
            <a:endParaRPr/>
          </a:p>
        </p:txBody>
      </p:sp>
      <p:sp>
        <p:nvSpPr>
          <p:cNvPr id="81" name="Google Shape;81;p16"/>
          <p:cNvSpPr txBox="1"/>
          <p:nvPr/>
        </p:nvSpPr>
        <p:spPr>
          <a:xfrm>
            <a:off x="309575" y="1643075"/>
            <a:ext cx="7322400" cy="35004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Too many rows and algorithms may take too long to train. Too few and perhaps you do not have enough data to train the algorithms.</a:t>
            </a:r>
            <a:endParaRPr sz="1800">
              <a:solidFill>
                <a:srgbClr val="555555"/>
              </a:solidFill>
              <a:highlight>
                <a:srgbClr val="FFFFFF"/>
              </a:highlight>
              <a:latin typeface="Lato"/>
              <a:ea typeface="Lato"/>
              <a:cs typeface="Lato"/>
              <a:sym typeface="Lato"/>
            </a:endParaRPr>
          </a:p>
          <a:p>
            <a:pPr marL="457200" lvl="0" indent="-342900" algn="l" rtl="0">
              <a:lnSpc>
                <a:spcPct val="115000"/>
              </a:lnSpc>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Too many features and some algorithms can be distracted or suffer poor performance due to the curse of dimensionality.</a:t>
            </a:r>
            <a:endParaRPr sz="1800">
              <a:solidFill>
                <a:srgbClr val="555555"/>
              </a:solidFill>
              <a:highlight>
                <a:srgbClr val="FFFFFF"/>
              </a:highlight>
              <a:latin typeface="Lato"/>
              <a:ea typeface="Lato"/>
              <a:cs typeface="Lato"/>
              <a:sym typeface="Lato"/>
            </a:endParaRPr>
          </a:p>
          <a:p>
            <a:pPr marL="457200" lvl="0" indent="-342900" algn="l" rtl="0">
              <a:lnSpc>
                <a:spcPct val="115000"/>
              </a:lnSpc>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We can review the shape and size of your dataset by printing the shape property on the pandas DataFrame.</a:t>
            </a:r>
            <a:endParaRPr sz="1800">
              <a:solidFill>
                <a:srgbClr val="555555"/>
              </a:solidFill>
              <a:highlight>
                <a:srgbClr val="FFFFFF"/>
              </a:highlight>
              <a:latin typeface="Lato"/>
              <a:ea typeface="Lato"/>
              <a:cs typeface="Lato"/>
              <a:sym typeface="Lato"/>
            </a:endParaRPr>
          </a:p>
          <a:p>
            <a:pPr marL="0" lvl="0" indent="0" algn="l" rtl="0">
              <a:spcBef>
                <a:spcPts val="1100"/>
              </a:spcBef>
              <a:spcAft>
                <a:spcPts val="0"/>
              </a:spcAft>
              <a:buNone/>
            </a:pPr>
            <a:r>
              <a:rPr lang="en" sz="1150">
                <a:solidFill>
                  <a:srgbClr val="555555"/>
                </a:solidFill>
                <a:highlight>
                  <a:srgbClr val="FFFFFF"/>
                </a:highlight>
              </a:rPr>
              <a:t>.</a:t>
            </a:r>
            <a:endParaRPr/>
          </a:p>
        </p:txBody>
      </p:sp>
      <p:pic>
        <p:nvPicPr>
          <p:cNvPr id="82" name="Google Shape;82;p16"/>
          <p:cNvPicPr preferRelativeResize="0"/>
          <p:nvPr/>
        </p:nvPicPr>
        <p:blipFill>
          <a:blip r:embed="rId5">
            <a:alphaModFix/>
          </a:blip>
          <a:stretch>
            <a:fillRect/>
          </a:stretch>
        </p:blipFill>
        <p:spPr>
          <a:xfrm>
            <a:off x="773900" y="3679025"/>
            <a:ext cx="5548325" cy="1328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7"/>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88" name="Google Shape;88;p17"/>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89" name="Google Shape;89;p17"/>
          <p:cNvSpPr txBox="1"/>
          <p:nvPr/>
        </p:nvSpPr>
        <p:spPr>
          <a:xfrm>
            <a:off x="0" y="892975"/>
            <a:ext cx="5131500" cy="5382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a:solidFill>
                  <a:srgbClr val="222222"/>
                </a:solidFill>
                <a:highlight>
                  <a:srgbClr val="FFFFFF"/>
                </a:highlight>
                <a:latin typeface="Lato"/>
                <a:ea typeface="Lato"/>
                <a:cs typeface="Lato"/>
                <a:sym typeface="Lato"/>
              </a:rPr>
              <a:t>Data Type For Each Attribute:</a:t>
            </a:r>
            <a:endParaRPr sz="2400" b="1">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a:p>
        </p:txBody>
      </p:sp>
      <p:sp>
        <p:nvSpPr>
          <p:cNvPr id="90" name="Google Shape;90;p17"/>
          <p:cNvSpPr txBox="1"/>
          <p:nvPr/>
        </p:nvSpPr>
        <p:spPr>
          <a:xfrm>
            <a:off x="333375" y="1488275"/>
            <a:ext cx="7632000" cy="3583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The type of each attribute is important.</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Strings may need to be converted to floating point values or integers to represent categorical or ordinal values.</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We  can get an idea of the types of attributes by peeking at the raw data, as above. You can also list the data types used by the DataFrame to characterize each attribute using the </a:t>
            </a:r>
            <a:r>
              <a:rPr lang="en" sz="1800" i="1">
                <a:solidFill>
                  <a:srgbClr val="555555"/>
                </a:solidFill>
                <a:highlight>
                  <a:srgbClr val="FFFFFF"/>
                </a:highlight>
                <a:latin typeface="Lato"/>
                <a:ea typeface="Lato"/>
                <a:cs typeface="Lato"/>
                <a:sym typeface="Lato"/>
              </a:rPr>
              <a:t>dtypes </a:t>
            </a:r>
            <a:r>
              <a:rPr lang="en" sz="1800">
                <a:solidFill>
                  <a:srgbClr val="555555"/>
                </a:solidFill>
                <a:highlight>
                  <a:srgbClr val="FFFFFF"/>
                </a:highlight>
                <a:latin typeface="Lato"/>
                <a:ea typeface="Lato"/>
                <a:cs typeface="Lato"/>
                <a:sym typeface="Lato"/>
              </a:rPr>
              <a:t>property.</a:t>
            </a:r>
            <a:endParaRPr sz="1800">
              <a:solidFill>
                <a:srgbClr val="555555"/>
              </a:solidFill>
              <a:highlight>
                <a:srgbClr val="FFFFFF"/>
              </a:highlight>
              <a:latin typeface="Lato"/>
              <a:ea typeface="Lato"/>
              <a:cs typeface="Lato"/>
              <a:sym typeface="Lato"/>
            </a:endParaRPr>
          </a:p>
        </p:txBody>
      </p:sp>
      <p:pic>
        <p:nvPicPr>
          <p:cNvPr id="91" name="Google Shape;91;p17"/>
          <p:cNvPicPr preferRelativeResize="0"/>
          <p:nvPr/>
        </p:nvPicPr>
        <p:blipFill>
          <a:blip r:embed="rId5">
            <a:alphaModFix/>
          </a:blip>
          <a:stretch>
            <a:fillRect/>
          </a:stretch>
        </p:blipFill>
        <p:spPr>
          <a:xfrm>
            <a:off x="952500" y="3274225"/>
            <a:ext cx="5012525" cy="1869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8"/>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97" name="Google Shape;97;p18"/>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98" name="Google Shape;98;p18"/>
          <p:cNvSpPr txBox="1"/>
          <p:nvPr/>
        </p:nvSpPr>
        <p:spPr>
          <a:xfrm>
            <a:off x="59525" y="785825"/>
            <a:ext cx="5250600" cy="6429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a:solidFill>
                  <a:srgbClr val="222222"/>
                </a:solidFill>
                <a:highlight>
                  <a:srgbClr val="FFFFFF"/>
                </a:highlight>
                <a:latin typeface="Lato"/>
                <a:ea typeface="Lato"/>
                <a:cs typeface="Lato"/>
                <a:sym typeface="Lato"/>
              </a:rPr>
              <a:t>Descriptive Statistics:</a:t>
            </a:r>
            <a:r>
              <a:rPr lang="en" sz="1800">
                <a:solidFill>
                  <a:srgbClr val="222222"/>
                </a:solidFill>
                <a:highlight>
                  <a:srgbClr val="FFFFFF"/>
                </a:highlight>
                <a:latin typeface="Lato"/>
                <a:ea typeface="Lato"/>
                <a:cs typeface="Lato"/>
                <a:sym typeface="Lato"/>
              </a:rPr>
              <a:t>(summary)</a:t>
            </a:r>
            <a:endParaRPr sz="1800">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a:p>
        </p:txBody>
      </p:sp>
      <p:sp>
        <p:nvSpPr>
          <p:cNvPr id="99" name="Google Shape;99;p18"/>
          <p:cNvSpPr txBox="1"/>
          <p:nvPr/>
        </p:nvSpPr>
        <p:spPr>
          <a:xfrm>
            <a:off x="166700" y="1559725"/>
            <a:ext cx="7548300" cy="35004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It can give you great insight into the shape of each attribute.</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The </a:t>
            </a:r>
            <a:r>
              <a:rPr lang="en" sz="1800" i="1">
                <a:solidFill>
                  <a:srgbClr val="555555"/>
                </a:solidFill>
                <a:highlight>
                  <a:srgbClr val="FFFFFF"/>
                </a:highlight>
                <a:latin typeface="Lato"/>
                <a:ea typeface="Lato"/>
                <a:cs typeface="Lato"/>
                <a:sym typeface="Lato"/>
              </a:rPr>
              <a:t>describe()</a:t>
            </a:r>
            <a:r>
              <a:rPr lang="en" sz="1800">
                <a:solidFill>
                  <a:srgbClr val="555555"/>
                </a:solidFill>
                <a:highlight>
                  <a:srgbClr val="FFFFFF"/>
                </a:highlight>
                <a:latin typeface="Lato"/>
                <a:ea typeface="Lato"/>
                <a:cs typeface="Lato"/>
                <a:sym typeface="Lato"/>
              </a:rPr>
              <a:t> function on the Pandas DataFrame lists 8 statistical properties of each attribute:</a:t>
            </a:r>
            <a:endParaRPr sz="1800">
              <a:solidFill>
                <a:srgbClr val="555555"/>
              </a:solidFill>
              <a:highlight>
                <a:srgbClr val="FFFFFF"/>
              </a:highlight>
              <a:latin typeface="Lato"/>
              <a:ea typeface="Lato"/>
              <a:cs typeface="Lato"/>
              <a:sym typeface="Lato"/>
            </a:endParaRPr>
          </a:p>
        </p:txBody>
      </p:sp>
      <p:pic>
        <p:nvPicPr>
          <p:cNvPr id="100" name="Google Shape;100;p18"/>
          <p:cNvPicPr preferRelativeResize="0"/>
          <p:nvPr/>
        </p:nvPicPr>
        <p:blipFill>
          <a:blip r:embed="rId5">
            <a:alphaModFix/>
          </a:blip>
          <a:stretch>
            <a:fillRect/>
          </a:stretch>
        </p:blipFill>
        <p:spPr>
          <a:xfrm>
            <a:off x="726275" y="2512225"/>
            <a:ext cx="5453074" cy="2631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19"/>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06" name="Google Shape;106;p19"/>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07" name="Google Shape;107;p19"/>
          <p:cNvSpPr txBox="1"/>
          <p:nvPr/>
        </p:nvSpPr>
        <p:spPr>
          <a:xfrm>
            <a:off x="428625" y="821525"/>
            <a:ext cx="6858000" cy="8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19"/>
          <p:cNvSpPr txBox="1"/>
          <p:nvPr/>
        </p:nvSpPr>
        <p:spPr>
          <a:xfrm>
            <a:off x="83350" y="928700"/>
            <a:ext cx="5202900" cy="5715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a:solidFill>
                  <a:srgbClr val="222222"/>
                </a:solidFill>
                <a:highlight>
                  <a:srgbClr val="FFFFFF"/>
                </a:highlight>
                <a:latin typeface="Lato"/>
                <a:ea typeface="Lato"/>
                <a:cs typeface="Lato"/>
                <a:sym typeface="Lato"/>
              </a:rPr>
              <a:t>Correlation Between Attributes:</a:t>
            </a:r>
            <a:endParaRPr sz="2400" b="1">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a:p>
        </p:txBody>
      </p:sp>
      <p:sp>
        <p:nvSpPr>
          <p:cNvPr id="109" name="Google Shape;109;p19"/>
          <p:cNvSpPr txBox="1"/>
          <p:nvPr/>
        </p:nvSpPr>
        <p:spPr>
          <a:xfrm>
            <a:off x="83350" y="1621625"/>
            <a:ext cx="7381800" cy="3521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Correlation refers to the relationship between two variables</a:t>
            </a:r>
            <a:endParaRPr sz="1800">
              <a:solidFill>
                <a:srgbClr val="555555"/>
              </a:solidFill>
              <a:highlight>
                <a:srgbClr val="FFFFFF"/>
              </a:highlight>
              <a:latin typeface="Lato"/>
              <a:ea typeface="Lato"/>
              <a:cs typeface="Lato"/>
              <a:sym typeface="Lato"/>
            </a:endParaRPr>
          </a:p>
          <a:p>
            <a:pPr marL="457200" lvl="0" indent="-342900" algn="l" rtl="0">
              <a:spcBef>
                <a:spcPts val="0"/>
              </a:spcBef>
              <a:spcAft>
                <a:spcPts val="0"/>
              </a:spcAft>
              <a:buClr>
                <a:srgbClr val="555555"/>
              </a:buClr>
              <a:buSzPts val="1800"/>
              <a:buFont typeface="Lato"/>
              <a:buChar char="●"/>
            </a:pPr>
            <a:r>
              <a:rPr lang="en" sz="1800">
                <a:solidFill>
                  <a:srgbClr val="555555"/>
                </a:solidFill>
                <a:highlight>
                  <a:srgbClr val="FFFFFF"/>
                </a:highlight>
                <a:latin typeface="Lato"/>
                <a:ea typeface="Lato"/>
                <a:cs typeface="Lato"/>
                <a:sym typeface="Lato"/>
              </a:rPr>
              <a:t> We can use the </a:t>
            </a:r>
            <a:r>
              <a:rPr lang="en" sz="1800" i="1">
                <a:solidFill>
                  <a:srgbClr val="555555"/>
                </a:solidFill>
                <a:highlight>
                  <a:srgbClr val="FFFFFF"/>
                </a:highlight>
                <a:latin typeface="Lato"/>
                <a:ea typeface="Lato"/>
                <a:cs typeface="Lato"/>
                <a:sym typeface="Lato"/>
              </a:rPr>
              <a:t>corr()</a:t>
            </a:r>
            <a:r>
              <a:rPr lang="en" sz="1800">
                <a:solidFill>
                  <a:srgbClr val="555555"/>
                </a:solidFill>
                <a:highlight>
                  <a:srgbClr val="FFFFFF"/>
                </a:highlight>
                <a:latin typeface="Lato"/>
                <a:ea typeface="Lato"/>
                <a:cs typeface="Lato"/>
                <a:sym typeface="Lato"/>
              </a:rPr>
              <a:t> function on the Pandas DataFrame to calculate a correlation matrix.</a:t>
            </a:r>
            <a:endParaRPr sz="1800">
              <a:solidFill>
                <a:srgbClr val="555555"/>
              </a:solidFill>
              <a:highlight>
                <a:srgbClr val="FFFFFF"/>
              </a:highlight>
              <a:latin typeface="Lato"/>
              <a:ea typeface="Lato"/>
              <a:cs typeface="Lato"/>
              <a:sym typeface="Lato"/>
            </a:endParaRPr>
          </a:p>
        </p:txBody>
      </p:sp>
      <p:pic>
        <p:nvPicPr>
          <p:cNvPr id="110" name="Google Shape;110;p19"/>
          <p:cNvPicPr preferRelativeResize="0"/>
          <p:nvPr/>
        </p:nvPicPr>
        <p:blipFill>
          <a:blip r:embed="rId5">
            <a:alphaModFix/>
          </a:blip>
          <a:stretch>
            <a:fillRect/>
          </a:stretch>
        </p:blipFill>
        <p:spPr>
          <a:xfrm>
            <a:off x="550075" y="2631275"/>
            <a:ext cx="7115175" cy="251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20"/>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16" name="Google Shape;116;p20"/>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17" name="Google Shape;117;p20"/>
          <p:cNvSpPr txBox="1"/>
          <p:nvPr/>
        </p:nvSpPr>
        <p:spPr>
          <a:xfrm>
            <a:off x="71450" y="1012025"/>
            <a:ext cx="7262400" cy="609900"/>
          </a:xfrm>
          <a:prstGeom prst="rect">
            <a:avLst/>
          </a:prstGeom>
          <a:noFill/>
          <a:ln>
            <a:noFill/>
          </a:ln>
        </p:spPr>
        <p:txBody>
          <a:bodyPr spcFirstLastPara="1" wrap="square" lIns="91425" tIns="91425" rIns="91425" bIns="91425" anchor="t" anchorCtr="0">
            <a:noAutofit/>
          </a:bodyPr>
          <a:lstStyle/>
          <a:p>
            <a:pPr marL="457200" lvl="0" indent="-381000" algn="l" rtl="0">
              <a:lnSpc>
                <a:spcPct val="150000"/>
              </a:lnSpc>
              <a:spcBef>
                <a:spcPts val="0"/>
              </a:spcBef>
              <a:spcAft>
                <a:spcPts val="0"/>
              </a:spcAft>
              <a:buClr>
                <a:srgbClr val="222222"/>
              </a:buClr>
              <a:buSzPts val="2400"/>
              <a:buFont typeface="Lato"/>
              <a:buChar char="★"/>
            </a:pPr>
            <a:r>
              <a:rPr lang="en" sz="2400" b="1">
                <a:solidFill>
                  <a:srgbClr val="222222"/>
                </a:solidFill>
                <a:highlight>
                  <a:srgbClr val="FFFFFF"/>
                </a:highlight>
                <a:latin typeface="Lato"/>
                <a:ea typeface="Lato"/>
                <a:cs typeface="Lato"/>
                <a:sym typeface="Lato"/>
              </a:rPr>
              <a:t>Skew of Univariate Distributions:</a:t>
            </a:r>
            <a:endParaRPr sz="2400" b="1">
              <a:solidFill>
                <a:srgbClr val="222222"/>
              </a:solidFill>
              <a:highlight>
                <a:srgbClr val="FFFFFF"/>
              </a:highlight>
              <a:latin typeface="Lato"/>
              <a:ea typeface="Lato"/>
              <a:cs typeface="Lato"/>
              <a:sym typeface="Lato"/>
            </a:endParaRPr>
          </a:p>
          <a:p>
            <a:pPr marL="0" lvl="0" indent="0" algn="l" rtl="0">
              <a:spcBef>
                <a:spcPts val="700"/>
              </a:spcBef>
              <a:spcAft>
                <a:spcPts val="0"/>
              </a:spcAft>
              <a:buNone/>
            </a:pPr>
            <a:endParaRPr/>
          </a:p>
        </p:txBody>
      </p:sp>
      <p:sp>
        <p:nvSpPr>
          <p:cNvPr id="118" name="Google Shape;118;p20"/>
          <p:cNvSpPr txBox="1"/>
          <p:nvPr/>
        </p:nvSpPr>
        <p:spPr>
          <a:xfrm>
            <a:off x="250025" y="1785950"/>
            <a:ext cx="7565700" cy="32505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SzPts val="1800"/>
              <a:buFont typeface="Lato"/>
              <a:buChar char="●"/>
            </a:pPr>
            <a:r>
              <a:rPr lang="en" sz="1800">
                <a:highlight>
                  <a:srgbClr val="FFFFFF"/>
                </a:highlight>
                <a:latin typeface="Lato"/>
                <a:ea typeface="Lato"/>
                <a:cs typeface="Lato"/>
                <a:sym typeface="Lato"/>
              </a:rPr>
              <a:t>Skewness is asymmetry in a statistical distribution, in which the curve appears  skewed either to the left or to the right.</a:t>
            </a:r>
            <a:endParaRPr sz="1800">
              <a:highlight>
                <a:srgbClr val="FFFFFF"/>
              </a:highlight>
              <a:latin typeface="Lato"/>
              <a:ea typeface="Lato"/>
              <a:cs typeface="Lato"/>
              <a:sym typeface="Lato"/>
            </a:endParaRPr>
          </a:p>
          <a:p>
            <a:pPr marL="457200" lvl="0" indent="-342900" algn="l" rtl="0">
              <a:spcBef>
                <a:spcPts val="0"/>
              </a:spcBef>
              <a:spcAft>
                <a:spcPts val="0"/>
              </a:spcAft>
              <a:buSzPts val="1800"/>
              <a:buFont typeface="Lato"/>
              <a:buChar char="●"/>
            </a:pPr>
            <a:r>
              <a:rPr lang="en" sz="1800">
                <a:highlight>
                  <a:srgbClr val="FFFFFF"/>
                </a:highlight>
                <a:latin typeface="Lato"/>
                <a:ea typeface="Lato"/>
                <a:cs typeface="Lato"/>
                <a:sym typeface="Lato"/>
              </a:rPr>
              <a:t>We can calculate the skew of each attribute using the skew()  function on the Pandas DataFrame.</a:t>
            </a:r>
            <a:endParaRPr sz="1800">
              <a:highlight>
                <a:srgbClr val="FFFFFF"/>
              </a:highlight>
              <a:latin typeface="Lato"/>
              <a:ea typeface="Lato"/>
              <a:cs typeface="Lato"/>
              <a:sym typeface="Lato"/>
            </a:endParaRPr>
          </a:p>
        </p:txBody>
      </p:sp>
      <p:pic>
        <p:nvPicPr>
          <p:cNvPr id="119" name="Google Shape;119;p20"/>
          <p:cNvPicPr preferRelativeResize="0"/>
          <p:nvPr/>
        </p:nvPicPr>
        <p:blipFill>
          <a:blip r:embed="rId5">
            <a:alphaModFix/>
          </a:blip>
          <a:stretch>
            <a:fillRect/>
          </a:stretch>
        </p:blipFill>
        <p:spPr>
          <a:xfrm>
            <a:off x="785800" y="3012275"/>
            <a:ext cx="4643450" cy="2024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1"/>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25" name="Google Shape;125;p21"/>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26" name="Google Shape;126;p21"/>
          <p:cNvSpPr txBox="1"/>
          <p:nvPr/>
        </p:nvSpPr>
        <p:spPr>
          <a:xfrm>
            <a:off x="690575" y="750100"/>
            <a:ext cx="6858000" cy="80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21"/>
          <p:cNvSpPr txBox="1"/>
          <p:nvPr/>
        </p:nvSpPr>
        <p:spPr>
          <a:xfrm>
            <a:off x="154775" y="976325"/>
            <a:ext cx="5488800" cy="97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21"/>
          <p:cNvSpPr txBox="1"/>
          <p:nvPr/>
        </p:nvSpPr>
        <p:spPr>
          <a:xfrm>
            <a:off x="345275" y="1678775"/>
            <a:ext cx="7227000" cy="3297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Mean can be used to calculate average of a given list of numbers. It returns mean of the data set passed as parameters.</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SzPts val="1800"/>
              <a:buFont typeface="Lato"/>
              <a:buChar char="●"/>
            </a:pPr>
            <a:r>
              <a:rPr lang="en" sz="1800">
                <a:highlight>
                  <a:srgbClr val="FFFFFF"/>
                </a:highlight>
                <a:latin typeface="Lato"/>
                <a:ea typeface="Lato"/>
                <a:cs typeface="Lato"/>
                <a:sym typeface="Lato"/>
              </a:rPr>
              <a:t>We can calculate the mean of each attribute using the mean()  function on the Pandas DataFrame.</a:t>
            </a:r>
            <a:endParaRPr sz="1800">
              <a:highlight>
                <a:srgbClr val="FFFFFF"/>
              </a:highlight>
              <a:latin typeface="Lato"/>
              <a:ea typeface="Lato"/>
              <a:cs typeface="Lato"/>
              <a:sym typeface="Lato"/>
            </a:endParaRPr>
          </a:p>
          <a:p>
            <a:pPr marL="457200" lvl="0" indent="0" algn="l" rtl="0">
              <a:spcBef>
                <a:spcPts val="0"/>
              </a:spcBef>
              <a:spcAft>
                <a:spcPts val="0"/>
              </a:spcAft>
              <a:buNone/>
            </a:pPr>
            <a:endParaRPr sz="1800">
              <a:solidFill>
                <a:schemeClr val="dk1"/>
              </a:solidFill>
              <a:highlight>
                <a:srgbClr val="FFFFFF"/>
              </a:highlight>
              <a:latin typeface="Lato"/>
              <a:ea typeface="Lato"/>
              <a:cs typeface="Lato"/>
              <a:sym typeface="Lato"/>
            </a:endParaRPr>
          </a:p>
        </p:txBody>
      </p:sp>
      <p:sp>
        <p:nvSpPr>
          <p:cNvPr id="129" name="Google Shape;129;p21"/>
          <p:cNvSpPr txBox="1"/>
          <p:nvPr/>
        </p:nvSpPr>
        <p:spPr>
          <a:xfrm>
            <a:off x="345275" y="833450"/>
            <a:ext cx="2905200" cy="5001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Mean:</a:t>
            </a:r>
            <a:endParaRPr sz="2400" b="1">
              <a:latin typeface="Lato"/>
              <a:ea typeface="Lato"/>
              <a:cs typeface="Lato"/>
              <a:sym typeface="Lato"/>
            </a:endParaRPr>
          </a:p>
        </p:txBody>
      </p:sp>
      <p:pic>
        <p:nvPicPr>
          <p:cNvPr id="130" name="Google Shape;130;p21"/>
          <p:cNvPicPr preferRelativeResize="0"/>
          <p:nvPr/>
        </p:nvPicPr>
        <p:blipFill>
          <a:blip r:embed="rId5">
            <a:alphaModFix/>
          </a:blip>
          <a:stretch>
            <a:fillRect/>
          </a:stretch>
        </p:blipFill>
        <p:spPr>
          <a:xfrm>
            <a:off x="945350" y="2994181"/>
            <a:ext cx="4591050" cy="20897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22"/>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36" name="Google Shape;136;p22"/>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37" name="Google Shape;137;p22"/>
          <p:cNvSpPr txBox="1"/>
          <p:nvPr/>
        </p:nvSpPr>
        <p:spPr>
          <a:xfrm>
            <a:off x="142875" y="857250"/>
            <a:ext cx="2679000" cy="5952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Median:</a:t>
            </a:r>
            <a:endParaRPr sz="2400" b="1"/>
          </a:p>
        </p:txBody>
      </p:sp>
      <p:sp>
        <p:nvSpPr>
          <p:cNvPr id="138" name="Google Shape;138;p22"/>
          <p:cNvSpPr txBox="1"/>
          <p:nvPr/>
        </p:nvSpPr>
        <p:spPr>
          <a:xfrm>
            <a:off x="261950" y="1643075"/>
            <a:ext cx="7655700" cy="34056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Median can be used to calculate median value from an unsorted data-list. </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The biggest advantage of using median() function is that the data-list does not need to be sorted before being sent as parameter to the median() function.</a:t>
            </a:r>
            <a:endParaRPr sz="1800">
              <a:solidFill>
                <a:schemeClr val="dk1"/>
              </a:solidFill>
              <a:highlight>
                <a:srgbClr val="FFFFFF"/>
              </a:highlight>
              <a:latin typeface="Lato"/>
              <a:ea typeface="Lato"/>
              <a:cs typeface="Lato"/>
              <a:sym typeface="Lato"/>
            </a:endParaRPr>
          </a:p>
        </p:txBody>
      </p:sp>
      <p:pic>
        <p:nvPicPr>
          <p:cNvPr id="139" name="Google Shape;139;p22"/>
          <p:cNvPicPr preferRelativeResize="0"/>
          <p:nvPr/>
        </p:nvPicPr>
        <p:blipFill>
          <a:blip r:embed="rId5">
            <a:alphaModFix/>
          </a:blip>
          <a:stretch>
            <a:fillRect/>
          </a:stretch>
        </p:blipFill>
        <p:spPr>
          <a:xfrm>
            <a:off x="764400" y="3210338"/>
            <a:ext cx="4019550" cy="1838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23"/>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45" name="Google Shape;145;p23"/>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46" name="Google Shape;146;p23"/>
          <p:cNvSpPr txBox="1"/>
          <p:nvPr/>
        </p:nvSpPr>
        <p:spPr>
          <a:xfrm>
            <a:off x="297650" y="785825"/>
            <a:ext cx="7203300" cy="5595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Mode:</a:t>
            </a:r>
            <a:endParaRPr sz="2400" b="1"/>
          </a:p>
        </p:txBody>
      </p:sp>
      <p:sp>
        <p:nvSpPr>
          <p:cNvPr id="147" name="Google Shape;147;p23"/>
          <p:cNvSpPr txBox="1"/>
          <p:nvPr/>
        </p:nvSpPr>
        <p:spPr>
          <a:xfrm>
            <a:off x="297650" y="1690700"/>
            <a:ext cx="7084200" cy="336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3"/>
          <p:cNvSpPr txBox="1"/>
          <p:nvPr/>
        </p:nvSpPr>
        <p:spPr>
          <a:xfrm>
            <a:off x="381100" y="1690700"/>
            <a:ext cx="7203300" cy="14406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dirty="0">
                <a:solidFill>
                  <a:schemeClr val="dk1"/>
                </a:solidFill>
                <a:highlight>
                  <a:srgbClr val="FFFFFF"/>
                </a:highlight>
                <a:latin typeface="Lato"/>
                <a:ea typeface="Lato"/>
                <a:cs typeface="Lato"/>
                <a:sym typeface="Lato"/>
              </a:rPr>
              <a:t>The mode of a set of data values is the value that </a:t>
            </a:r>
            <a:r>
              <a:rPr lang="en" sz="1800" b="1" dirty="0">
                <a:solidFill>
                  <a:schemeClr val="dk1"/>
                </a:solidFill>
                <a:highlight>
                  <a:srgbClr val="FFFFFF"/>
                </a:highlight>
                <a:latin typeface="Lato"/>
                <a:ea typeface="Lato"/>
                <a:cs typeface="Lato"/>
                <a:sym typeface="Lato"/>
              </a:rPr>
              <a:t>appears most often</a:t>
            </a:r>
            <a:r>
              <a:rPr lang="en" sz="1800" dirty="0">
                <a:solidFill>
                  <a:schemeClr val="dk1"/>
                </a:solidFill>
                <a:highlight>
                  <a:srgbClr val="FFFFFF"/>
                </a:highlight>
                <a:latin typeface="Lato"/>
                <a:ea typeface="Lato"/>
                <a:cs typeface="Lato"/>
                <a:sym typeface="Lato"/>
              </a:rPr>
              <a:t>.</a:t>
            </a:r>
            <a:endParaRPr sz="1800" dirty="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dirty="0">
                <a:solidFill>
                  <a:schemeClr val="dk1"/>
                </a:solidFill>
                <a:highlight>
                  <a:srgbClr val="FFFFFF"/>
                </a:highlight>
                <a:latin typeface="Lato"/>
                <a:ea typeface="Lato"/>
                <a:cs typeface="Lato"/>
                <a:sym typeface="Lato"/>
              </a:rPr>
              <a:t>We can calculate the mean of each attribute using the </a:t>
            </a:r>
            <a:r>
              <a:rPr lang="en-US" sz="1800">
                <a:solidFill>
                  <a:schemeClr val="dk1"/>
                </a:solidFill>
                <a:highlight>
                  <a:srgbClr val="FFFFFF"/>
                </a:highlight>
                <a:latin typeface="Lato"/>
                <a:ea typeface="Lato"/>
                <a:cs typeface="Lato"/>
                <a:sym typeface="Lato"/>
              </a:rPr>
              <a:t>mode</a:t>
            </a:r>
            <a:r>
              <a:rPr lang="en" sz="1800">
                <a:solidFill>
                  <a:schemeClr val="dk1"/>
                </a:solidFill>
                <a:highlight>
                  <a:srgbClr val="FFFFFF"/>
                </a:highlight>
                <a:latin typeface="Lato"/>
                <a:ea typeface="Lato"/>
                <a:cs typeface="Lato"/>
                <a:sym typeface="Lato"/>
              </a:rPr>
              <a:t>()  </a:t>
            </a:r>
            <a:r>
              <a:rPr lang="en" sz="1800" dirty="0">
                <a:solidFill>
                  <a:schemeClr val="dk1"/>
                </a:solidFill>
                <a:highlight>
                  <a:srgbClr val="FFFFFF"/>
                </a:highlight>
                <a:latin typeface="Lato"/>
                <a:ea typeface="Lato"/>
                <a:cs typeface="Lato"/>
                <a:sym typeface="Lato"/>
              </a:rPr>
              <a:t>function on the Pandas DataFrame.</a:t>
            </a:r>
            <a:endParaRPr sz="1150" dirty="0">
              <a:solidFill>
                <a:schemeClr val="dk1"/>
              </a:solidFill>
              <a:highlight>
                <a:srgbClr val="FFFFFF"/>
              </a:highlight>
            </a:endParaRPr>
          </a:p>
        </p:txBody>
      </p:sp>
      <p:pic>
        <p:nvPicPr>
          <p:cNvPr id="149" name="Google Shape;149;p23"/>
          <p:cNvPicPr preferRelativeResize="0"/>
          <p:nvPr/>
        </p:nvPicPr>
        <p:blipFill>
          <a:blip r:embed="rId5">
            <a:alphaModFix/>
          </a:blip>
          <a:stretch>
            <a:fillRect/>
          </a:stretch>
        </p:blipFill>
        <p:spPr>
          <a:xfrm>
            <a:off x="0" y="2940850"/>
            <a:ext cx="7870024" cy="1869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24"/>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55" name="Google Shape;155;p24"/>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56" name="Google Shape;156;p24"/>
          <p:cNvSpPr txBox="1"/>
          <p:nvPr/>
        </p:nvSpPr>
        <p:spPr>
          <a:xfrm>
            <a:off x="160700" y="1762300"/>
            <a:ext cx="7435500" cy="3381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variance( )  function helps to calculate the variance from a sample of data (sample is a subset of populated data).</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variance( )  function should only be used when variance of a sample needs to be calculated.</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variance is the squared deviation of a variable from its mean.</a:t>
            </a:r>
            <a:endParaRPr sz="1800">
              <a:solidFill>
                <a:schemeClr val="dk1"/>
              </a:solidFill>
              <a:highlight>
                <a:srgbClr val="FFFFFF"/>
              </a:highlight>
              <a:latin typeface="Lato"/>
              <a:ea typeface="Lato"/>
              <a:cs typeface="Lato"/>
              <a:sym typeface="Lato"/>
            </a:endParaRPr>
          </a:p>
        </p:txBody>
      </p:sp>
      <p:sp>
        <p:nvSpPr>
          <p:cNvPr id="157" name="Google Shape;157;p24"/>
          <p:cNvSpPr txBox="1"/>
          <p:nvPr/>
        </p:nvSpPr>
        <p:spPr>
          <a:xfrm>
            <a:off x="160700" y="726300"/>
            <a:ext cx="3982800" cy="5952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variance:</a:t>
            </a:r>
            <a:endParaRPr sz="2400" b="1">
              <a:latin typeface="Lato"/>
              <a:ea typeface="Lato"/>
              <a:cs typeface="Lato"/>
              <a:sym typeface="Lato"/>
            </a:endParaRPr>
          </a:p>
        </p:txBody>
      </p:sp>
      <p:pic>
        <p:nvPicPr>
          <p:cNvPr id="158" name="Google Shape;158;p24"/>
          <p:cNvPicPr preferRelativeResize="0"/>
          <p:nvPr/>
        </p:nvPicPr>
        <p:blipFill>
          <a:blip r:embed="rId5">
            <a:alphaModFix/>
          </a:blip>
          <a:stretch>
            <a:fillRect/>
          </a:stretch>
        </p:blipFill>
        <p:spPr>
          <a:xfrm>
            <a:off x="678650" y="3269475"/>
            <a:ext cx="4574375" cy="1874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25"/>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64" name="Google Shape;164;p25"/>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65" name="Google Shape;165;p25"/>
          <p:cNvSpPr txBox="1"/>
          <p:nvPr/>
        </p:nvSpPr>
        <p:spPr>
          <a:xfrm>
            <a:off x="166700" y="714375"/>
            <a:ext cx="3857700" cy="6192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Standard Deviation:</a:t>
            </a:r>
            <a:endParaRPr sz="2400" b="1">
              <a:latin typeface="Lato"/>
              <a:ea typeface="Lato"/>
              <a:cs typeface="Lato"/>
              <a:sym typeface="Lato"/>
            </a:endParaRPr>
          </a:p>
        </p:txBody>
      </p:sp>
      <p:sp>
        <p:nvSpPr>
          <p:cNvPr id="166" name="Google Shape;166;p25"/>
          <p:cNvSpPr txBox="1"/>
          <p:nvPr/>
        </p:nvSpPr>
        <p:spPr>
          <a:xfrm>
            <a:off x="166700" y="1774025"/>
            <a:ext cx="7477200" cy="33696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Standard deviation used to quantify the measure of spread, variation of a set of data values. </a:t>
            </a:r>
            <a:endParaRPr sz="1800">
              <a:solidFill>
                <a:schemeClr val="dk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It is very much similar to variance, gives the measure of deviation whereas variance provides the squared value.</a:t>
            </a:r>
            <a:endParaRPr sz="1800">
              <a:latin typeface="Lato"/>
              <a:ea typeface="Lato"/>
              <a:cs typeface="Lato"/>
              <a:sym typeface="Lato"/>
            </a:endParaRPr>
          </a:p>
        </p:txBody>
      </p:sp>
      <p:pic>
        <p:nvPicPr>
          <p:cNvPr id="167" name="Google Shape;167;p25"/>
          <p:cNvPicPr preferRelativeResize="0"/>
          <p:nvPr/>
        </p:nvPicPr>
        <p:blipFill>
          <a:blip r:embed="rId5">
            <a:alphaModFix/>
          </a:blip>
          <a:stretch>
            <a:fillRect/>
          </a:stretch>
        </p:blipFill>
        <p:spPr>
          <a:xfrm>
            <a:off x="669055" y="3202775"/>
            <a:ext cx="4583995" cy="1940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26"/>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73" name="Google Shape;173;p26"/>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74" name="Google Shape;174;p26"/>
          <p:cNvSpPr txBox="1"/>
          <p:nvPr/>
        </p:nvSpPr>
        <p:spPr>
          <a:xfrm>
            <a:off x="190500" y="1512100"/>
            <a:ext cx="7000800" cy="2059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kurtosis is a statistical measure that is used to describe the distribution</a:t>
            </a:r>
            <a:endParaRPr sz="180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kurtosis measures extreme values in either tail.</a:t>
            </a:r>
            <a:endParaRPr sz="180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rgbClr val="111111"/>
              </a:buClr>
              <a:buSzPts val="1800"/>
              <a:buFont typeface="Lato"/>
              <a:buChar char="●"/>
            </a:pPr>
            <a:r>
              <a:rPr lang="en" sz="1800">
                <a:solidFill>
                  <a:srgbClr val="111111"/>
                </a:solidFill>
                <a:highlight>
                  <a:srgbClr val="FFFFFF"/>
                </a:highlight>
                <a:latin typeface="Lato"/>
                <a:ea typeface="Lato"/>
                <a:cs typeface="Lato"/>
                <a:sym typeface="Lato"/>
              </a:rPr>
              <a:t>Distributions with large kurtosis exhibit tail data exceeding the tails of the normal distribution</a:t>
            </a:r>
            <a:endParaRPr sz="1800">
              <a:solidFill>
                <a:srgbClr val="111111"/>
              </a:solidFill>
              <a:highlight>
                <a:srgbClr val="FFFFFF"/>
              </a:highlight>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Distributions with low kurtosis exhibit tail data that is generally less extreme than the tails of the normal distribution</a:t>
            </a:r>
            <a:endParaRPr sz="1800">
              <a:solidFill>
                <a:schemeClr val="dk1"/>
              </a:solidFill>
              <a:highlight>
                <a:srgbClr val="FFFFFF"/>
              </a:highlight>
              <a:latin typeface="Lato"/>
              <a:ea typeface="Lato"/>
              <a:cs typeface="Lato"/>
              <a:sym typeface="Lato"/>
            </a:endParaRPr>
          </a:p>
          <a:p>
            <a:pPr marL="0" lvl="0" indent="0" algn="l" rtl="0">
              <a:spcBef>
                <a:spcPts val="0"/>
              </a:spcBef>
              <a:spcAft>
                <a:spcPts val="0"/>
              </a:spcAft>
              <a:buClr>
                <a:schemeClr val="dk1"/>
              </a:buClr>
              <a:buSzPts val="1100"/>
              <a:buFont typeface="Arial"/>
              <a:buNone/>
            </a:pPr>
            <a:endParaRPr sz="1200">
              <a:solidFill>
                <a:schemeClr val="dk1"/>
              </a:solidFill>
              <a:highlight>
                <a:srgbClr val="FFFFFF"/>
              </a:highlight>
            </a:endParaRPr>
          </a:p>
          <a:p>
            <a:pPr marL="0" lvl="0" indent="0" algn="l" rtl="0">
              <a:spcBef>
                <a:spcPts val="0"/>
              </a:spcBef>
              <a:spcAft>
                <a:spcPts val="0"/>
              </a:spcAft>
              <a:buNone/>
            </a:pPr>
            <a:endParaRPr sz="1300">
              <a:solidFill>
                <a:srgbClr val="111111"/>
              </a:solidFill>
              <a:highlight>
                <a:srgbClr val="FFFFFF"/>
              </a:highlight>
            </a:endParaRPr>
          </a:p>
        </p:txBody>
      </p:sp>
      <p:sp>
        <p:nvSpPr>
          <p:cNvPr id="175" name="Google Shape;175;p26"/>
          <p:cNvSpPr txBox="1"/>
          <p:nvPr/>
        </p:nvSpPr>
        <p:spPr>
          <a:xfrm>
            <a:off x="95250" y="797725"/>
            <a:ext cx="7310700" cy="7644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Kurtosis:</a:t>
            </a:r>
            <a:endParaRPr sz="2400" b="1">
              <a:latin typeface="Lato"/>
              <a:ea typeface="Lato"/>
              <a:cs typeface="Lato"/>
              <a:sym typeface="Lato"/>
            </a:endParaRPr>
          </a:p>
        </p:txBody>
      </p:sp>
      <p:pic>
        <p:nvPicPr>
          <p:cNvPr id="176" name="Google Shape;176;p26"/>
          <p:cNvPicPr preferRelativeResize="0"/>
          <p:nvPr/>
        </p:nvPicPr>
        <p:blipFill>
          <a:blip r:embed="rId5">
            <a:alphaModFix/>
          </a:blip>
          <a:stretch>
            <a:fillRect/>
          </a:stretch>
        </p:blipFill>
        <p:spPr>
          <a:xfrm>
            <a:off x="721525" y="3571900"/>
            <a:ext cx="3719500" cy="1571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7"/>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82" name="Google Shape;182;p27"/>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83" name="Google Shape;183;p27"/>
          <p:cNvSpPr txBox="1"/>
          <p:nvPr/>
        </p:nvSpPr>
        <p:spPr>
          <a:xfrm>
            <a:off x="261950" y="797725"/>
            <a:ext cx="3202800" cy="6192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Font typeface="Lato"/>
              <a:buChar char="★"/>
            </a:pPr>
            <a:r>
              <a:rPr lang="en" sz="2400" b="1">
                <a:latin typeface="Lato"/>
                <a:ea typeface="Lato"/>
                <a:cs typeface="Lato"/>
                <a:sym typeface="Lato"/>
              </a:rPr>
              <a:t>Maximum:</a:t>
            </a:r>
            <a:endParaRPr sz="2400" b="1">
              <a:latin typeface="Lato"/>
              <a:ea typeface="Lato"/>
              <a:cs typeface="Lato"/>
              <a:sym typeface="Lato"/>
            </a:endParaRPr>
          </a:p>
        </p:txBody>
      </p:sp>
      <p:sp>
        <p:nvSpPr>
          <p:cNvPr id="184" name="Google Shape;184;p27"/>
          <p:cNvSpPr txBox="1"/>
          <p:nvPr/>
        </p:nvSpPr>
        <p:spPr>
          <a:xfrm>
            <a:off x="130975" y="1571625"/>
            <a:ext cx="7500900" cy="3464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We can calculate the maximum value of each attribute using the max()  function on the Pandas DataFrame.</a:t>
            </a:r>
            <a:endParaRPr sz="1150">
              <a:solidFill>
                <a:schemeClr val="dk1"/>
              </a:solidFill>
              <a:highlight>
                <a:srgbClr val="FFFFFF"/>
              </a:highlight>
            </a:endParaRPr>
          </a:p>
          <a:p>
            <a:pPr marL="0" lvl="0" indent="0" algn="l" rtl="0">
              <a:spcBef>
                <a:spcPts val="0"/>
              </a:spcBef>
              <a:spcAft>
                <a:spcPts val="0"/>
              </a:spcAft>
              <a:buNone/>
            </a:pPr>
            <a:endParaRPr/>
          </a:p>
        </p:txBody>
      </p:sp>
      <p:pic>
        <p:nvPicPr>
          <p:cNvPr id="185" name="Google Shape;185;p27"/>
          <p:cNvPicPr preferRelativeResize="0"/>
          <p:nvPr/>
        </p:nvPicPr>
        <p:blipFill>
          <a:blip r:embed="rId5">
            <a:alphaModFix/>
          </a:blip>
          <a:stretch>
            <a:fillRect/>
          </a:stretch>
        </p:blipFill>
        <p:spPr>
          <a:xfrm>
            <a:off x="581025" y="2226475"/>
            <a:ext cx="4764875" cy="2809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28"/>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191" name="Google Shape;191;p28"/>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192" name="Google Shape;192;p28"/>
          <p:cNvSpPr txBox="1"/>
          <p:nvPr/>
        </p:nvSpPr>
        <p:spPr>
          <a:xfrm>
            <a:off x="178600" y="750100"/>
            <a:ext cx="3845700" cy="6192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Minimum:</a:t>
            </a:r>
            <a:endParaRPr sz="2400" b="1"/>
          </a:p>
        </p:txBody>
      </p:sp>
      <p:sp>
        <p:nvSpPr>
          <p:cNvPr id="193" name="Google Shape;193;p28"/>
          <p:cNvSpPr txBox="1"/>
          <p:nvPr/>
        </p:nvSpPr>
        <p:spPr>
          <a:xfrm>
            <a:off x="309575" y="1650700"/>
            <a:ext cx="7322400" cy="3433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 sz="1800">
                <a:solidFill>
                  <a:schemeClr val="dk1"/>
                </a:solidFill>
                <a:highlight>
                  <a:srgbClr val="FFFFFF"/>
                </a:highlight>
                <a:latin typeface="Lato"/>
                <a:ea typeface="Lato"/>
                <a:cs typeface="Lato"/>
                <a:sym typeface="Lato"/>
              </a:rPr>
              <a:t>We can calculate the maximum value of each attribute using the max()  function on the Pandas DataFrame.</a:t>
            </a:r>
            <a:endParaRPr sz="1150">
              <a:solidFill>
                <a:schemeClr val="dk1"/>
              </a:solidFill>
              <a:highlight>
                <a:srgbClr val="FFFFFF"/>
              </a:highlight>
            </a:endParaRPr>
          </a:p>
          <a:p>
            <a:pPr marL="0" lvl="0" indent="0" algn="l" rtl="0">
              <a:spcBef>
                <a:spcPts val="0"/>
              </a:spcBef>
              <a:spcAft>
                <a:spcPts val="0"/>
              </a:spcAft>
              <a:buNone/>
            </a:pPr>
            <a:endParaRPr/>
          </a:p>
        </p:txBody>
      </p:sp>
      <p:pic>
        <p:nvPicPr>
          <p:cNvPr id="194" name="Google Shape;194;p28"/>
          <p:cNvPicPr preferRelativeResize="0"/>
          <p:nvPr/>
        </p:nvPicPr>
        <p:blipFill>
          <a:blip r:embed="rId5">
            <a:alphaModFix/>
          </a:blip>
          <a:stretch>
            <a:fillRect/>
          </a:stretch>
        </p:blipFill>
        <p:spPr>
          <a:xfrm>
            <a:off x="681038" y="2333413"/>
            <a:ext cx="3781425" cy="2809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9"/>
          <p:cNvPicPr preferRelativeResize="0"/>
          <p:nvPr/>
        </p:nvPicPr>
        <p:blipFill>
          <a:blip r:embed="rId3">
            <a:alphaModFix/>
          </a:blip>
          <a:stretch>
            <a:fillRect/>
          </a:stretch>
        </p:blipFill>
        <p:spPr>
          <a:xfrm>
            <a:off x="0" y="0"/>
            <a:ext cx="9143999" cy="5143501"/>
          </a:xfrm>
          <a:prstGeom prst="rect">
            <a:avLst/>
          </a:prstGeom>
          <a:noFill/>
          <a:ln>
            <a:noFill/>
          </a:ln>
        </p:spPr>
      </p:pic>
      <p:pic>
        <p:nvPicPr>
          <p:cNvPr id="200" name="Google Shape;200;p29"/>
          <p:cNvPicPr preferRelativeResize="0"/>
          <p:nvPr/>
        </p:nvPicPr>
        <p:blipFill>
          <a:blip r:embed="rId4">
            <a:alphaModFix/>
          </a:blip>
          <a:stretch>
            <a:fillRect/>
          </a:stretch>
        </p:blipFill>
        <p:spPr>
          <a:xfrm>
            <a:off x="7815750" y="3815050"/>
            <a:ext cx="1328250" cy="1328250"/>
          </a:xfrm>
          <a:prstGeom prst="rect">
            <a:avLst/>
          </a:prstGeom>
          <a:noFill/>
          <a:ln>
            <a:noFill/>
          </a:ln>
        </p:spPr>
      </p:pic>
      <p:sp>
        <p:nvSpPr>
          <p:cNvPr id="201" name="Google Shape;201;p29"/>
          <p:cNvSpPr txBox="1"/>
          <p:nvPr/>
        </p:nvSpPr>
        <p:spPr>
          <a:xfrm>
            <a:off x="1190625" y="1857375"/>
            <a:ext cx="6084000" cy="182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600"/>
              </a:spcBef>
              <a:spcAft>
                <a:spcPts val="0"/>
              </a:spcAft>
              <a:buClr>
                <a:schemeClr val="dk1"/>
              </a:buClr>
              <a:buSzPts val="1100"/>
              <a:buFont typeface="Arial"/>
              <a:buNone/>
            </a:pPr>
            <a:r>
              <a:rPr lang="en" sz="7200">
                <a:solidFill>
                  <a:srgbClr val="727CA3"/>
                </a:solidFill>
              </a:rPr>
              <a:t>Thank you</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709</Words>
  <Application>Microsoft Office PowerPoint</Application>
  <PresentationFormat>On-screen Show (16:9)</PresentationFormat>
  <Paragraphs>61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Lato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Neelima Vobugari</cp:lastModifiedBy>
  <cp:revision>2</cp:revision>
  <dcterms:modified xsi:type="dcterms:W3CDTF">2018-10-05T05:11:29Z</dcterms:modified>
</cp:coreProperties>
</file>
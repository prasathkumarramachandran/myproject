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Default Extension="vml" ContentType="application/vnd.openxmlformats-officedocument.vmlDrawing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0"/>
  </p:notesMasterIdLst>
  <p:sldIdLst>
    <p:sldId id="256" r:id="rId2"/>
    <p:sldId id="467" r:id="rId3"/>
    <p:sldId id="475" r:id="rId4"/>
    <p:sldId id="468" r:id="rId5"/>
    <p:sldId id="469" r:id="rId6"/>
    <p:sldId id="470" r:id="rId7"/>
    <p:sldId id="471" r:id="rId8"/>
    <p:sldId id="472" r:id="rId9"/>
    <p:sldId id="473" r:id="rId10"/>
    <p:sldId id="474" r:id="rId11"/>
    <p:sldId id="476" r:id="rId12"/>
    <p:sldId id="479" r:id="rId13"/>
    <p:sldId id="480" r:id="rId14"/>
    <p:sldId id="485" r:id="rId15"/>
    <p:sldId id="481" r:id="rId16"/>
    <p:sldId id="482" r:id="rId17"/>
    <p:sldId id="483" r:id="rId18"/>
    <p:sldId id="484" r:id="rId19"/>
    <p:sldId id="478" r:id="rId20"/>
    <p:sldId id="477" r:id="rId21"/>
    <p:sldId id="486" r:id="rId22"/>
    <p:sldId id="493" r:id="rId23"/>
    <p:sldId id="487" r:id="rId24"/>
    <p:sldId id="488" r:id="rId25"/>
    <p:sldId id="489" r:id="rId26"/>
    <p:sldId id="490" r:id="rId27"/>
    <p:sldId id="491" r:id="rId28"/>
    <p:sldId id="492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832" autoAdjust="0"/>
    <p:restoredTop sz="94660"/>
  </p:normalViewPr>
  <p:slideViewPr>
    <p:cSldViewPr>
      <p:cViewPr>
        <p:scale>
          <a:sx n="89" d="100"/>
          <a:sy n="89" d="100"/>
        </p:scale>
        <p:origin x="-924" y="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E0E4BE-9EE9-4838-A3C9-B9FE799D8EF7}" type="datetimeFigureOut">
              <a:rPr lang="en-US" smtClean="0"/>
              <a:pPr/>
              <a:t>8/23/2017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21DB1F-39D7-4089-AEB7-5597B07B3C3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1DB1F-39D7-4089-AEB7-5597B07B3C3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633B7C20-779D-4447-BBDC-F5ADF730DFFA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/>
        </p:spPr>
        <p:txBody>
          <a:bodyPr wrap="none" anchor="ctr"/>
          <a:lstStyle/>
          <a:p>
            <a:pPr marL="215900" indent="-214313" eaLnBrk="1">
              <a:spcBef>
                <a:spcPct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</a:pPr>
            <a:endParaRPr lang="en-US" altLang="en-US" sz="2000" smtClean="0">
              <a:latin typeface="Arial" pitchFamily="34" charset="0"/>
              <a:ea typeface="Microsoft YaHei" pitchFamily="34" charset="-122"/>
            </a:endParaRPr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3417654C-C688-40DB-B57B-49990DF6001A}" type="slidenum">
              <a:rPr lang="en-US" altLang="en-US" sz="1900">
                <a:solidFill>
                  <a:srgbClr val="000000"/>
                </a:solidFill>
                <a:latin typeface="Calibri" pitchFamily="34" charset="0"/>
              </a:rPr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</a:pPr>
              <a:t>4</a:t>
            </a:fld>
            <a:endParaRPr lang="en-US" altLang="en-US" sz="1900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318A5620-A22C-42A8-B283-94D4D601BCFC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4403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403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/>
        </p:spPr>
        <p:txBody>
          <a:bodyPr wrap="none" anchor="ctr"/>
          <a:lstStyle/>
          <a:p>
            <a:pPr marL="215900" indent="-214313" eaLnBrk="1">
              <a:spcBef>
                <a:spcPct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</a:pPr>
            <a:endParaRPr lang="en-US" altLang="en-US" sz="2000" smtClean="0">
              <a:latin typeface="Arial" pitchFamily="34" charset="0"/>
              <a:ea typeface="Microsoft YaHei" pitchFamily="34" charset="-122"/>
            </a:endParaRPr>
          </a:p>
        </p:txBody>
      </p:sp>
      <p:sp>
        <p:nvSpPr>
          <p:cNvPr id="44037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683D5F48-C880-4D3F-997F-B3CE19BD6C9B}" type="slidenum">
              <a:rPr lang="en-US" altLang="en-US" sz="1900">
                <a:solidFill>
                  <a:srgbClr val="000000"/>
                </a:solidFill>
                <a:latin typeface="Calibri" pitchFamily="34" charset="0"/>
              </a:rPr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</a:pPr>
              <a:t>5</a:t>
            </a:fld>
            <a:endParaRPr lang="en-US" altLang="en-US" sz="1900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C56B9DB1-7DCF-4A77-8082-72B021BFF3F4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608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608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/>
        </p:spPr>
        <p:txBody>
          <a:bodyPr wrap="none" anchor="ctr"/>
          <a:lstStyle/>
          <a:p>
            <a:pPr marL="215900" indent="-214313" eaLnBrk="1">
              <a:spcBef>
                <a:spcPct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</a:pPr>
            <a:endParaRPr lang="en-US" altLang="en-US" sz="2000" smtClean="0">
              <a:latin typeface="Arial" pitchFamily="34" charset="0"/>
              <a:ea typeface="Microsoft YaHei" pitchFamily="34" charset="-122"/>
            </a:endParaRPr>
          </a:p>
        </p:txBody>
      </p:sp>
      <p:sp>
        <p:nvSpPr>
          <p:cNvPr id="4608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D04E4DFC-0C02-4DF4-BBE4-75D3FA81F69B}" type="slidenum">
              <a:rPr lang="en-US" altLang="en-US" sz="1900">
                <a:solidFill>
                  <a:srgbClr val="000000"/>
                </a:solidFill>
                <a:latin typeface="Calibri" pitchFamily="34" charset="0"/>
              </a:rPr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</a:pPr>
              <a:t>6</a:t>
            </a:fld>
            <a:endParaRPr lang="en-US" altLang="en-US" sz="1900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1D0ABE67-95F7-412D-A9C8-319297C1F8B0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4813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813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/>
        </p:spPr>
        <p:txBody>
          <a:bodyPr wrap="none" anchor="ctr"/>
          <a:lstStyle/>
          <a:p>
            <a:pPr marL="215900" indent="-214313" eaLnBrk="1">
              <a:spcBef>
                <a:spcPct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</a:pPr>
            <a:endParaRPr lang="en-US" altLang="en-US" sz="2000" smtClean="0">
              <a:latin typeface="Arial" pitchFamily="34" charset="0"/>
              <a:ea typeface="Microsoft YaHei" pitchFamily="34" charset="-122"/>
            </a:endParaRPr>
          </a:p>
        </p:txBody>
      </p:sp>
      <p:sp>
        <p:nvSpPr>
          <p:cNvPr id="48133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5282B74E-0151-4A30-8CFC-7F2A51CB810C}" type="slidenum">
              <a:rPr lang="en-US" altLang="en-US" sz="1900">
                <a:solidFill>
                  <a:srgbClr val="000000"/>
                </a:solidFill>
                <a:latin typeface="Calibri" pitchFamily="34" charset="0"/>
              </a:rPr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</a:pPr>
              <a:t>7</a:t>
            </a:fld>
            <a:endParaRPr lang="en-US" altLang="en-US" sz="1900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99178F65-16A9-424D-8F9E-3A26974F8DA2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501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01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/>
        </p:spPr>
        <p:txBody>
          <a:bodyPr wrap="none" anchor="ctr"/>
          <a:lstStyle/>
          <a:p>
            <a:pPr marL="215900" indent="-214313" eaLnBrk="1">
              <a:spcBef>
                <a:spcPct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</a:pPr>
            <a:endParaRPr lang="en-US" altLang="en-US" sz="2000" smtClean="0">
              <a:latin typeface="Arial" pitchFamily="34" charset="0"/>
              <a:ea typeface="Microsoft YaHei" pitchFamily="34" charset="-122"/>
            </a:endParaRPr>
          </a:p>
        </p:txBody>
      </p:sp>
      <p:sp>
        <p:nvSpPr>
          <p:cNvPr id="50181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81C091DF-A106-48E4-821C-89BF5D57173C}" type="slidenum">
              <a:rPr lang="en-US" altLang="en-US" sz="1900">
                <a:solidFill>
                  <a:srgbClr val="000000"/>
                </a:solidFill>
                <a:latin typeface="Calibri" pitchFamily="34" charset="0"/>
              </a:rPr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</a:pPr>
              <a:t>8</a:t>
            </a:fld>
            <a:endParaRPr lang="en-US" altLang="en-US" sz="1900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F62197F9-C786-47BF-A46E-551C66F81455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5222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222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/>
        </p:spPr>
        <p:txBody>
          <a:bodyPr wrap="none" anchor="ctr"/>
          <a:lstStyle/>
          <a:p>
            <a:pPr marL="215900" indent="-214313" eaLnBrk="1">
              <a:spcBef>
                <a:spcPct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</a:pPr>
            <a:endParaRPr lang="en-US" altLang="en-US" sz="2000" smtClean="0">
              <a:latin typeface="Arial" pitchFamily="34" charset="0"/>
              <a:ea typeface="Microsoft YaHei" pitchFamily="34" charset="-122"/>
            </a:endParaRPr>
          </a:p>
        </p:txBody>
      </p:sp>
      <p:sp>
        <p:nvSpPr>
          <p:cNvPr id="5222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A094683E-6239-458B-812D-4C79812A737A}" type="slidenum">
              <a:rPr lang="en-US" altLang="en-US" sz="1900">
                <a:solidFill>
                  <a:srgbClr val="000000"/>
                </a:solidFill>
                <a:latin typeface="Calibri" pitchFamily="34" charset="0"/>
              </a:rPr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</a:pPr>
              <a:t>9</a:t>
            </a:fld>
            <a:endParaRPr lang="en-US" altLang="en-US" sz="1900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020FDAED-7385-489C-8F99-A1D93E7BC5F5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5427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427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/>
        </p:spPr>
        <p:txBody>
          <a:bodyPr wrap="none" anchor="ctr"/>
          <a:lstStyle/>
          <a:p>
            <a:pPr marL="215900" indent="-214313" eaLnBrk="1">
              <a:spcBef>
                <a:spcPct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</a:pPr>
            <a:endParaRPr lang="en-US" altLang="en-US" sz="2000" smtClean="0">
              <a:latin typeface="Arial" pitchFamily="34" charset="0"/>
              <a:ea typeface="Microsoft YaHei" pitchFamily="34" charset="-122"/>
            </a:endParaRPr>
          </a:p>
        </p:txBody>
      </p:sp>
      <p:sp>
        <p:nvSpPr>
          <p:cNvPr id="54277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5000" rIns="90000" bIns="45000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739BD958-DABE-49CF-ABA9-7277B5549F2D}" type="slidenum">
              <a:rPr lang="en-US" altLang="en-US" sz="1900">
                <a:solidFill>
                  <a:srgbClr val="000000"/>
                </a:solidFill>
                <a:latin typeface="Calibri" pitchFamily="34" charset="0"/>
              </a:rPr>
              <a:pPr eaLnBrk="1" hangingPunct="1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</a:pPr>
              <a:t>10</a:t>
            </a:fld>
            <a:endParaRPr lang="en-US" altLang="en-US" sz="1900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B550AA3-480E-4DA2-A3E0-C64189447C82}" type="slidenum">
              <a:rPr lang="en-US" smtClean="0">
                <a:latin typeface="Arial" pitchFamily="34" charset="0"/>
                <a:cs typeface="Arial" pitchFamily="34" charset="0"/>
              </a:rPr>
              <a:pPr/>
              <a:t>22</a:t>
            </a:fld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4DA2397-555D-454B-8AE8-D46AC14AC986}" type="slidenum">
              <a:rPr lang="en-US" smtClean="0">
                <a:latin typeface="Arial" pitchFamily="34" charset="0"/>
                <a:cs typeface="Arial" pitchFamily="34" charset="0"/>
              </a:rPr>
              <a:pPr/>
              <a:t>23</a:t>
            </a:fld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45D19B52-BA40-40B5-8199-FC04F0C30126}" type="datetime1">
              <a:rPr lang="en-US" smtClean="0"/>
              <a:pPr/>
              <a:t>8/23/2017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E41E-A963-49DA-9E72-A344BBF7CB40}" type="datetime1">
              <a:rPr lang="en-US" smtClean="0"/>
              <a:pPr/>
              <a:t>8/23/2017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6CEE21E7-6F94-47C4-843C-30FC7E569DE1}" type="datetime1">
              <a:rPr lang="en-US" smtClean="0"/>
              <a:pPr/>
              <a:t>8/23/2017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95721-497A-4CC9-9F78-4271F1DC21BF}" type="datetime1">
              <a:rPr lang="en-US" smtClean="0"/>
              <a:pPr/>
              <a:t>8/23/2017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DD0E-64BC-4015-9A8B-2CCC86072D1E}" type="datetime1">
              <a:rPr lang="en-US" smtClean="0"/>
              <a:pPr/>
              <a:t>8/23/2017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768D-0D41-4672-96DA-FD6525D76AC5}" type="datetime1">
              <a:rPr lang="en-US" smtClean="0"/>
              <a:pPr/>
              <a:t>8/23/2017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259EE-6319-470F-9606-7FC1B6E6DB17}" type="datetime1">
              <a:rPr lang="en-US" smtClean="0"/>
              <a:pPr/>
              <a:t>8/23/2017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5AB0-55F4-4368-A197-8AD7182F7D74}" type="datetime1">
              <a:rPr lang="en-US" smtClean="0"/>
              <a:pPr/>
              <a:t>8/23/2017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BB1F-64D1-4E48-9A1A-E046AC236922}" type="datetime1">
              <a:rPr lang="en-US" smtClean="0"/>
              <a:pPr/>
              <a:t>8/23/2017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5BF5E-073A-4838-A06E-227B7B25D45E}" type="datetime1">
              <a:rPr lang="en-US" smtClean="0"/>
              <a:pPr/>
              <a:t>8/23/2017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1196E-73A0-47FA-B2BD-D2749BA951EC}" type="datetime1">
              <a:rPr lang="en-US" smtClean="0"/>
              <a:pPr/>
              <a:t>8/23/2017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1"/>
            <a:ext cx="8001000" cy="1216025"/>
          </a:xfrm>
        </p:spPr>
        <p:txBody>
          <a:bodyPr lIns="121917" tIns="60958" rIns="121917" bIns="60958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 lIns="121917" tIns="60958" rIns="121917" bIns="6095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 lIns="121917" tIns="60958" rIns="121917" bIns="6095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 lIns="121917" tIns="60958" rIns="121917" bIns="6095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 lIns="121917" tIns="60958" rIns="121917" bIns="60958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 lIns="121917" tIns="60958" rIns="121917" bIns="60958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 lIns="121917" tIns="60958" rIns="121917" bIns="60958"/>
          <a:lstStyle>
            <a:lvl1pPr>
              <a:defRPr/>
            </a:lvl1pPr>
          </a:lstStyle>
          <a:p>
            <a:pPr>
              <a:defRPr/>
            </a:pPr>
            <a:fld id="{FB8C42F9-7DC1-4A48-A19B-CD214D1D52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0524A89-47B3-493A-883D-7F7367328DC8}" type="datetime1">
              <a:rPr lang="en-US" smtClean="0"/>
              <a:pPr/>
              <a:t>8/23/2017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arahtech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914400"/>
            <a:ext cx="4495800" cy="4944212"/>
          </a:xfrm>
        </p:spPr>
        <p:txBody>
          <a:bodyPr>
            <a:normAutofit fontScale="90000"/>
          </a:bodyPr>
          <a:lstStyle/>
          <a:p>
            <a:r>
              <a:rPr lang="en-US" sz="3100" dirty="0" smtClean="0"/>
              <a:t>AI and Machine Learning : Multi Dimensional Perspectives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Dr </a:t>
            </a:r>
            <a:r>
              <a:rPr lang="en-US" dirty="0" err="1" smtClean="0"/>
              <a:t>Srinivas</a:t>
            </a:r>
            <a:r>
              <a:rPr lang="en-US" dirty="0" smtClean="0"/>
              <a:t> </a:t>
            </a:r>
            <a:r>
              <a:rPr lang="en-US" dirty="0" err="1" smtClean="0"/>
              <a:t>Padmanabhuni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CTO</a:t>
            </a:r>
            <a:br>
              <a:rPr lang="en-US" dirty="0" smtClean="0"/>
            </a:br>
            <a:r>
              <a:rPr lang="en-US" dirty="0" err="1" smtClean="0"/>
              <a:t>Tarah</a:t>
            </a:r>
            <a:r>
              <a:rPr lang="en-US" dirty="0" smtClean="0"/>
              <a:t> Technologies</a:t>
            </a:r>
            <a:br>
              <a:rPr lang="en-US" dirty="0" smtClean="0"/>
            </a:br>
            <a:r>
              <a:rPr lang="en-US" dirty="0" smtClean="0">
                <a:hlinkClick r:id="rId3"/>
              </a:rPr>
              <a:t>http://www.tarahtech.com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600" dirty="0" smtClean="0"/>
              <a:t>http://tarah.ai</a:t>
            </a:r>
            <a:br>
              <a:rPr lang="en-US" sz="3600" dirty="0" smtClean="0"/>
            </a:br>
            <a:r>
              <a:rPr lang="en-US" dirty="0" smtClean="0"/>
              <a:t>Contact: </a:t>
            </a:r>
            <a:r>
              <a:rPr lang="en-US" sz="2800" dirty="0" smtClean="0"/>
              <a:t> srinivas@tarahtech.com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Placeholder 4" descr="logo.jpg"/>
          <p:cNvPicPr>
            <a:picLocks noGrp="1" noChangeAspect="1"/>
          </p:cNvPicPr>
          <p:nvPr>
            <p:ph type="pic" idx="1"/>
          </p:nvPr>
        </p:nvPicPr>
        <p:blipFill>
          <a:blip r:embed="rId4" cstate="print"/>
          <a:srcRect t="7425" b="7425"/>
          <a:stretch>
            <a:fillRect/>
          </a:stretch>
        </p:blipFill>
        <p:spPr>
          <a:xfrm rot="420000">
            <a:off x="5160150" y="1667340"/>
            <a:ext cx="3800811" cy="3236334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32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Data Science Life Cycle and Types of Analytics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14600"/>
            <a:ext cx="8229600" cy="990600"/>
          </a:xfrm>
        </p:spPr>
        <p:txBody>
          <a:bodyPr/>
          <a:lstStyle/>
          <a:p>
            <a:r>
              <a:rPr lang="en-IN" dirty="0" smtClean="0"/>
              <a:t>Data Science Life Cycle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9" name="Line 7"/>
          <p:cNvSpPr>
            <a:spLocks noChangeShapeType="1"/>
          </p:cNvSpPr>
          <p:nvPr/>
        </p:nvSpPr>
        <p:spPr bwMode="auto">
          <a:xfrm>
            <a:off x="-486635" y="1091452"/>
            <a:ext cx="6900529" cy="1375"/>
          </a:xfrm>
          <a:prstGeom prst="line">
            <a:avLst/>
          </a:prstGeom>
          <a:noFill/>
          <a:ln w="25560">
            <a:solidFill>
              <a:srgbClr val="767171"/>
            </a:solidFill>
            <a:miter lim="800000"/>
            <a:headEnd type="oval" w="med" len="med"/>
            <a:tailEnd/>
          </a:ln>
        </p:spPr>
        <p:txBody>
          <a:bodyPr lIns="66504" tIns="33252" rIns="66504" bIns="33252"/>
          <a:lstStyle/>
          <a:p>
            <a:endParaRPr lang="en-IN"/>
          </a:p>
        </p:txBody>
      </p:sp>
      <p:sp>
        <p:nvSpPr>
          <p:cNvPr id="13319" name="TextBox 12">
            <a:extLst>
              <a:ext uri="{FF2B5EF4-FFF2-40B4-BE49-F238E27FC236}">
                <a16:creationId xmlns="" xmlns:a16="http://schemas.microsoft.com/office/drawing/2014/main" id="{D3DC2A06-073B-4604-9B39-23C7E6063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143000"/>
            <a:ext cx="5146786" cy="5477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6504" tIns="33252" rIns="66504" bIns="33252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US" b="1" dirty="0">
                <a:latin typeface="Arial" charset="0"/>
                <a:ea typeface="Microsoft YaHei" charset="-122"/>
              </a:rPr>
              <a:t>CRISP-DM Model(</a:t>
            </a:r>
            <a:r>
              <a:rPr lang="en-GB" dirty="0">
                <a:latin typeface="Calibri" panose="020F0502020204030204" pitchFamily="34" charset="0"/>
                <a:ea typeface="Microsoft YaHei" charset="-122"/>
              </a:rPr>
              <a:t>Cross Industry Standard Process for Data Mining)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dirty="0">
                <a:latin typeface="Calibri" panose="020F0502020204030204" pitchFamily="34" charset="0"/>
                <a:ea typeface="Microsoft YaHei" charset="-122"/>
              </a:rPr>
              <a:t>This model was conceived in late 1996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dirty="0">
                <a:latin typeface="Calibri" panose="020F0502020204030204" pitchFamily="34" charset="0"/>
                <a:ea typeface="Microsoft YaHei" charset="-122"/>
              </a:rPr>
              <a:t>The first two steps of CRISP-DM model are used by Data Scientists to gain knowledge and work with data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Calibri" panose="020F0502020204030204" pitchFamily="34" charset="0"/>
              <a:ea typeface="Microsoft YaHei" charset="-122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dirty="0">
                <a:latin typeface="Calibri" panose="020F0502020204030204" pitchFamily="34" charset="0"/>
                <a:ea typeface="Microsoft YaHei" charset="-122"/>
              </a:rPr>
              <a:t>Different steps are as below: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Calibri" panose="020F0502020204030204" pitchFamily="34" charset="0"/>
              <a:ea typeface="Microsoft YaHei" charset="-122"/>
            </a:endParaRP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dirty="0">
                <a:latin typeface="Calibri" panose="020F0502020204030204" pitchFamily="34" charset="0"/>
                <a:ea typeface="Microsoft YaHei" charset="-122"/>
              </a:rPr>
              <a:t>Business Understanding</a:t>
            </a: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endParaRPr lang="en-US" dirty="0">
              <a:latin typeface="Calibri" panose="020F0502020204030204" pitchFamily="34" charset="0"/>
              <a:ea typeface="Microsoft YaHei" charset="-122"/>
            </a:endParaRP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dirty="0">
                <a:latin typeface="Calibri" panose="020F0502020204030204" pitchFamily="34" charset="0"/>
                <a:ea typeface="Microsoft YaHei" charset="-122"/>
              </a:rPr>
              <a:t>Data Understanding</a:t>
            </a: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endParaRPr lang="en-US" dirty="0">
              <a:latin typeface="Calibri" panose="020F0502020204030204" pitchFamily="34" charset="0"/>
              <a:ea typeface="Microsoft YaHei" charset="-122"/>
            </a:endParaRP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dirty="0">
                <a:latin typeface="Calibri" panose="020F0502020204030204" pitchFamily="34" charset="0"/>
                <a:ea typeface="Microsoft YaHei" charset="-122"/>
              </a:rPr>
              <a:t>Data Preparation</a:t>
            </a: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endParaRPr lang="en-US" dirty="0">
              <a:latin typeface="Calibri" panose="020F0502020204030204" pitchFamily="34" charset="0"/>
              <a:ea typeface="Microsoft YaHei" charset="-122"/>
            </a:endParaRP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dirty="0">
                <a:latin typeface="Calibri" panose="020F0502020204030204" pitchFamily="34" charset="0"/>
                <a:ea typeface="Microsoft YaHei" charset="-122"/>
              </a:rPr>
              <a:t>Modeling</a:t>
            </a: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endParaRPr lang="en-US" dirty="0">
              <a:latin typeface="Calibri" panose="020F0502020204030204" pitchFamily="34" charset="0"/>
              <a:ea typeface="Microsoft YaHei" charset="-122"/>
            </a:endParaRP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dirty="0">
                <a:latin typeface="Calibri" panose="020F0502020204030204" pitchFamily="34" charset="0"/>
                <a:ea typeface="Microsoft YaHei" charset="-122"/>
              </a:rPr>
              <a:t>Evaluation</a:t>
            </a: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endParaRPr lang="en-US" dirty="0">
              <a:latin typeface="Calibri" panose="020F0502020204030204" pitchFamily="34" charset="0"/>
              <a:ea typeface="Microsoft YaHei" charset="-122"/>
            </a:endParaRP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dirty="0">
                <a:latin typeface="Calibri" panose="020F0502020204030204" pitchFamily="34" charset="0"/>
                <a:ea typeface="Microsoft YaHei" charset="-122"/>
              </a:rPr>
              <a:t>Deployment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 dirty="0">
              <a:latin typeface="Arial" charset="0"/>
              <a:ea typeface="Microsoft YaHei" charset="-122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 dirty="0">
              <a:latin typeface="Arial" charset="0"/>
              <a:ea typeface="Microsoft YaHei" charset="-122"/>
            </a:endParaRPr>
          </a:p>
        </p:txBody>
      </p:sp>
      <p:sp>
        <p:nvSpPr>
          <p:cNvPr id="40965" name="Rectangle 8"/>
          <p:cNvSpPr>
            <a:spLocks noChangeArrowheads="1"/>
          </p:cNvSpPr>
          <p:nvPr/>
        </p:nvSpPr>
        <p:spPr bwMode="auto">
          <a:xfrm>
            <a:off x="3124200" y="5791200"/>
            <a:ext cx="5772710" cy="32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6504" tIns="33252" rIns="66504" bIns="33252"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</a:pPr>
            <a:r>
              <a:rPr lang="en-GB" altLang="en-US" dirty="0" smtClean="0">
                <a:latin typeface="Calibri" pitchFamily="34" charset="0"/>
              </a:rPr>
              <a:t>Source: http://www.sv-europe.com/crisp-dm-methodology/</a:t>
            </a:r>
            <a:endParaRPr lang="en-GB" altLang="en-US" dirty="0">
              <a:latin typeface="Calibri" pitchFamily="34" charset="0"/>
            </a:endParaRPr>
          </a:p>
        </p:txBody>
      </p:sp>
      <p:pic>
        <p:nvPicPr>
          <p:cNvPr id="40966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0200" y="2667000"/>
            <a:ext cx="3148695" cy="2668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8" name="Rectangle 10"/>
          <p:cNvSpPr>
            <a:spLocks noChangeArrowheads="1"/>
          </p:cNvSpPr>
          <p:nvPr/>
        </p:nvSpPr>
        <p:spPr bwMode="auto">
          <a:xfrm>
            <a:off x="280434" y="683189"/>
            <a:ext cx="2879602" cy="3202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65457" tIns="32729" rIns="65457" bIns="32729"/>
          <a:lstStyle/>
          <a:p>
            <a:pPr>
              <a:lnSpc>
                <a:spcPct val="90000"/>
              </a:lnSpc>
              <a:buClr>
                <a:srgbClr val="000000"/>
              </a:buClr>
              <a:buSzPct val="100000"/>
              <a:tabLst>
                <a:tab pos="526492" algn="l"/>
                <a:tab pos="1052985" algn="l"/>
              </a:tabLst>
            </a:pPr>
            <a:endParaRPr lang="en-US" altLang="en-US" sz="32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Data Science Life Cycle – CRISP DM Method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9" name="Line 7"/>
          <p:cNvSpPr>
            <a:spLocks noChangeShapeType="1"/>
          </p:cNvSpPr>
          <p:nvPr/>
        </p:nvSpPr>
        <p:spPr bwMode="auto">
          <a:xfrm>
            <a:off x="762000" y="1295400"/>
            <a:ext cx="6900529" cy="1375"/>
          </a:xfrm>
          <a:prstGeom prst="line">
            <a:avLst/>
          </a:prstGeom>
          <a:noFill/>
          <a:ln w="25560">
            <a:solidFill>
              <a:srgbClr val="767171"/>
            </a:solidFill>
            <a:miter lim="800000"/>
            <a:headEnd type="oval" w="med" len="med"/>
            <a:tailEnd/>
          </a:ln>
        </p:spPr>
        <p:txBody>
          <a:bodyPr lIns="66504" tIns="33252" rIns="66504" bIns="33252"/>
          <a:lstStyle/>
          <a:p>
            <a:endParaRPr lang="en-IN"/>
          </a:p>
        </p:txBody>
      </p:sp>
      <p:sp>
        <p:nvSpPr>
          <p:cNvPr id="13319" name="TextBox 12">
            <a:extLst>
              <a:ext uri="{FF2B5EF4-FFF2-40B4-BE49-F238E27FC236}">
                <a16:creationId xmlns="" xmlns:a16="http://schemas.microsoft.com/office/drawing/2014/main" id="{B08B5770-D236-4C3F-8F60-547D452E2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496" y="1780139"/>
            <a:ext cx="5542693" cy="1612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6504" tIns="33252" rIns="66504" bIns="33252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US" b="1" dirty="0">
                <a:latin typeface="Calibri" panose="020F0502020204030204" pitchFamily="34" charset="0"/>
                <a:ea typeface="Microsoft YaHei" charset="-122"/>
              </a:rPr>
              <a:t>The typical Data Science Life Cycle Model have following steps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Calibri" panose="020F0502020204030204" pitchFamily="34" charset="0"/>
              <a:ea typeface="Microsoft YaHei" charset="-122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Calibri" panose="020F0502020204030204" pitchFamily="34" charset="0"/>
              <a:ea typeface="Microsoft YaHei" charset="-122"/>
            </a:endParaRPr>
          </a:p>
          <a:p>
            <a:pPr marL="249391" indent="-24939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AutoNum type="arabicPeriod"/>
              <a:defRPr/>
            </a:pPr>
            <a:endParaRPr lang="en-GB" dirty="0">
              <a:latin typeface="Calibri" panose="020F0502020204030204" pitchFamily="34" charset="0"/>
              <a:ea typeface="Microsoft YaHei" charset="-122"/>
            </a:endParaRPr>
          </a:p>
          <a:p>
            <a:pPr marL="249391" indent="-249391">
              <a:lnSpc>
                <a:spcPct val="93000"/>
              </a:lnSpc>
              <a:buClr>
                <a:srgbClr val="000000"/>
              </a:buClr>
              <a:buSzPct val="100000"/>
              <a:defRPr/>
            </a:pPr>
            <a:endParaRPr lang="en-GB" dirty="0">
              <a:latin typeface="Calibri" panose="020F0502020204030204" pitchFamily="34" charset="0"/>
              <a:ea typeface="Microsoft YaHei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CE326306-597E-4D71-BCD1-5C3CDAA766CE}"/>
              </a:ext>
            </a:extLst>
          </p:cNvPr>
          <p:cNvSpPr txBox="1"/>
          <p:nvPr/>
        </p:nvSpPr>
        <p:spPr>
          <a:xfrm>
            <a:off x="316519" y="2571922"/>
            <a:ext cx="2127998" cy="2643500"/>
          </a:xfrm>
          <a:prstGeom prst="rect">
            <a:avLst/>
          </a:prstGeom>
          <a:noFill/>
        </p:spPr>
        <p:txBody>
          <a:bodyPr lIns="66504" tIns="33252" rIns="66504" bIns="33252">
            <a:spAutoFit/>
          </a:bodyPr>
          <a:lstStyle/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dirty="0">
                <a:latin typeface="Calibri" panose="020F0502020204030204" pitchFamily="34" charset="0"/>
                <a:ea typeface="Microsoft YaHei" charset="-122"/>
              </a:rPr>
              <a:t>Data acquisition</a:t>
            </a: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dirty="0">
                <a:latin typeface="Calibri" panose="020F0502020204030204" pitchFamily="34" charset="0"/>
                <a:ea typeface="Microsoft YaHei" charset="-122"/>
              </a:rPr>
              <a:t>Data Understanding</a:t>
            </a: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dirty="0">
                <a:latin typeface="Calibri" panose="020F0502020204030204" pitchFamily="34" charset="0"/>
                <a:ea typeface="Microsoft YaHei" charset="-122"/>
              </a:rPr>
              <a:t>Data Preparation</a:t>
            </a: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dirty="0">
                <a:latin typeface="Calibri" panose="020F0502020204030204" pitchFamily="34" charset="0"/>
                <a:ea typeface="Microsoft YaHei" charset="-122"/>
              </a:rPr>
              <a:t>Hypothesis and modeling</a:t>
            </a: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dirty="0">
                <a:latin typeface="Calibri" panose="020F0502020204030204" pitchFamily="34" charset="0"/>
                <a:ea typeface="Microsoft YaHei" charset="-122"/>
              </a:rPr>
              <a:t>Evaluation and Interpretation</a:t>
            </a:r>
          </a:p>
          <a:p>
            <a:pPr marL="332522" indent="-332522">
              <a:lnSpc>
                <a:spcPct val="93000"/>
              </a:lnSpc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dirty="0">
                <a:latin typeface="Calibri" panose="020F0502020204030204" pitchFamily="34" charset="0"/>
                <a:ea typeface="Microsoft YaHei" charset="-122"/>
              </a:rPr>
              <a:t>Deployment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 dirty="0">
              <a:latin typeface="Arial" charset="0"/>
              <a:ea typeface="Microsoft YaHei" charset="-122"/>
            </a:endParaRPr>
          </a:p>
        </p:txBody>
      </p:sp>
      <p:pic>
        <p:nvPicPr>
          <p:cNvPr id="4301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3352800"/>
            <a:ext cx="3198183" cy="2100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Data Science Life Cycle – CRISP DM Method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TextBox 10"/>
          <p:cNvSpPr txBox="1">
            <a:spLocks noChangeArrowheads="1"/>
          </p:cNvSpPr>
          <p:nvPr/>
        </p:nvSpPr>
        <p:spPr bwMode="auto">
          <a:xfrm>
            <a:off x="415496" y="1516211"/>
            <a:ext cx="5889111" cy="4189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6504" tIns="33252" rIns="66504" bIns="33252">
            <a:spAutoFit/>
          </a:bodyPr>
          <a:lstStyle/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b="1" dirty="0">
                <a:latin typeface="Helvetica" pitchFamily="34" charset="0"/>
              </a:rPr>
              <a:t>Data acquisition</a:t>
            </a:r>
            <a:r>
              <a:rPr lang="en-US" altLang="en-US" dirty="0">
                <a:latin typeface="Helvetica" pitchFamily="34" charset="0"/>
              </a:rPr>
              <a:t>- 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r>
              <a:rPr lang="en-US" altLang="en-US" dirty="0">
                <a:latin typeface="Helvetica" pitchFamily="34" charset="0"/>
              </a:rPr>
              <a:t>Data acquisition includes collecting information from both inward and outer sources, including online networking or web scratching or an excel sheet that is already collected.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altLang="en-US" dirty="0">
              <a:latin typeface="Helvetica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r>
              <a:rPr lang="en-US" altLang="en-US" dirty="0">
                <a:latin typeface="Helvetica" pitchFamily="34" charset="0"/>
              </a:rPr>
              <a:t> Data Extraction schedules are setup. This schedules are followed by a set of built in procedures, once the system is stable and in operation and is required for rebuilding the model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altLang="en-US" dirty="0">
              <a:latin typeface="Helvetica" pitchFamily="34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altLang="en-US" dirty="0">
              <a:latin typeface="Helvetica" pitchFamily="34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dirty="0">
                <a:latin typeface="Helvetica" pitchFamily="34" charset="0"/>
              </a:rPr>
              <a:t>Example: Reading a </a:t>
            </a:r>
            <a:r>
              <a:rPr lang="en-US" altLang="en-US" dirty="0" err="1">
                <a:latin typeface="Helvetica" pitchFamily="34" charset="0"/>
              </a:rPr>
              <a:t>csv</a:t>
            </a:r>
            <a:r>
              <a:rPr lang="en-US" altLang="en-US" dirty="0">
                <a:latin typeface="Helvetica" pitchFamily="34" charset="0"/>
              </a:rPr>
              <a:t> file in </a:t>
            </a:r>
            <a:r>
              <a:rPr lang="en-US" altLang="en-US" dirty="0" smtClean="0">
                <a:latin typeface="Helvetica" pitchFamily="34" charset="0"/>
              </a:rPr>
              <a:t>python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altLang="en-US" dirty="0">
              <a:latin typeface="Helvetica" pitchFamily="34" charset="0"/>
            </a:endParaRPr>
          </a:p>
          <a:p>
            <a:pPr>
              <a:lnSpc>
                <a:spcPct val="93000"/>
              </a:lnSpc>
              <a:buClr>
                <a:srgbClr val="000000"/>
              </a:buClr>
              <a:buSzPct val="100000"/>
            </a:pPr>
            <a:r>
              <a:rPr lang="en-US" altLang="en-US" dirty="0">
                <a:latin typeface="Helvetica" pitchFamily="34" charset="0"/>
              </a:rPr>
              <a:t> </a:t>
            </a:r>
            <a:r>
              <a:rPr lang="it-IT" altLang="en-US" dirty="0" smtClean="0">
                <a:latin typeface="Helvetica" pitchFamily="34" charset="0"/>
              </a:rPr>
              <a:t>data=pd.read_csv('oj.csv')</a:t>
            </a:r>
            <a:endParaRPr lang="it-IT" altLang="en-US" dirty="0">
              <a:latin typeface="Helvetica" pitchFamily="34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altLang="en-US" dirty="0">
              <a:latin typeface="Helvetica" pitchFamily="34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Data Science Life Cycle – CRISP DM Method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TextBox 12"/>
          <p:cNvSpPr txBox="1">
            <a:spLocks noChangeArrowheads="1"/>
          </p:cNvSpPr>
          <p:nvPr/>
        </p:nvSpPr>
        <p:spPr bwMode="auto">
          <a:xfrm>
            <a:off x="415496" y="1780139"/>
            <a:ext cx="5542693" cy="32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6504" tIns="33252" rIns="66504" bIns="33252">
            <a:spAutoFit/>
          </a:bodyPr>
          <a:lstStyle/>
          <a:p>
            <a:pPr marL="249391" indent="-249391">
              <a:lnSpc>
                <a:spcPct val="93000"/>
              </a:lnSpc>
              <a:buClr>
                <a:srgbClr val="000000"/>
              </a:buClr>
              <a:buSzPct val="100000"/>
            </a:pPr>
            <a:endParaRPr lang="en-US" altLang="en-US" dirty="0">
              <a:latin typeface="Calibri" pitchFamily="34" charset="0"/>
            </a:endParaRPr>
          </a:p>
        </p:txBody>
      </p:sp>
      <p:sp>
        <p:nvSpPr>
          <p:cNvPr id="47109" name="TextBox 10"/>
          <p:cNvSpPr txBox="1">
            <a:spLocks noChangeArrowheads="1"/>
          </p:cNvSpPr>
          <p:nvPr/>
        </p:nvSpPr>
        <p:spPr bwMode="auto">
          <a:xfrm>
            <a:off x="267031" y="1450229"/>
            <a:ext cx="5839623" cy="4446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6504" tIns="33252" rIns="66504" bIns="33252">
            <a:spAutoFit/>
          </a:bodyPr>
          <a:lstStyle/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b="1" dirty="0">
                <a:latin typeface="Helvetica" pitchFamily="34" charset="0"/>
              </a:rPr>
              <a:t>Data</a:t>
            </a:r>
            <a:r>
              <a:rPr lang="en-US" altLang="en-US" b="1" dirty="0">
                <a:latin typeface="Calibri" pitchFamily="34" charset="0"/>
              </a:rPr>
              <a:t> </a:t>
            </a:r>
            <a:r>
              <a:rPr lang="en-US" altLang="en-US" b="1" dirty="0">
                <a:latin typeface="Helvetica" pitchFamily="34" charset="0"/>
              </a:rPr>
              <a:t>preparation-</a:t>
            </a:r>
            <a:r>
              <a:rPr lang="en-US" altLang="en-US" b="1" dirty="0">
                <a:latin typeface="Calibri" pitchFamily="34" charset="0"/>
              </a:rPr>
              <a:t> 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r>
              <a:rPr lang="en-US" altLang="en-US" dirty="0">
                <a:latin typeface="Helvetica" pitchFamily="34" charset="0"/>
              </a:rPr>
              <a:t>Usually referred to as "information wrangling</a:t>
            </a:r>
            <a:r>
              <a:rPr lang="en-US" altLang="en-US" dirty="0" smtClean="0">
                <a:latin typeface="Helvetica" pitchFamily="34" charset="0"/>
              </a:rPr>
              <a:t>“.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endParaRPr lang="en-US" altLang="en-US" dirty="0">
              <a:latin typeface="Helvetica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r>
              <a:rPr lang="en-US" altLang="en-US" dirty="0">
                <a:latin typeface="Helvetica" pitchFamily="34" charset="0"/>
              </a:rPr>
              <a:t> This steps involves cleaning the data and reshaping it in the required format</a:t>
            </a:r>
            <a:r>
              <a:rPr lang="en-US" altLang="en-US" dirty="0" smtClean="0">
                <a:latin typeface="Helvetica" pitchFamily="34" charset="0"/>
              </a:rPr>
              <a:t>.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endParaRPr lang="en-US" altLang="en-US" dirty="0">
              <a:latin typeface="Helvetica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r>
              <a:rPr lang="en-US" altLang="en-US" dirty="0">
                <a:latin typeface="Helvetica" pitchFamily="34" charset="0"/>
              </a:rPr>
              <a:t> It may also involve creating a new attribute as a combination of two or more dependent attributes to fasten the process</a:t>
            </a:r>
            <a:r>
              <a:rPr lang="en-US" altLang="en-US" dirty="0" smtClean="0">
                <a:latin typeface="Helvetica" pitchFamily="34" charset="0"/>
              </a:rPr>
              <a:t>.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endParaRPr lang="en-US" altLang="en-US" dirty="0" smtClean="0">
              <a:latin typeface="Helvetica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r>
              <a:rPr lang="en-US" altLang="en-US" dirty="0" smtClean="0">
                <a:latin typeface="Helvetica" pitchFamily="34" charset="0"/>
              </a:rPr>
              <a:t>It may involve imputation – replacing null values</a:t>
            </a:r>
            <a:endParaRPr lang="en-US" altLang="en-US" dirty="0">
              <a:latin typeface="Helvetica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endParaRPr lang="en-US" altLang="en-US" dirty="0">
              <a:latin typeface="Helvetica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r>
              <a:rPr lang="en-US" altLang="en-US" dirty="0" err="1">
                <a:latin typeface="Helvetica" pitchFamily="34" charset="0"/>
              </a:rPr>
              <a:t>Eample</a:t>
            </a:r>
            <a:r>
              <a:rPr lang="en-US" altLang="en-US" dirty="0">
                <a:latin typeface="Helvetica" pitchFamily="34" charset="0"/>
              </a:rPr>
              <a:t>: data elimination, data </a:t>
            </a:r>
            <a:r>
              <a:rPr lang="en-US" altLang="en-US" dirty="0" smtClean="0">
                <a:latin typeface="Helvetica" pitchFamily="34" charset="0"/>
              </a:rPr>
              <a:t>imputation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</a:pPr>
            <a:endParaRPr lang="en-US" altLang="en-US" dirty="0">
              <a:latin typeface="Helvetica" pitchFamily="34" charset="0"/>
            </a:endParaRPr>
          </a:p>
          <a:p>
            <a:pPr algn="just">
              <a:lnSpc>
                <a:spcPct val="93000"/>
              </a:lnSpc>
              <a:buClr>
                <a:srgbClr val="000000"/>
              </a:buClr>
              <a:buSzPct val="100000"/>
            </a:pPr>
            <a:r>
              <a:rPr lang="en-US" altLang="en-US" dirty="0" err="1" smtClean="0">
                <a:latin typeface="Helvetica" pitchFamily="34" charset="0"/>
              </a:rPr>
              <a:t>i</a:t>
            </a:r>
            <a:r>
              <a:rPr lang="en-US" altLang="en-US" dirty="0" smtClean="0">
                <a:latin typeface="Helvetica" pitchFamily="34" charset="0"/>
              </a:rPr>
              <a:t>=</a:t>
            </a:r>
            <a:r>
              <a:rPr lang="en-US" altLang="en-US" dirty="0" err="1" smtClean="0">
                <a:latin typeface="Helvetica" pitchFamily="34" charset="0"/>
              </a:rPr>
              <a:t>df.fillna</a:t>
            </a:r>
            <a:r>
              <a:rPr lang="en-US" altLang="en-US" dirty="0" smtClean="0">
                <a:latin typeface="Helvetica" pitchFamily="34" charset="0"/>
              </a:rPr>
              <a:t>(</a:t>
            </a:r>
            <a:r>
              <a:rPr lang="en-US" altLang="en-US" dirty="0" err="1" smtClean="0">
                <a:latin typeface="Helvetica" pitchFamily="34" charset="0"/>
              </a:rPr>
              <a:t>df.mean</a:t>
            </a:r>
            <a:r>
              <a:rPr lang="en-US" altLang="en-US" dirty="0" smtClean="0">
                <a:latin typeface="Helvetica" pitchFamily="34" charset="0"/>
              </a:rPr>
              <a:t>(), </a:t>
            </a:r>
            <a:r>
              <a:rPr lang="en-US" altLang="en-US" dirty="0" err="1" smtClean="0">
                <a:latin typeface="Helvetica" pitchFamily="34" charset="0"/>
              </a:rPr>
              <a:t>inplace</a:t>
            </a:r>
            <a:r>
              <a:rPr lang="en-US" altLang="en-US" dirty="0" smtClean="0">
                <a:latin typeface="Helvetica" pitchFamily="34" charset="0"/>
              </a:rPr>
              <a:t>=True)</a:t>
            </a:r>
            <a:endParaRPr lang="en-US" altLang="en-US" dirty="0">
              <a:latin typeface="Calibri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altLang="en-US" dirty="0">
              <a:latin typeface="Calibri" pitchFamily="34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altLang="en-US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Data Science Life Cycle – CRISP DM Method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9" name="TextBox 12"/>
          <p:cNvSpPr txBox="1">
            <a:spLocks noChangeArrowheads="1"/>
          </p:cNvSpPr>
          <p:nvPr/>
        </p:nvSpPr>
        <p:spPr bwMode="auto">
          <a:xfrm>
            <a:off x="415496" y="1780139"/>
            <a:ext cx="5542693" cy="32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6504" tIns="33252" rIns="66504" bIns="33252">
            <a:spAutoFit/>
          </a:bodyPr>
          <a:lstStyle/>
          <a:p>
            <a:pPr marL="249391" indent="-249391">
              <a:lnSpc>
                <a:spcPct val="93000"/>
              </a:lnSpc>
              <a:buClr>
                <a:srgbClr val="000000"/>
              </a:buClr>
              <a:buSzPct val="100000"/>
            </a:pPr>
            <a:endParaRPr lang="en-US" altLang="en-US" dirty="0">
              <a:latin typeface="Calibri" pitchFamily="34" charset="0"/>
            </a:endParaRPr>
          </a:p>
        </p:txBody>
      </p:sp>
      <p:sp>
        <p:nvSpPr>
          <p:cNvPr id="49160" name="TextBox 10"/>
          <p:cNvSpPr txBox="1">
            <a:spLocks noChangeArrowheads="1"/>
          </p:cNvSpPr>
          <p:nvPr/>
        </p:nvSpPr>
        <p:spPr bwMode="auto">
          <a:xfrm>
            <a:off x="267031" y="1450228"/>
            <a:ext cx="6514770" cy="4704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6504" tIns="33252" rIns="66504" bIns="33252">
            <a:spAutoFit/>
          </a:bodyPr>
          <a:lstStyle/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b="1" dirty="0">
                <a:latin typeface="Helvetica" pitchFamily="34" charset="0"/>
              </a:rPr>
              <a:t>Hypothesis and modeling are the traditional data mining steps 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altLang="en-US" b="1" dirty="0">
              <a:latin typeface="Helvetica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r>
              <a:rPr lang="en-US" altLang="en-US" dirty="0" smtClean="0">
                <a:latin typeface="Helvetica" pitchFamily="34" charset="0"/>
              </a:rPr>
              <a:t>Model choice and algorithm choice for the target model to be deployed finally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endParaRPr lang="en-US" altLang="en-US" dirty="0">
              <a:latin typeface="Helvetica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r>
              <a:rPr lang="en-US" altLang="en-US" dirty="0">
                <a:latin typeface="Helvetica" pitchFamily="34" charset="0"/>
              </a:rPr>
              <a:t>This includes splitting the dataset into train and test data sets for creating the models and cross-validating the results. Also for gauging the </a:t>
            </a:r>
            <a:r>
              <a:rPr lang="en-US" altLang="en-US" dirty="0" smtClean="0">
                <a:latin typeface="Helvetica" pitchFamily="34" charset="0"/>
              </a:rPr>
              <a:t>mode whether supervised or unsupervised learning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endParaRPr lang="en-US" altLang="en-US" dirty="0">
              <a:latin typeface="Helvetica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r>
              <a:rPr lang="en-US" altLang="en-US" dirty="0">
                <a:latin typeface="Helvetica" pitchFamily="34" charset="0"/>
              </a:rPr>
              <a:t>The process till now will be repeated multiple number of </a:t>
            </a:r>
            <a:r>
              <a:rPr lang="en-US" altLang="en-US" dirty="0" smtClean="0">
                <a:latin typeface="Helvetica" pitchFamily="34" charset="0"/>
              </a:rPr>
              <a:t>times with different algorithms </a:t>
            </a:r>
            <a:r>
              <a:rPr lang="en-US" altLang="en-US" dirty="0">
                <a:latin typeface="Helvetica" pitchFamily="34" charset="0"/>
              </a:rPr>
              <a:t>until </a:t>
            </a:r>
            <a:r>
              <a:rPr lang="en-US" altLang="en-US" dirty="0" smtClean="0">
                <a:latin typeface="Helvetica" pitchFamily="34" charset="0"/>
              </a:rPr>
              <a:t>we get a high accuracy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endParaRPr lang="en-US" altLang="en-US" dirty="0" smtClean="0">
              <a:latin typeface="Helvetica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r>
              <a:rPr lang="en-US" altLang="en-US" dirty="0" smtClean="0">
                <a:latin typeface="Helvetica" pitchFamily="34" charset="0"/>
              </a:rPr>
              <a:t>Once reasonable accuracy is obtained the corresponding algorithm and model is </a:t>
            </a:r>
            <a:r>
              <a:rPr lang="en-US" altLang="en-US" dirty="0" err="1" smtClean="0">
                <a:latin typeface="Helvetica" pitchFamily="34" charset="0"/>
              </a:rPr>
              <a:t>baselined</a:t>
            </a:r>
            <a:r>
              <a:rPr lang="en-US" altLang="en-US" dirty="0" smtClean="0">
                <a:latin typeface="Helvetica" pitchFamily="34" charset="0"/>
              </a:rPr>
              <a:t> for deployment</a:t>
            </a:r>
            <a:endParaRPr lang="en-US" altLang="en-US" dirty="0">
              <a:latin typeface="Helvetica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altLang="en-US" dirty="0">
              <a:latin typeface="Calibri" pitchFamily="34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alt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Data Science Life Cycle – CRISP DM Method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7" name="TextBox 10"/>
          <p:cNvSpPr txBox="1">
            <a:spLocks noChangeArrowheads="1"/>
          </p:cNvSpPr>
          <p:nvPr/>
        </p:nvSpPr>
        <p:spPr bwMode="auto">
          <a:xfrm>
            <a:off x="326829" y="1582192"/>
            <a:ext cx="5394228" cy="3416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6504" tIns="33252" rIns="66504" bIns="33252">
            <a:spAutoFit/>
          </a:bodyPr>
          <a:lstStyle/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b="1" dirty="0">
                <a:latin typeface="Calibri" pitchFamily="34" charset="0"/>
              </a:rPr>
              <a:t>Deployment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dirty="0">
                <a:latin typeface="Calibri" pitchFamily="34" charset="0"/>
              </a:rPr>
              <a:t>Deployment is performed in a pre-creation or "restricted"/"pilot" environment before the genuine full-scale </a:t>
            </a:r>
            <a:r>
              <a:rPr lang="en-US" altLang="en-US" dirty="0" smtClean="0">
                <a:latin typeface="Calibri" pitchFamily="34" charset="0"/>
              </a:rPr>
              <a:t>deployment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altLang="en-US" dirty="0">
              <a:latin typeface="Calibri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b="1" dirty="0" smtClean="0">
                <a:latin typeface="Calibri" pitchFamily="34" charset="0"/>
              </a:rPr>
              <a:t>Operations</a:t>
            </a:r>
            <a:endParaRPr lang="en-US" altLang="en-US" b="1" dirty="0">
              <a:latin typeface="Calibri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r>
              <a:rPr lang="en-US" altLang="en-US" dirty="0">
                <a:latin typeface="Calibri" pitchFamily="34" charset="0"/>
              </a:rPr>
              <a:t>This operations stage </a:t>
            </a:r>
            <a:r>
              <a:rPr lang="en-US" altLang="en-US" dirty="0" smtClean="0">
                <a:latin typeface="Calibri" pitchFamily="34" charset="0"/>
              </a:rPr>
              <a:t>would help in ensuring </a:t>
            </a:r>
            <a:r>
              <a:rPr lang="en-US" altLang="en-US" dirty="0" err="1" smtClean="0">
                <a:latin typeface="Calibri" pitchFamily="34" charset="0"/>
              </a:rPr>
              <a:t>DevOps</a:t>
            </a:r>
            <a:r>
              <a:rPr lang="en-US" altLang="en-US" dirty="0" smtClean="0">
                <a:latin typeface="Calibri" pitchFamily="34" charset="0"/>
              </a:rPr>
              <a:t> for deployment of the learned model for predictive analytics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r>
              <a:rPr lang="en-US" altLang="en-US" dirty="0" smtClean="0">
                <a:latin typeface="Calibri" pitchFamily="34" charset="0"/>
              </a:rPr>
              <a:t>It can trigger regeneration of model if due to concept drift model </a:t>
            </a:r>
            <a:r>
              <a:rPr lang="en-US" altLang="en-US" dirty="0">
                <a:latin typeface="Calibri" pitchFamily="34" charset="0"/>
              </a:rPr>
              <a:t>execution degrades beyond a certain acceptable threshold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alt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Data Science Life Cycle – CRISP DM Method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5" name="TextBox 12"/>
          <p:cNvSpPr txBox="1">
            <a:spLocks noChangeArrowheads="1"/>
          </p:cNvSpPr>
          <p:nvPr/>
        </p:nvSpPr>
        <p:spPr bwMode="auto">
          <a:xfrm>
            <a:off x="415496" y="1780139"/>
            <a:ext cx="5542693" cy="32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6504" tIns="33252" rIns="66504" bIns="33252">
            <a:spAutoFit/>
          </a:bodyPr>
          <a:lstStyle/>
          <a:p>
            <a:pPr marL="249391" indent="-249391">
              <a:lnSpc>
                <a:spcPct val="93000"/>
              </a:lnSpc>
              <a:buClr>
                <a:srgbClr val="000000"/>
              </a:buClr>
              <a:buSzPct val="100000"/>
            </a:pPr>
            <a:endParaRPr lang="en-US" altLang="en-US" dirty="0">
              <a:latin typeface="Calibri" pitchFamily="34" charset="0"/>
            </a:endParaRPr>
          </a:p>
        </p:txBody>
      </p:sp>
      <p:sp>
        <p:nvSpPr>
          <p:cNvPr id="53256" name="TextBox 10"/>
          <p:cNvSpPr txBox="1">
            <a:spLocks noChangeArrowheads="1"/>
          </p:cNvSpPr>
          <p:nvPr/>
        </p:nvSpPr>
        <p:spPr bwMode="auto">
          <a:xfrm>
            <a:off x="267031" y="1424111"/>
            <a:ext cx="5592181" cy="367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6504" tIns="33252" rIns="66504" bIns="33252">
            <a:spAutoFit/>
          </a:bodyPr>
          <a:lstStyle/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b="1" dirty="0">
                <a:latin typeface="Calibri" pitchFamily="34" charset="0"/>
              </a:rPr>
              <a:t>Optimization 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r>
              <a:rPr lang="en-US" altLang="en-US" dirty="0">
                <a:latin typeface="Calibri" pitchFamily="34" charset="0"/>
              </a:rPr>
              <a:t>The last stage in the Data Science Life Cycle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endParaRPr lang="en-US" altLang="en-US" dirty="0">
              <a:latin typeface="Calibri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r>
              <a:rPr lang="en-US" altLang="en-US" dirty="0" smtClean="0">
                <a:latin typeface="Calibri" pitchFamily="34" charset="0"/>
              </a:rPr>
              <a:t>In terms of optimization the deployed model is checked for accuracy after deployment and observed for concept drift or drastic decrease in accuracy levels </a:t>
            </a:r>
            <a:endParaRPr lang="en-US" altLang="en-US" dirty="0">
              <a:latin typeface="Calibri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endParaRPr lang="en-US" altLang="en-US" dirty="0">
              <a:latin typeface="Calibri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r>
              <a:rPr lang="en-US" altLang="en-US" dirty="0" smtClean="0">
                <a:latin typeface="Calibri" pitchFamily="34" charset="0"/>
              </a:rPr>
              <a:t>Once we find a drastic accumulation of new data after deployment of the model, it is another cause for recalibration of the model</a:t>
            </a: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endParaRPr lang="en-US" altLang="en-US" dirty="0" smtClean="0">
              <a:latin typeface="Calibri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r>
              <a:rPr lang="en-US" altLang="en-US" dirty="0" smtClean="0">
                <a:latin typeface="Calibri" pitchFamily="34" charset="0"/>
              </a:rPr>
              <a:t>So model may need retraining and regeneration</a:t>
            </a:r>
            <a:endParaRPr lang="en-US" altLang="en-US" dirty="0">
              <a:latin typeface="Calibri" pitchFamily="34" charset="0"/>
            </a:endParaRPr>
          </a:p>
          <a:p>
            <a:pPr algn="just" eaLnBrk="1">
              <a:lnSpc>
                <a:spcPct val="93000"/>
              </a:lnSpc>
              <a:buClr>
                <a:srgbClr val="000000"/>
              </a:buClr>
              <a:buSzPct val="100000"/>
              <a:buFont typeface="Wingdings" pitchFamily="2" charset="2"/>
              <a:buChar char="v"/>
            </a:pPr>
            <a:endParaRPr lang="en-US" altLang="en-US" dirty="0">
              <a:latin typeface="Calibri" pitchFamily="34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alt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Data Science Life Cycle – CRISP DM Method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14600"/>
            <a:ext cx="8229600" cy="990600"/>
          </a:xfrm>
        </p:spPr>
        <p:txBody>
          <a:bodyPr/>
          <a:lstStyle/>
          <a:p>
            <a:r>
              <a:rPr lang="en-IN" dirty="0" smtClean="0"/>
              <a:t>Types of Analytics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Five Kinds of Analytics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Descriptive</a:t>
            </a:r>
          </a:p>
          <a:p>
            <a:endParaRPr lang="en-IN" dirty="0" smtClean="0"/>
          </a:p>
          <a:p>
            <a:r>
              <a:rPr lang="en-IN" dirty="0" smtClean="0"/>
              <a:t>Inferential</a:t>
            </a:r>
          </a:p>
          <a:p>
            <a:endParaRPr lang="en-IN" dirty="0" smtClean="0"/>
          </a:p>
          <a:p>
            <a:r>
              <a:rPr lang="en-IN" dirty="0" smtClean="0"/>
              <a:t>Exploratory</a:t>
            </a:r>
          </a:p>
          <a:p>
            <a:endParaRPr lang="en-IN" dirty="0" smtClean="0"/>
          </a:p>
          <a:p>
            <a:r>
              <a:rPr lang="en-IN" dirty="0" smtClean="0"/>
              <a:t>Predictive</a:t>
            </a:r>
          </a:p>
          <a:p>
            <a:endParaRPr lang="en-IN" dirty="0" smtClean="0"/>
          </a:p>
          <a:p>
            <a:r>
              <a:rPr lang="en-IN" dirty="0" smtClean="0"/>
              <a:t>Prescriptive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Descriptive Analytics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First level analysis of data</a:t>
            </a:r>
          </a:p>
          <a:p>
            <a:r>
              <a:rPr lang="en-IN" dirty="0" smtClean="0"/>
              <a:t>Typically has measures of central tendency</a:t>
            </a:r>
          </a:p>
          <a:p>
            <a:pPr lvl="1"/>
            <a:r>
              <a:rPr lang="en-IN" dirty="0" smtClean="0"/>
              <a:t>Mean</a:t>
            </a:r>
          </a:p>
          <a:p>
            <a:pPr lvl="1"/>
            <a:r>
              <a:rPr lang="en-IN" dirty="0" smtClean="0"/>
              <a:t>Median</a:t>
            </a:r>
          </a:p>
          <a:p>
            <a:pPr lvl="1"/>
            <a:r>
              <a:rPr lang="en-IN" dirty="0" smtClean="0"/>
              <a:t>Mode</a:t>
            </a:r>
          </a:p>
          <a:p>
            <a:r>
              <a:rPr lang="en-IN" dirty="0" smtClean="0"/>
              <a:t>Additionally has measures of dispersion</a:t>
            </a:r>
          </a:p>
          <a:p>
            <a:pPr lvl="1"/>
            <a:r>
              <a:rPr lang="en-IN" dirty="0" smtClean="0"/>
              <a:t>Variance</a:t>
            </a:r>
          </a:p>
          <a:p>
            <a:pPr lvl="1"/>
            <a:r>
              <a:rPr lang="en-IN" dirty="0" smtClean="0"/>
              <a:t>Standard Deviation</a:t>
            </a:r>
          </a:p>
          <a:p>
            <a:r>
              <a:rPr lang="en-IN" dirty="0" smtClean="0"/>
              <a:t>For any data descriptive analytics provides the first level understanding of data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 err="1" smtClean="0">
                <a:latin typeface="Calibri" panose="020F0502020204030204" pitchFamily="34" charset="0"/>
              </a:rPr>
              <a:t>Univariate</a:t>
            </a:r>
            <a:r>
              <a:rPr lang="en-US" sz="2000" dirty="0" smtClean="0">
                <a:latin typeface="Calibri" panose="020F0502020204030204" pitchFamily="34" charset="0"/>
              </a:rPr>
              <a:t> and </a:t>
            </a:r>
            <a:r>
              <a:rPr lang="en-US" sz="2000" dirty="0" err="1" smtClean="0">
                <a:latin typeface="Calibri" panose="020F0502020204030204" pitchFamily="34" charset="0"/>
              </a:rPr>
              <a:t>Bivariate</a:t>
            </a:r>
            <a:r>
              <a:rPr lang="en-US" sz="2000" dirty="0" smtClean="0">
                <a:latin typeface="Calibri" panose="020F0502020204030204" pitchFamily="34" charset="0"/>
              </a:rPr>
              <a:t> are two sorts of measurable sets of metrics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Calibri" panose="020F0502020204030204" pitchFamily="34" charset="0"/>
              </a:rPr>
              <a:t>Ex: The Average marks secured by 100 students in a cluster. The other measures like sum, median, mean etc. are used in Descriptive Data Analysis to understand the properties of Data</a:t>
            </a:r>
          </a:p>
          <a:p>
            <a:endParaRPr lang="en-IN" dirty="0" smtClean="0"/>
          </a:p>
          <a:p>
            <a:endParaRPr lang="en-IN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590800"/>
            <a:ext cx="8229600" cy="990600"/>
          </a:xfrm>
        </p:spPr>
        <p:txBody>
          <a:bodyPr/>
          <a:lstStyle/>
          <a:p>
            <a:r>
              <a:rPr lang="en-IN" dirty="0" smtClean="0"/>
              <a:t>Code for Descriptive Analytics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Inferential Analytics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Usually need not work with entire input population </a:t>
            </a:r>
          </a:p>
          <a:p>
            <a:r>
              <a:rPr lang="en-US" sz="2800" dirty="0" smtClean="0">
                <a:latin typeface="Calibri" panose="020F0502020204030204" pitchFamily="34" charset="0"/>
              </a:rPr>
              <a:t>Inferential Data Analysis is used to estimate the properties of the data based on the summary of properties of Data obtained in Descriptive Data Analysis. </a:t>
            </a:r>
          </a:p>
          <a:p>
            <a:r>
              <a:rPr lang="en-IN" dirty="0" smtClean="0"/>
              <a:t>Can work with a smaller sample to get statistical idea</a:t>
            </a:r>
          </a:p>
          <a:p>
            <a:r>
              <a:rPr lang="en-IN" dirty="0" smtClean="0"/>
              <a:t>Sometimes sampling needs to get an idea of the overall distribution of the data</a:t>
            </a:r>
          </a:p>
          <a:p>
            <a:r>
              <a:rPr lang="en-IN" dirty="0" smtClean="0"/>
              <a:t>Inferential Analytics can be used to estimate parameters and test statistical hypothesis</a:t>
            </a:r>
          </a:p>
          <a:p>
            <a:r>
              <a:rPr lang="en-US" sz="2800" dirty="0" smtClean="0">
                <a:latin typeface="Calibri" panose="020F0502020204030204" pitchFamily="34" charset="0"/>
              </a:rPr>
              <a:t>In a scenario, where we do not have access to the complete population, but only a limited number of data, we use Inferential Data Analysis.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Exploratory Data Analysis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Discovering patterns and associations in the data via external examination without serious mining</a:t>
            </a:r>
          </a:p>
          <a:p>
            <a:r>
              <a:rPr lang="en-IN" dirty="0" smtClean="0"/>
              <a:t>Typically used to find similar data or clusters of data</a:t>
            </a:r>
          </a:p>
          <a:p>
            <a:r>
              <a:rPr lang="en-IN" dirty="0" smtClean="0"/>
              <a:t>Also used to find associations between different data items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600" dirty="0" smtClean="0">
                <a:solidFill>
                  <a:schemeClr val="tx1"/>
                </a:solidFill>
              </a:rPr>
              <a:t>Exploratory examinations are normally not the authoritative response to the analytics needed but give a rough idea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600" dirty="0" smtClean="0">
                <a:solidFill>
                  <a:schemeClr val="tx1"/>
                </a:solidFill>
              </a:rPr>
              <a:t>Example is </a:t>
            </a:r>
            <a:r>
              <a:rPr lang="en-US" sz="2800" dirty="0" smtClean="0">
                <a:latin typeface="Calibri" panose="020F0502020204030204" pitchFamily="34" charset="0"/>
              </a:rPr>
              <a:t>Market Segmentation which  is a type of Exploratory Data Analysis </a:t>
            </a:r>
            <a:endParaRPr lang="en-US" sz="2600" dirty="0" smtClean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Predictive Analytics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 smtClean="0">
                <a:latin typeface="Calibri" panose="020F0502020204030204" pitchFamily="34" charset="0"/>
              </a:rPr>
              <a:t>The different sorts of techniques that investigate present and past data to make predictions about future occasions</a:t>
            </a:r>
          </a:p>
          <a:p>
            <a:r>
              <a:rPr lang="en-US" sz="2800" dirty="0" smtClean="0">
                <a:latin typeface="Calibri" panose="020F0502020204030204" pitchFamily="34" charset="0"/>
              </a:rPr>
              <a:t>Several Machine Learning Models are investigated for applicability</a:t>
            </a:r>
          </a:p>
          <a:p>
            <a:r>
              <a:rPr lang="en-US" sz="2800" dirty="0" smtClean="0">
                <a:latin typeface="Calibri" panose="020F0502020204030204" pitchFamily="34" charset="0"/>
              </a:rPr>
              <a:t>Sometimes the problem is classification sometimes it is regression</a:t>
            </a:r>
          </a:p>
          <a:p>
            <a:r>
              <a:rPr lang="en-US" sz="2800" dirty="0" smtClean="0">
                <a:latin typeface="Calibri" panose="020F0502020204030204" pitchFamily="34" charset="0"/>
              </a:rPr>
              <a:t>Via an extensive exploration of different algorithms a final deployable model is generated with high accuracy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Prescriptive Analytics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Often just generating a model or pattern for a data is not enough</a:t>
            </a:r>
          </a:p>
          <a:p>
            <a:r>
              <a:rPr lang="en-IN" dirty="0" smtClean="0"/>
              <a:t>We need action to follow up after predictive or exploratory steps</a:t>
            </a:r>
          </a:p>
          <a:p>
            <a:r>
              <a:rPr lang="en-IN" dirty="0" smtClean="0"/>
              <a:t>Prescriptive Analytics works on the notion of an action step </a:t>
            </a:r>
          </a:p>
          <a:p>
            <a:r>
              <a:rPr lang="en-IN" dirty="0" smtClean="0"/>
              <a:t>Several potential actions can be identified but prefer the optimal action</a:t>
            </a:r>
          </a:p>
          <a:p>
            <a:r>
              <a:rPr lang="en-IN" dirty="0" smtClean="0"/>
              <a:t>Cost Benefit analysis of different actions examined before making the actual choice of action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IN" dirty="0" smtClean="0"/>
              <a:t>Modelling in AI / Data Science Problems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Patterns of data – extracted from data (Descriptive, Exploratory)</a:t>
            </a:r>
          </a:p>
          <a:p>
            <a:r>
              <a:rPr lang="en-IN" dirty="0" smtClean="0"/>
              <a:t>Anomaly Detection – Outliers and Unusual </a:t>
            </a:r>
            <a:r>
              <a:rPr lang="en-IN" dirty="0" err="1" smtClean="0"/>
              <a:t>Behavior</a:t>
            </a:r>
            <a:r>
              <a:rPr lang="en-IN" dirty="0" smtClean="0"/>
              <a:t> detection (Descriptive, Inferential, Predictive)</a:t>
            </a:r>
          </a:p>
          <a:p>
            <a:r>
              <a:rPr lang="en-IN" dirty="0" smtClean="0"/>
              <a:t>Correlations between multiple data sets (Exploratory, Inferential)</a:t>
            </a:r>
          </a:p>
          <a:p>
            <a:r>
              <a:rPr lang="en-IN" dirty="0" smtClean="0"/>
              <a:t>Suggesting recommendations for overcoming faults (Prescriptive)</a:t>
            </a:r>
          </a:p>
          <a:p>
            <a:r>
              <a:rPr lang="en-IN" dirty="0" smtClean="0"/>
              <a:t>Clusters in sets of data (Inferential, Exploratory)</a:t>
            </a:r>
          </a:p>
          <a:p>
            <a:r>
              <a:rPr lang="en-IN" dirty="0" smtClean="0"/>
              <a:t>Extrapolation to a future value (Predictive)</a:t>
            </a:r>
          </a:p>
          <a:p>
            <a:r>
              <a:rPr lang="en-IN" dirty="0" smtClean="0"/>
              <a:t>Classify (Predictive)</a:t>
            </a:r>
          </a:p>
          <a:p>
            <a:r>
              <a:rPr lang="en-IN" dirty="0" smtClean="0"/>
              <a:t>Optimize (Prescriptive)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8229600" cy="990600"/>
          </a:xfrm>
        </p:spPr>
        <p:txBody>
          <a:bodyPr/>
          <a:lstStyle/>
          <a:p>
            <a:r>
              <a:rPr lang="en-IN" dirty="0" smtClean="0"/>
              <a:t>Code for Inferential Analytics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43200"/>
            <a:ext cx="8229600" cy="990600"/>
          </a:xfrm>
        </p:spPr>
        <p:txBody>
          <a:bodyPr/>
          <a:lstStyle/>
          <a:p>
            <a:r>
              <a:rPr lang="en-IN" dirty="0" smtClean="0"/>
              <a:t>Probability and Naive </a:t>
            </a:r>
            <a:r>
              <a:rPr lang="en-IN" dirty="0" err="1" smtClean="0"/>
              <a:t>Bayes</a:t>
            </a: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01000" cy="733425"/>
          </a:xfrm>
        </p:spPr>
        <p:txBody>
          <a:bodyPr>
            <a:normAutofit/>
          </a:bodyPr>
          <a:lstStyle/>
          <a:p>
            <a:pPr eaLnBrk="1" hangingPunct="1"/>
            <a:r>
              <a:rPr lang="en-US" smtClean="0"/>
              <a:t>Conditional Probability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397000"/>
            <a:ext cx="8272462" cy="4622800"/>
          </a:xfrm>
        </p:spPr>
        <p:txBody>
          <a:bodyPr/>
          <a:lstStyle/>
          <a:p>
            <a:pPr eaLnBrk="1" hangingPunct="1">
              <a:buFontTx/>
              <a:buChar char="•"/>
              <a:defRPr/>
            </a:pPr>
            <a:endParaRPr lang="en-US" dirty="0"/>
          </a:p>
          <a:p>
            <a:pPr eaLnBrk="1" hangingPunct="1">
              <a:buFontTx/>
              <a:buNone/>
              <a:defRPr/>
            </a:pPr>
            <a:endParaRPr lang="en-US" dirty="0">
              <a:latin typeface="Times New Roman" pitchFamily="18" charset="0"/>
            </a:endParaRPr>
          </a:p>
          <a:p>
            <a:pPr eaLnBrk="1" hangingPunct="1">
              <a:buFontTx/>
              <a:buNone/>
              <a:defRPr/>
            </a:pPr>
            <a:endParaRPr lang="en-US" dirty="0">
              <a:latin typeface="Times New Roman" pitchFamily="18" charset="0"/>
            </a:endParaRPr>
          </a:p>
          <a:p>
            <a:pPr marL="0" indent="0" eaLnBrk="1" hangingPunct="1">
              <a:buFont typeface="Arial" pitchFamily="34" charset="0"/>
              <a:buNone/>
              <a:defRPr/>
            </a:pPr>
            <a:endParaRPr lang="en-US" dirty="0"/>
          </a:p>
        </p:txBody>
      </p:sp>
      <p:graphicFrame>
        <p:nvGraphicFramePr>
          <p:cNvPr id="1026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219200" y="3124200"/>
          <a:ext cx="5940425" cy="522288"/>
        </p:xfrm>
        <a:graphic>
          <a:graphicData uri="http://schemas.openxmlformats.org/presentationml/2006/ole">
            <p:oleObj spid="_x0000_s3074" name="Equation" r:id="rId4" imgW="2311400" imgH="203200" progId="Equation.3">
              <p:embed/>
            </p:oleObj>
          </a:graphicData>
        </a:graphic>
      </p:graphicFrame>
      <p:graphicFrame>
        <p:nvGraphicFramePr>
          <p:cNvPr id="1028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981200" y="3937000"/>
          <a:ext cx="6145213" cy="2089150"/>
        </p:xfrm>
        <a:graphic>
          <a:graphicData uri="http://schemas.openxmlformats.org/presentationml/2006/ole">
            <p:oleObj spid="_x0000_s3076" name="Equation" r:id="rId5" imgW="2540000" imgH="863600" progId="Equation.3">
              <p:embed/>
            </p:oleObj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2971800" y="1193800"/>
          <a:ext cx="3071813" cy="1020763"/>
        </p:xfrm>
        <a:graphic>
          <a:graphicData uri="http://schemas.openxmlformats.org/presentationml/2006/ole">
            <p:oleObj spid="_x0000_s3075" name="Equation" r:id="rId6" imgW="1257300" imgH="419100" progId="Equation.3">
              <p:embed/>
            </p:oleObj>
          </a:graphicData>
        </a:graphic>
      </p:graphicFrame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1447800" y="2413000"/>
          <a:ext cx="5299075" cy="469900"/>
        </p:xfrm>
        <a:graphic>
          <a:graphicData uri="http://schemas.openxmlformats.org/presentationml/2006/ole">
            <p:oleObj spid="_x0000_s3077" name="Equation" r:id="rId7" imgW="22987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9400"/>
            <a:ext cx="8001000" cy="733425"/>
          </a:xfrm>
        </p:spPr>
        <p:txBody>
          <a:bodyPr>
            <a:normAutofit/>
          </a:bodyPr>
          <a:lstStyle/>
          <a:p>
            <a:pPr eaLnBrk="1" hangingPunct="1"/>
            <a:r>
              <a:rPr lang="en-US" smtClean="0"/>
              <a:t>Bayes’ Theorem</a:t>
            </a:r>
          </a:p>
        </p:txBody>
      </p:sp>
      <p:sp>
        <p:nvSpPr>
          <p:cNvPr id="2052" name="Content Placeholder 2"/>
          <p:cNvSpPr>
            <a:spLocks noGrp="1"/>
          </p:cNvSpPr>
          <p:nvPr>
            <p:ph sz="quarter" idx="2"/>
          </p:nvPr>
        </p:nvSpPr>
        <p:spPr>
          <a:xfrm>
            <a:off x="231775" y="3022600"/>
            <a:ext cx="8685213" cy="3073400"/>
          </a:xfrm>
        </p:spPr>
        <p:txBody>
          <a:bodyPr/>
          <a:lstStyle/>
          <a:p>
            <a:pPr eaLnBrk="1" hangingPunct="1"/>
            <a:r>
              <a:rPr lang="en-US" smtClean="0"/>
              <a:t>A = Wet Garden</a:t>
            </a:r>
          </a:p>
          <a:p>
            <a:pPr eaLnBrk="1" hangingPunct="1"/>
            <a:r>
              <a:rPr lang="en-US" smtClean="0"/>
              <a:t>B1 = It Rained. B2 = It did not Rain.</a:t>
            </a:r>
          </a:p>
          <a:p>
            <a:pPr eaLnBrk="1" hangingPunct="1"/>
            <a:r>
              <a:rPr lang="en-US" smtClean="0"/>
              <a:t>P(B1) = 0.4 (Apriori) , P(B2) = 1 – 0.4 = 0.6</a:t>
            </a:r>
          </a:p>
          <a:p>
            <a:pPr eaLnBrk="1" hangingPunct="1"/>
            <a:r>
              <a:rPr lang="en-US" smtClean="0"/>
              <a:t>P(A|B1) = 0.9, P (A|B2) = 0.2</a:t>
            </a:r>
          </a:p>
          <a:p>
            <a:pPr eaLnBrk="1" hangingPunct="1"/>
            <a:r>
              <a:rPr lang="en-US" smtClean="0"/>
              <a:t>By Bayes Theorem :  P (B1 | A) = (0.9 * 0.4)/ ((0.9*0.4)+(0.2*0.6))=0.36/(0.36+0.12)=0.75</a:t>
            </a:r>
          </a:p>
        </p:txBody>
      </p:sp>
      <p:graphicFrame>
        <p:nvGraphicFramePr>
          <p:cNvPr id="2050" name="Object 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905000" y="1295400"/>
          <a:ext cx="4687888" cy="1714500"/>
        </p:xfrm>
        <a:graphic>
          <a:graphicData uri="http://schemas.openxmlformats.org/presentationml/2006/ole">
            <p:oleObj spid="_x0000_s1026" name="Equation" r:id="rId4" imgW="1701800" imgH="6223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16025"/>
          </a:xfrm>
        </p:spPr>
        <p:txBody>
          <a:bodyPr/>
          <a:lstStyle/>
          <a:p>
            <a:pPr eaLnBrk="1" hangingPunct="1"/>
            <a:r>
              <a:rPr lang="en-US" dirty="0" smtClean="0"/>
              <a:t>An example</a:t>
            </a:r>
          </a:p>
        </p:txBody>
      </p:sp>
      <p:sp>
        <p:nvSpPr>
          <p:cNvPr id="36867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36868" name="Content Placeholder 3"/>
          <p:cNvSpPr>
            <a:spLocks noGrp="1"/>
          </p:cNvSpPr>
          <p:nvPr>
            <p:ph sz="quarter" idx="2"/>
          </p:nvPr>
        </p:nvSpPr>
        <p:spPr>
          <a:xfrm>
            <a:off x="3733800" y="1752600"/>
            <a:ext cx="5410200" cy="28194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1100" b="1" dirty="0" smtClean="0"/>
              <a:t>P(</a:t>
            </a:r>
            <a:r>
              <a:rPr lang="en-US" sz="1100" b="1" dirty="0" err="1" smtClean="0"/>
              <a:t>C</a:t>
            </a:r>
            <a:r>
              <a:rPr lang="en-US" sz="1100" b="1" baseline="-25000" dirty="0" err="1" smtClean="0"/>
              <a:t>i</a:t>
            </a:r>
            <a:r>
              <a:rPr lang="en-US" sz="1100" b="1" baseline="-25000" dirty="0" smtClean="0"/>
              <a:t>)</a:t>
            </a:r>
            <a:r>
              <a:rPr lang="en-US" sz="1600" b="1" baseline="-25000" dirty="0" smtClean="0"/>
              <a:t>:    P(</a:t>
            </a:r>
            <a:r>
              <a:rPr lang="en-US" sz="1600" b="1" baseline="-25000" dirty="0" err="1" smtClean="0"/>
              <a:t>buys_computer</a:t>
            </a:r>
            <a:r>
              <a:rPr lang="en-US" sz="1600" b="1" baseline="-25000" dirty="0" smtClean="0"/>
              <a:t> = “yes”)  = 9/14 = 0.643</a:t>
            </a:r>
            <a:endParaRPr lang="en-US" sz="1100" b="1" baseline="-25000" dirty="0" smtClean="0"/>
          </a:p>
          <a:p>
            <a:pPr eaLnBrk="1" hangingPunct="1">
              <a:buFont typeface="Arial" pitchFamily="34" charset="0"/>
              <a:buNone/>
            </a:pPr>
            <a:r>
              <a:rPr lang="en-US" sz="1100" b="1" dirty="0" smtClean="0"/>
              <a:t>                    P(</a:t>
            </a:r>
            <a:r>
              <a:rPr lang="en-US" sz="1100" b="1" dirty="0" err="1" smtClean="0"/>
              <a:t>buys_computer</a:t>
            </a:r>
            <a:r>
              <a:rPr lang="en-US" sz="1100" b="1" dirty="0" smtClean="0"/>
              <a:t> = “no”) = 5/14= 0.357</a:t>
            </a:r>
          </a:p>
          <a:p>
            <a:pPr eaLnBrk="1" hangingPunct="1"/>
            <a:endParaRPr lang="en-US" sz="1100" b="1" dirty="0" smtClean="0"/>
          </a:p>
          <a:p>
            <a:pPr eaLnBrk="1" hangingPunct="1"/>
            <a:r>
              <a:rPr lang="en-US" sz="1100" b="1" dirty="0" smtClean="0"/>
              <a:t>Compute P(</a:t>
            </a:r>
            <a:r>
              <a:rPr lang="en-US" sz="1100" b="1" dirty="0" err="1" smtClean="0"/>
              <a:t>X|C</a:t>
            </a:r>
            <a:r>
              <a:rPr lang="en-US" sz="1100" b="1" baseline="-25000" dirty="0" err="1" smtClean="0"/>
              <a:t>i</a:t>
            </a:r>
            <a:r>
              <a:rPr lang="en-US" sz="1100" b="1" dirty="0" smtClean="0"/>
              <a:t>) for each class</a:t>
            </a:r>
          </a:p>
          <a:p>
            <a:pPr eaLnBrk="1" hangingPunct="1">
              <a:buFont typeface="Arial" pitchFamily="34" charset="0"/>
              <a:buNone/>
            </a:pPr>
            <a:r>
              <a:rPr lang="en-US" sz="1100" b="1" dirty="0" smtClean="0"/>
              <a:t>     P(age = “&lt;=30” | </a:t>
            </a:r>
            <a:r>
              <a:rPr lang="en-US" sz="1100" b="1" dirty="0" err="1" smtClean="0"/>
              <a:t>buys_computer</a:t>
            </a:r>
            <a:r>
              <a:rPr lang="en-US" sz="1100" b="1" dirty="0" smtClean="0"/>
              <a:t> = “yes”)  = 2/9 = 0.222</a:t>
            </a:r>
          </a:p>
          <a:p>
            <a:pPr eaLnBrk="1" hangingPunct="1">
              <a:buFont typeface="Arial" pitchFamily="34" charset="0"/>
              <a:buNone/>
            </a:pPr>
            <a:r>
              <a:rPr lang="en-US" sz="1100" b="1" dirty="0" smtClean="0"/>
              <a:t>  P(age = “&lt;= 30” | </a:t>
            </a:r>
            <a:r>
              <a:rPr lang="en-US" sz="1100" b="1" dirty="0" err="1" smtClean="0"/>
              <a:t>buys_computer</a:t>
            </a:r>
            <a:r>
              <a:rPr lang="en-US" sz="1100" b="1" dirty="0" smtClean="0"/>
              <a:t> = “no”) = 3/5 = 0.6</a:t>
            </a:r>
          </a:p>
          <a:p>
            <a:pPr eaLnBrk="1" hangingPunct="1">
              <a:buFont typeface="Arial" pitchFamily="34" charset="0"/>
              <a:buNone/>
            </a:pPr>
            <a:r>
              <a:rPr lang="en-US" sz="1100" b="1" dirty="0" smtClean="0"/>
              <a:t>   P(income = “medium” | </a:t>
            </a:r>
            <a:r>
              <a:rPr lang="en-US" sz="1100" b="1" dirty="0" err="1" smtClean="0"/>
              <a:t>buys_computer</a:t>
            </a:r>
            <a:r>
              <a:rPr lang="en-US" sz="1100" b="1" dirty="0" smtClean="0"/>
              <a:t> = “yes”) = 4/9 = 0.444</a:t>
            </a:r>
          </a:p>
          <a:p>
            <a:pPr eaLnBrk="1" hangingPunct="1">
              <a:buFont typeface="Arial" pitchFamily="34" charset="0"/>
              <a:buNone/>
            </a:pPr>
            <a:r>
              <a:rPr lang="en-US" sz="1100" b="1" dirty="0" smtClean="0"/>
              <a:t> P(income = “medium” | </a:t>
            </a:r>
            <a:r>
              <a:rPr lang="en-US" sz="1100" b="1" dirty="0" err="1" smtClean="0"/>
              <a:t>buys_computer</a:t>
            </a:r>
            <a:r>
              <a:rPr lang="en-US" sz="1100" b="1" dirty="0" smtClean="0"/>
              <a:t> = “no”) = 2/5 = 0.4</a:t>
            </a:r>
          </a:p>
          <a:p>
            <a:pPr eaLnBrk="1" hangingPunct="1">
              <a:buFont typeface="Arial" pitchFamily="34" charset="0"/>
              <a:buNone/>
            </a:pPr>
            <a:r>
              <a:rPr lang="en-US" sz="1100" b="1" dirty="0" smtClean="0"/>
              <a:t> P(student = “yes” | </a:t>
            </a:r>
            <a:r>
              <a:rPr lang="en-US" sz="1100" b="1" dirty="0" err="1" smtClean="0"/>
              <a:t>buys_computer</a:t>
            </a:r>
            <a:r>
              <a:rPr lang="en-US" sz="1100" b="1" dirty="0" smtClean="0"/>
              <a:t> = “yes) = 6/9 = 0.667</a:t>
            </a:r>
          </a:p>
          <a:p>
            <a:pPr eaLnBrk="1" hangingPunct="1">
              <a:buFont typeface="Arial" pitchFamily="34" charset="0"/>
              <a:buNone/>
            </a:pPr>
            <a:r>
              <a:rPr lang="en-US" sz="1100" b="1" dirty="0" smtClean="0"/>
              <a:t> P(student = “yes” | </a:t>
            </a:r>
            <a:r>
              <a:rPr lang="en-US" sz="1100" b="1" dirty="0" err="1" smtClean="0"/>
              <a:t>buys_computer</a:t>
            </a:r>
            <a:r>
              <a:rPr lang="en-US" sz="1100" b="1" dirty="0" smtClean="0"/>
              <a:t> = “no”) = 1/5 = 0.2</a:t>
            </a:r>
          </a:p>
          <a:p>
            <a:pPr eaLnBrk="1" hangingPunct="1">
              <a:buFont typeface="Arial" pitchFamily="34" charset="0"/>
              <a:buNone/>
            </a:pPr>
            <a:r>
              <a:rPr lang="en-US" sz="1100" b="1" dirty="0" smtClean="0"/>
              <a:t>  P(</a:t>
            </a:r>
            <a:r>
              <a:rPr lang="en-US" sz="1100" b="1" dirty="0" err="1" smtClean="0"/>
              <a:t>credit_rating</a:t>
            </a:r>
            <a:r>
              <a:rPr lang="en-US" sz="1100" b="1" dirty="0" smtClean="0"/>
              <a:t> = “fair” | </a:t>
            </a:r>
            <a:r>
              <a:rPr lang="en-US" sz="1100" b="1" dirty="0" err="1" smtClean="0"/>
              <a:t>buys_computer</a:t>
            </a:r>
            <a:r>
              <a:rPr lang="en-US" sz="1100" b="1" dirty="0" smtClean="0"/>
              <a:t> = “yes”) = 6/9 = 0.667</a:t>
            </a:r>
          </a:p>
          <a:p>
            <a:pPr eaLnBrk="1" hangingPunct="1">
              <a:buFont typeface="Arial" pitchFamily="34" charset="0"/>
              <a:buNone/>
            </a:pPr>
            <a:r>
              <a:rPr lang="en-US" sz="1100" b="1" dirty="0" smtClean="0"/>
              <a:t> P(</a:t>
            </a:r>
            <a:r>
              <a:rPr lang="en-US" sz="1100" b="1" dirty="0" err="1" smtClean="0"/>
              <a:t>credit_rating</a:t>
            </a:r>
            <a:r>
              <a:rPr lang="en-US" sz="1100" b="1" dirty="0" smtClean="0"/>
              <a:t> = “fair” | </a:t>
            </a:r>
            <a:r>
              <a:rPr lang="en-US" sz="1100" b="1" dirty="0" err="1" smtClean="0"/>
              <a:t>buys_computer</a:t>
            </a:r>
            <a:r>
              <a:rPr lang="en-US" sz="1100" b="1" dirty="0" smtClean="0"/>
              <a:t> = “no”) = 2/5 = 0.4</a:t>
            </a:r>
          </a:p>
          <a:p>
            <a:pPr eaLnBrk="1" hangingPunct="1"/>
            <a:endParaRPr lang="en-US" sz="500" b="1" dirty="0" smtClean="0"/>
          </a:p>
          <a:p>
            <a:pPr eaLnBrk="1" hangingPunct="1"/>
            <a:endParaRPr lang="en-US" sz="500" b="1" dirty="0" smtClean="0"/>
          </a:p>
        </p:txBody>
      </p:sp>
      <p:pic>
        <p:nvPicPr>
          <p:cNvPr id="3686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52600"/>
            <a:ext cx="3173413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457200"/>
            <a:ext cx="3008313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1" name="Rectangle 7"/>
          <p:cNvSpPr>
            <a:spLocks noChangeArrowheads="1"/>
          </p:cNvSpPr>
          <p:nvPr/>
        </p:nvSpPr>
        <p:spPr bwMode="auto">
          <a:xfrm>
            <a:off x="3429000" y="5103813"/>
            <a:ext cx="5562600" cy="175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b="1"/>
              <a:t>X = (age &lt;= 30 , income = medium, student = yes, credit_rating = fair)</a:t>
            </a:r>
          </a:p>
          <a:p>
            <a:r>
              <a:rPr lang="en-US" sz="1200" b="1"/>
              <a:t>P(X|C</a:t>
            </a:r>
            <a:r>
              <a:rPr lang="en-US" sz="1200" b="1" baseline="-25000"/>
              <a:t>i</a:t>
            </a:r>
            <a:r>
              <a:rPr lang="en-US" sz="1200" b="1"/>
              <a:t>) : </a:t>
            </a:r>
          </a:p>
          <a:p>
            <a:r>
              <a:rPr lang="en-US" sz="1200"/>
              <a:t>P(X|buys_computer = “yes”) = 0.222 x 0.444 x 0.667 x 0.667 = 0.044        </a:t>
            </a:r>
          </a:p>
          <a:p>
            <a:r>
              <a:rPr lang="en-US" sz="1200"/>
              <a:t>P(X|buys_computer = “no”) = 0.6 x 0.4 x 0.2 x 0.4 = 0.019</a:t>
            </a:r>
          </a:p>
          <a:p>
            <a:r>
              <a:rPr lang="en-US" sz="1200" b="1"/>
              <a:t>P(X|C</a:t>
            </a:r>
            <a:r>
              <a:rPr lang="en-US" sz="1200" b="1" baseline="-25000"/>
              <a:t>i</a:t>
            </a:r>
            <a:r>
              <a:rPr lang="en-US" sz="1200" b="1"/>
              <a:t>)*P(C</a:t>
            </a:r>
            <a:r>
              <a:rPr lang="en-US" sz="1200" b="1" baseline="-25000"/>
              <a:t>i</a:t>
            </a:r>
            <a:r>
              <a:rPr lang="en-US" sz="1200" b="1"/>
              <a:t>) : P(X|buys_computer = “yes”) * P(buys_computer = “yes”) = 0.028</a:t>
            </a:r>
          </a:p>
          <a:p>
            <a:r>
              <a:rPr lang="en-US" sz="1200"/>
              <a:t> </a:t>
            </a:r>
            <a:r>
              <a:rPr lang="en-US" sz="1200" b="1"/>
              <a:t>P(X|buys_computer = “no”) * P(buys_computer = “no”) = 0.007</a:t>
            </a:r>
          </a:p>
          <a:p>
            <a:endParaRPr lang="en-US" sz="1200"/>
          </a:p>
          <a:p>
            <a:r>
              <a:rPr lang="en-US" sz="1200" b="1"/>
              <a:t>Therefore,  X belongs to class (“buys_computer = yes”)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mtClean="0"/>
              <a:t>Naïve Bayes </a:t>
            </a:r>
          </a:p>
        </p:txBody>
      </p:sp>
      <p:graphicFrame>
        <p:nvGraphicFramePr>
          <p:cNvPr id="3074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192463" y="1890713"/>
          <a:ext cx="2147887" cy="785812"/>
        </p:xfrm>
        <a:graphic>
          <a:graphicData uri="http://schemas.openxmlformats.org/presentationml/2006/ole">
            <p:oleObj spid="_x0000_s2050" name="Equation" r:id="rId3" imgW="1701800" imgH="622300" progId="Equation.3">
              <p:embed/>
            </p:oleObj>
          </a:graphicData>
        </a:graphic>
      </p:graphicFrame>
      <p:sp>
        <p:nvSpPr>
          <p:cNvPr id="3076" name="TextBox 6"/>
          <p:cNvSpPr txBox="1">
            <a:spLocks noChangeArrowheads="1"/>
          </p:cNvSpPr>
          <p:nvPr/>
        </p:nvSpPr>
        <p:spPr bwMode="auto">
          <a:xfrm>
            <a:off x="3951288" y="3057525"/>
            <a:ext cx="18081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IN"/>
              <a:t>Bayes Theorem</a:t>
            </a:r>
          </a:p>
        </p:txBody>
      </p:sp>
      <p:pic>
        <p:nvPicPr>
          <p:cNvPr id="3077" name="Picture 8" descr="bayesIndep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35163" y="4038600"/>
            <a:ext cx="58515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8" name="TextBox 9"/>
          <p:cNvSpPr txBox="1">
            <a:spLocks noChangeArrowheads="1"/>
          </p:cNvSpPr>
          <p:nvPr/>
        </p:nvSpPr>
        <p:spPr bwMode="auto">
          <a:xfrm>
            <a:off x="3743325" y="5257800"/>
            <a:ext cx="35702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IN"/>
              <a:t>Naïve Independence Assumption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IN" smtClean="0"/>
              <a:t>Revised Bayes theorem and Naive Bayes Classifier</a:t>
            </a:r>
          </a:p>
        </p:txBody>
      </p:sp>
      <p:pic>
        <p:nvPicPr>
          <p:cNvPr id="3789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11500" y="2362200"/>
            <a:ext cx="33210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43163" y="4152900"/>
            <a:ext cx="4857750" cy="207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3" name="TextBox 10"/>
          <p:cNvSpPr txBox="1">
            <a:spLocks noChangeArrowheads="1"/>
          </p:cNvSpPr>
          <p:nvPr/>
        </p:nvSpPr>
        <p:spPr bwMode="auto">
          <a:xfrm>
            <a:off x="3529013" y="1914525"/>
            <a:ext cx="31813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IN"/>
              <a:t>Bayes Theorem Simplifies to </a:t>
            </a:r>
          </a:p>
        </p:txBody>
      </p:sp>
      <p:sp>
        <p:nvSpPr>
          <p:cNvPr id="37894" name="TextBox 11"/>
          <p:cNvSpPr txBox="1">
            <a:spLocks noChangeArrowheads="1"/>
          </p:cNvSpPr>
          <p:nvPr/>
        </p:nvSpPr>
        <p:spPr bwMode="auto">
          <a:xfrm>
            <a:off x="4129088" y="3695700"/>
            <a:ext cx="31337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IN"/>
              <a:t>Outcome of the classification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mtClean="0"/>
              <a:t>Types</a:t>
            </a:r>
          </a:p>
        </p:txBody>
      </p:sp>
      <p:sp>
        <p:nvSpPr>
          <p:cNvPr id="38915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IN" smtClean="0"/>
              <a:t>Gaussian </a:t>
            </a:r>
          </a:p>
        </p:txBody>
      </p:sp>
      <p:sp>
        <p:nvSpPr>
          <p:cNvPr id="38916" name="Content Placeholder 3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 eaLnBrk="1" hangingPunct="1"/>
            <a:r>
              <a:rPr lang="en-IN" smtClean="0"/>
              <a:t>Multinomial</a:t>
            </a:r>
          </a:p>
        </p:txBody>
      </p:sp>
      <p:sp>
        <p:nvSpPr>
          <p:cNvPr id="38917" name="Content Placeholder 4"/>
          <p:cNvSpPr>
            <a:spLocks noGrp="1"/>
          </p:cNvSpPr>
          <p:nvPr>
            <p:ph sz="quarter" idx="3"/>
          </p:nvPr>
        </p:nvSpPr>
        <p:spPr/>
        <p:txBody>
          <a:bodyPr/>
          <a:lstStyle/>
          <a:p>
            <a:pPr eaLnBrk="1" hangingPunct="1"/>
            <a:r>
              <a:rPr lang="en-IN" smtClean="0"/>
              <a:t>Bernoulli</a:t>
            </a:r>
          </a:p>
          <a:p>
            <a:pPr eaLnBrk="1" hangingPunct="1">
              <a:buFont typeface="Arial" pitchFamily="34" charset="0"/>
              <a:buNone/>
            </a:pPr>
            <a:endParaRPr lang="en-IN" smtClean="0"/>
          </a:p>
          <a:p>
            <a:pPr eaLnBrk="1" hangingPunct="1">
              <a:buFont typeface="Arial" pitchFamily="34" charset="0"/>
              <a:buNone/>
            </a:pPr>
            <a:endParaRPr lang="en-IN" smtClean="0"/>
          </a:p>
        </p:txBody>
      </p:sp>
      <p:pic>
        <p:nvPicPr>
          <p:cNvPr id="389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8675" y="2600325"/>
            <a:ext cx="280035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9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89613" y="2366963"/>
            <a:ext cx="1951037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20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4588" y="5024438"/>
            <a:ext cx="2792412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22" name="AutoShape 7" descr="\theta_y = (\theta_{y1},\ldots,\theta_{yn})"/>
          <p:cNvSpPr>
            <a:spLocks noChangeAspect="1" noChangeArrowheads="1"/>
          </p:cNvSpPr>
          <p:nvPr/>
        </p:nvSpPr>
        <p:spPr bwMode="auto">
          <a:xfrm>
            <a:off x="115888" y="-288925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8923" name="AutoShape 8" descr="y"/>
          <p:cNvSpPr>
            <a:spLocks noChangeAspect="1" noChangeArrowheads="1"/>
          </p:cNvSpPr>
          <p:nvPr/>
        </p:nvSpPr>
        <p:spPr bwMode="auto">
          <a:xfrm>
            <a:off x="1366838" y="-288925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8924" name="AutoShape 9" descr="n"/>
          <p:cNvSpPr>
            <a:spLocks noChangeAspect="1" noChangeArrowheads="1"/>
          </p:cNvSpPr>
          <p:nvPr/>
        </p:nvSpPr>
        <p:spPr bwMode="auto">
          <a:xfrm>
            <a:off x="2074863" y="-288925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8925" name="AutoShape 10" descr="\theta_{yi}"/>
          <p:cNvSpPr>
            <a:spLocks noChangeAspect="1" noChangeArrowheads="1"/>
          </p:cNvSpPr>
          <p:nvPr/>
        </p:nvSpPr>
        <p:spPr bwMode="auto">
          <a:xfrm>
            <a:off x="8172450" y="-288925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8926" name="AutoShape 11" descr="P(x_i \mid y)"/>
          <p:cNvSpPr>
            <a:spLocks noChangeAspect="1" noChangeArrowheads="1"/>
          </p:cNvSpPr>
          <p:nvPr/>
        </p:nvSpPr>
        <p:spPr bwMode="auto">
          <a:xfrm>
            <a:off x="9602788" y="-288925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8927" name="AutoShape 12" descr="i"/>
          <p:cNvSpPr>
            <a:spLocks noChangeAspect="1" noChangeArrowheads="1"/>
          </p:cNvSpPr>
          <p:nvPr/>
        </p:nvSpPr>
        <p:spPr bwMode="auto">
          <a:xfrm>
            <a:off x="10520363" y="-288925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8928" name="AutoShape 13" descr="y"/>
          <p:cNvSpPr>
            <a:spLocks noChangeAspect="1" noChangeArrowheads="1"/>
          </p:cNvSpPr>
          <p:nvPr/>
        </p:nvSpPr>
        <p:spPr bwMode="auto">
          <a:xfrm>
            <a:off x="13819188" y="-288925"/>
            <a:ext cx="228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620713" y="266700"/>
            <a:ext cx="8229600" cy="1066800"/>
          </a:xfrm>
        </p:spPr>
        <p:txBody>
          <a:bodyPr lIns="121917" tIns="60958" rIns="121917" bIns="60958"/>
          <a:lstStyle/>
          <a:p>
            <a:pPr eaLnBrk="1" hangingPunct="1"/>
            <a:r>
              <a:rPr lang="en-US" smtClean="0"/>
              <a:t>Example Bayesian Network </a:t>
            </a:r>
          </a:p>
        </p:txBody>
      </p:sp>
      <p:pic>
        <p:nvPicPr>
          <p:cNvPr id="40963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600200" y="1106488"/>
            <a:ext cx="5638800" cy="4989512"/>
          </a:xfr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9583</TotalTime>
  <Words>1426</Words>
  <Application>Microsoft Office PowerPoint</Application>
  <PresentationFormat>On-screen Show (4:3)</PresentationFormat>
  <Paragraphs>223</Paragraphs>
  <Slides>28</Slides>
  <Notes>10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Origin</vt:lpstr>
      <vt:lpstr>Equation</vt:lpstr>
      <vt:lpstr>AI and Machine Learning : Multi Dimensional Perspectives Dr Srinivas Padmanabhuni CTO Tarah Technologies http://www.tarahtech.com http://tarah.ai Contact:  srinivas@tarahtech.com </vt:lpstr>
      <vt:lpstr>Data Science Life Cycle and Types of Analytics</vt:lpstr>
      <vt:lpstr>Data Science Life Cycle</vt:lpstr>
      <vt:lpstr>Slide 4</vt:lpstr>
      <vt:lpstr>Slide 5</vt:lpstr>
      <vt:lpstr>Slide 6</vt:lpstr>
      <vt:lpstr>Slide 7</vt:lpstr>
      <vt:lpstr>Slide 8</vt:lpstr>
      <vt:lpstr>Slide 9</vt:lpstr>
      <vt:lpstr>Slide 10</vt:lpstr>
      <vt:lpstr>Types of Analytics</vt:lpstr>
      <vt:lpstr>Five Kinds of Analytics</vt:lpstr>
      <vt:lpstr>Descriptive Analytics</vt:lpstr>
      <vt:lpstr>Code for Descriptive Analytics</vt:lpstr>
      <vt:lpstr>Inferential Analytics</vt:lpstr>
      <vt:lpstr>Exploratory Data Analysis</vt:lpstr>
      <vt:lpstr>Predictive Analytics</vt:lpstr>
      <vt:lpstr>Prescriptive Analytics</vt:lpstr>
      <vt:lpstr>Modelling in AI / Data Science Problems</vt:lpstr>
      <vt:lpstr>Code for Inferential Analytics</vt:lpstr>
      <vt:lpstr>Probability and Naive Bayes </vt:lpstr>
      <vt:lpstr>Conditional Probability</vt:lpstr>
      <vt:lpstr>Bayes’ Theorem</vt:lpstr>
      <vt:lpstr>An example</vt:lpstr>
      <vt:lpstr>Naïve Bayes </vt:lpstr>
      <vt:lpstr>Revised Bayes theorem and Naive Bayes Classifier</vt:lpstr>
      <vt:lpstr>Types</vt:lpstr>
      <vt:lpstr>Example Bayesian Network </vt:lpstr>
    </vt:vector>
  </TitlesOfParts>
  <Company>Unknown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nvobugari</dc:creator>
  <cp:lastModifiedBy>Dr.Srinivas Padmanabhuni</cp:lastModifiedBy>
  <cp:revision>46</cp:revision>
  <dcterms:created xsi:type="dcterms:W3CDTF">2015-07-23T14:12:01Z</dcterms:created>
  <dcterms:modified xsi:type="dcterms:W3CDTF">2017-08-23T03:50:24Z</dcterms:modified>
</cp:coreProperties>
</file>
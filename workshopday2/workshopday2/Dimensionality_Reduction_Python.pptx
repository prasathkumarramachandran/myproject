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</p:sldIdLst>
  <p:sldSz cx="9144000" cy="5143500" type="screen16x9"/>
  <p:notesSz cx="6858000" cy="9144000"/>
  <p:embeddedFontLst>
    <p:embeddedFont>
      <p:font typeface="Lato" panose="020F0502020204030203" pitchFamily="34" charset="0"/>
      <p:regular r:id="rId38"/>
      <p:bold r:id="rId39"/>
    </p:embeddedFont>
    <p:embeddedFont>
      <p:font typeface="Robot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9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30f8f3be1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30f8f3be1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30f8f3be1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30f8f3be1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30f8f3be1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30f8f3be1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30f8f3be1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30f8f3be1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30ee460ec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30ee460ec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521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30ee460e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30ee460ec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64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30ee460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30ee460e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40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30ee460ec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430ee460ec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006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30ee460e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30ee460e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688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30ee460e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30ee460e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948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30ee460e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30ee460e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164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30ee460ec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30ee460ec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756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30ee460ec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30ee460ec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424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30ee460ec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30ee460ec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7174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30f8f3be1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30f8f3be1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30f8f3be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30f8f3be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30f8f3be1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30f8f3be1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30f8f3be1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30f8f3be1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30f8f3be1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30f8f3be1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30f8f3be1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30f8f3be1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30f8f3be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30f8f3be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30f8f3be1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30f8f3be1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30f8f3be1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30f8f3be1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30f8f3be1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30f8f3be1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30f8f3be1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30f8f3be1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30f8f3be1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30f8f3be1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30f8f3be1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30f8f3be1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30f8f3be1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30f8f3be1_1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30f8f3be1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30f8f3be1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30f8f3be1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30f8f3be1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30f8f3be1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30f8f3be1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430f8f3be1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430f8f3be1_1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30f8f3be1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30f8f3be1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30f8f3be1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430f8f3be1_1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tarahtech.com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21975"/>
            <a:ext cx="5254926" cy="24221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403050" y="2798300"/>
            <a:ext cx="15072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75" y="684100"/>
            <a:ext cx="5254926" cy="23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582725" y="2944150"/>
            <a:ext cx="1672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hlinkClick r:id="rId5"/>
              </a:rPr>
              <a:t>www.tarahtech.com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2100175" y="744575"/>
            <a:ext cx="6732000" cy="22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000FF"/>
                </a:solidFill>
              </a:rPr>
              <a:t>             </a:t>
            </a:r>
            <a:r>
              <a:rPr lang="en" sz="3000" b="1">
                <a:solidFill>
                  <a:srgbClr val="4A86E8"/>
                </a:solidFill>
              </a:rPr>
              <a:t>Dimensionality Reduction</a:t>
            </a:r>
            <a:endParaRPr sz="3000" b="1">
              <a:solidFill>
                <a:srgbClr val="4A86E8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33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832300" cy="46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</a:rPr>
              <a:t>Dimensionality Reduction:</a:t>
            </a:r>
            <a:endParaRPr sz="2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150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Dimensionality reduction techniques</a:t>
            </a: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Wingdings" panose="05000000000000000000" pitchFamily="2" charset="2"/>
              </a:rPr>
              <a:t> </a:t>
            </a: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used for  to reduce the number of features in </a:t>
            </a:r>
            <a:r>
              <a:rPr lang="en-US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 </a:t>
            </a: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dataset without having to lose much information </a:t>
            </a:r>
            <a:r>
              <a:rPr lang="en-US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retaining</a:t>
            </a: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the model’s performance.</a:t>
            </a:r>
            <a:endParaRPr sz="1400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Below are just some of the examples of the kind of data being collected:</a:t>
            </a:r>
            <a:endParaRPr sz="1400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Facebook collects data of what you like, share, post, places you visit, restaurants you like, etc.</a:t>
            </a:r>
            <a:endParaRPr dirty="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○"/>
            </a:pPr>
            <a:r>
              <a:rPr lang="en" dirty="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Your smartphone apps collect a lot of personal information about you</a:t>
            </a:r>
            <a:endParaRPr dirty="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○"/>
            </a:pPr>
            <a:r>
              <a:rPr lang="en" dirty="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Amazon collects data of what you buy, view, click, etc. on their site</a:t>
            </a:r>
            <a:endParaRPr dirty="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○"/>
            </a:pPr>
            <a:r>
              <a:rPr lang="en" dirty="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Casinos keep a track of every move each customer makes</a:t>
            </a:r>
            <a:endParaRPr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</a:rPr>
              <a:t>Dimensionality Reduction Techniques: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17500" algn="l" rtl="0"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Dimensionality reduction can be done in two different ways: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○"/>
            </a:pPr>
            <a:r>
              <a:rPr lang="en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By only keeping the most relevant variables from the original dataset (this technique is called feature selection)</a:t>
            </a:r>
            <a:endParaRPr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○"/>
            </a:pPr>
            <a:r>
              <a:rPr lang="en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By finding a smaller set of new variables, each being a combination of the input variables, containing basically the same information as the input variables (this technique is called dimensionality reduction)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0" y="600875"/>
            <a:ext cx="8832300" cy="4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Various dimensionality reduction techniques</a:t>
            </a:r>
            <a:r>
              <a:rPr lang="en" sz="2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b="1" dirty="0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2400" b="1" dirty="0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>
              <a:spcBef>
                <a:spcPts val="1600"/>
              </a:spcBef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sym typeface="Roboto"/>
              </a:rPr>
              <a:t>Missing Value Ratio</a:t>
            </a:r>
          </a:p>
          <a:p>
            <a:pPr indent="-317500">
              <a:spcBef>
                <a:spcPts val="1600"/>
              </a:spcBef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sym typeface="Roboto"/>
              </a:rPr>
              <a:t>Low Variance Filter</a:t>
            </a:r>
          </a:p>
          <a:p>
            <a:pPr indent="-317500">
              <a:spcBef>
                <a:spcPts val="1600"/>
              </a:spcBef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sym typeface="Roboto"/>
              </a:rPr>
              <a:t>High Correlation Filter</a:t>
            </a:r>
          </a:p>
          <a:p>
            <a:pPr indent="-317500">
              <a:spcBef>
                <a:spcPts val="1600"/>
              </a:spcBef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sym typeface="Roboto"/>
              </a:rPr>
              <a:t>Random Forest</a:t>
            </a:r>
          </a:p>
          <a:p>
            <a:pPr indent="-317500">
              <a:spcBef>
                <a:spcPts val="1600"/>
              </a:spcBef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Backward Feature Elimination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Forward Feature Selection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Factor Analysis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Principal Component Analysis</a:t>
            </a:r>
            <a:endParaRPr sz="2400" b="1" dirty="0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490550" y="753835"/>
            <a:ext cx="34032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sym typeface="Lato"/>
              </a:rPr>
              <a:t>Missing</a:t>
            </a:r>
            <a:r>
              <a:rPr lang="en" sz="2400" b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400" b="1" dirty="0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sym typeface="Lato"/>
              </a:rPr>
              <a:t>Value</a:t>
            </a:r>
            <a:r>
              <a:rPr lang="en" sz="2400" b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400" b="1" dirty="0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sym typeface="Lato"/>
              </a:rPr>
              <a:t>Ratio</a:t>
            </a:r>
            <a:r>
              <a:rPr lang="en" sz="2400" b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sz="24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18000" y="1541124"/>
            <a:ext cx="7351500" cy="327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While exploring a dataset with plenty of missing values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Imput</a:t>
            </a:r>
            <a:r>
              <a:rPr lang="en-US" sz="1800" dirty="0" err="1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them or drop the variables entirely which have missing values (using appropriate methods).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oo many missing values – </a:t>
            </a: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Better 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drop the variable, </a:t>
            </a: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as 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 will not have much information.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Set</a:t>
            </a: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ting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 threshold value and if the percentage of missing values in any variable is more than that threshold, drop the variable.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Google Shape;95;p18">
            <a:extLst>
              <a:ext uri="{FF2B5EF4-FFF2-40B4-BE49-F238E27FC236}">
                <a16:creationId xmlns:a16="http://schemas.microsoft.com/office/drawing/2014/main" id="{5D4DAC6D-5E0B-4DCA-B799-BF0B31667E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6;p18">
            <a:extLst>
              <a:ext uri="{FF2B5EF4-FFF2-40B4-BE49-F238E27FC236}">
                <a16:creationId xmlns:a16="http://schemas.microsoft.com/office/drawing/2014/main" id="{C4518213-62F9-4D57-9BBA-803A8F027E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B9858D96-13A5-4AA2-AA28-C1C965E174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184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181675" y="884125"/>
            <a:ext cx="7533300" cy="4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 dirty="0">
                <a:latin typeface="Lato"/>
                <a:ea typeface="Lato"/>
                <a:cs typeface="Lato"/>
                <a:sym typeface="Lato"/>
              </a:rPr>
              <a:t>Import the libraries as</a:t>
            </a: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Read the csv(comma separated values) file using pandas.</a:t>
            </a:r>
            <a:endParaRPr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Review the first 5 rows of our data using the head( ) function on the pandas DataFrame.</a:t>
            </a:r>
            <a:endParaRPr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575" y="1276749"/>
            <a:ext cx="4148250" cy="10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575" y="3330600"/>
            <a:ext cx="4293600" cy="10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18">
            <a:extLst>
              <a:ext uri="{FF2B5EF4-FFF2-40B4-BE49-F238E27FC236}">
                <a16:creationId xmlns:a16="http://schemas.microsoft.com/office/drawing/2014/main" id="{F74555B3-E665-4CBD-865F-1C9DF82E55F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18">
            <a:extLst>
              <a:ext uri="{FF2B5EF4-FFF2-40B4-BE49-F238E27FC236}">
                <a16:creationId xmlns:a16="http://schemas.microsoft.com/office/drawing/2014/main" id="{CD079834-60E6-43E1-8055-3A636564250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8">
            <a:extLst>
              <a:ext uri="{FF2B5EF4-FFF2-40B4-BE49-F238E27FC236}">
                <a16:creationId xmlns:a16="http://schemas.microsoft.com/office/drawing/2014/main" id="{6C142949-8C63-47DD-A327-CCA2B71CE25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8473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35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169550" y="904875"/>
            <a:ext cx="6721800" cy="3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Check the percentage of each missing value in each column.</a:t>
            </a:r>
            <a:r>
              <a:rPr lang="en" sz="18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We can use</a:t>
            </a:r>
            <a:r>
              <a:rPr lang="en" sz="1800" i="1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.isnull().sum()</a:t>
            </a:r>
            <a:r>
              <a:rPr lang="en" sz="18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to calculate this.</a:t>
            </a:r>
            <a:endParaRPr sz="18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950" y="1623900"/>
            <a:ext cx="5076825" cy="2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8">
            <a:extLst>
              <a:ext uri="{FF2B5EF4-FFF2-40B4-BE49-F238E27FC236}">
                <a16:creationId xmlns:a16="http://schemas.microsoft.com/office/drawing/2014/main" id="{7CC2826A-0E67-4081-BD57-CA330CD3C06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6;p18">
            <a:extLst>
              <a:ext uri="{FF2B5EF4-FFF2-40B4-BE49-F238E27FC236}">
                <a16:creationId xmlns:a16="http://schemas.microsoft.com/office/drawing/2014/main" id="{ACC2E6E3-468B-46C6-953A-EBB3B5BEC7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4116585A-6CC3-4074-A73A-BD92DED796B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8473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572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205900" y="726275"/>
            <a:ext cx="6455400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Set a threshold of, say 20%, and remove the variable having more than 20% missing values.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100" y="1376575"/>
            <a:ext cx="4241025" cy="30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5;p18">
            <a:extLst>
              <a:ext uri="{FF2B5EF4-FFF2-40B4-BE49-F238E27FC236}">
                <a16:creationId xmlns:a16="http://schemas.microsoft.com/office/drawing/2014/main" id="{B0869835-EF39-4383-B993-512D084964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6;p18">
            <a:extLst>
              <a:ext uri="{FF2B5EF4-FFF2-40B4-BE49-F238E27FC236}">
                <a16:creationId xmlns:a16="http://schemas.microsoft.com/office/drawing/2014/main" id="{AD9802BB-90AE-4058-9375-9D710B5690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234F20BE-BB44-4673-A085-8815F69A9DE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809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133225" y="302775"/>
            <a:ext cx="33792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400" b="1" dirty="0">
                <a:solidFill>
                  <a:srgbClr val="0070C0"/>
                </a:solidFill>
                <a:latin typeface="Roboto" panose="020B0604020202020204" charset="0"/>
                <a:ea typeface="Roboto" panose="020B0604020202020204" charset="0"/>
                <a:cs typeface="Lato"/>
                <a:sym typeface="Lato"/>
              </a:rPr>
              <a:t>Low Variance Filter</a:t>
            </a:r>
            <a:r>
              <a:rPr lang="en" sz="2400" b="1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endParaRPr sz="2400" b="1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0"/>
          <p:cNvSpPr txBox="1"/>
          <p:nvPr/>
        </p:nvSpPr>
        <p:spPr>
          <a:xfrm>
            <a:off x="133225" y="1610800"/>
            <a:ext cx="7363800" cy="25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Char char="●"/>
            </a:pP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alculate the variance of each variable.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Drop 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the variables having low variance as compared to other variables in our dataset.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-US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ariables with a low variance will not affect the target variable.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First impute the missing values in the 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Item_Weight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column using the median value of the known 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Item_Weight 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observations.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 the 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Outlet_Size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column, use the mode of the known 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Outlet_Size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values to impute the missing values.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Google Shape;95;p18">
            <a:extLst>
              <a:ext uri="{FF2B5EF4-FFF2-40B4-BE49-F238E27FC236}">
                <a16:creationId xmlns:a16="http://schemas.microsoft.com/office/drawing/2014/main" id="{6AAB1669-1A1D-4931-B987-7AC61BD3B8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6;p18">
            <a:extLst>
              <a:ext uri="{FF2B5EF4-FFF2-40B4-BE49-F238E27FC236}">
                <a16:creationId xmlns:a16="http://schemas.microsoft.com/office/drawing/2014/main" id="{F4DA72F2-AC8D-4378-9351-CD41B1153C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5F38A320-AE05-4DEC-A1B8-372A5429F3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314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91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157450" y="1339125"/>
            <a:ext cx="7509000" cy="28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Let’s check whether all the missing values have been filled: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75" y="458600"/>
            <a:ext cx="4772950" cy="8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25" y="1779650"/>
            <a:ext cx="4436300" cy="24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5;p18">
            <a:extLst>
              <a:ext uri="{FF2B5EF4-FFF2-40B4-BE49-F238E27FC236}">
                <a16:creationId xmlns:a16="http://schemas.microsoft.com/office/drawing/2014/main" id="{8904821E-AAC8-41E7-B133-9AD3A21E14A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18">
            <a:extLst>
              <a:ext uri="{FF2B5EF4-FFF2-40B4-BE49-F238E27FC236}">
                <a16:creationId xmlns:a16="http://schemas.microsoft.com/office/drawing/2014/main" id="{7EB14B73-0D6F-4B23-BBF6-F707F01D509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8">
            <a:extLst>
              <a:ext uri="{FF2B5EF4-FFF2-40B4-BE49-F238E27FC236}">
                <a16:creationId xmlns:a16="http://schemas.microsoft.com/office/drawing/2014/main" id="{7CFE18B7-9ACA-476A-8E6D-707B1F9CD61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8473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61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218000" y="523875"/>
            <a:ext cx="6366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let’s calculate the variance of all the numerical variables.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25" y="1166775"/>
            <a:ext cx="4420000" cy="15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169550" y="2729550"/>
            <a:ext cx="7351500" cy="12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As the above output shows, the variance of </a:t>
            </a:r>
            <a:r>
              <a:rPr lang="en" sz="1800" i="1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Item_Visibility</a:t>
            </a: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is very less as compared to the other variables</a:t>
            </a:r>
            <a:endParaRPr sz="180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Safely drop this column. This is how  apply low variance filter. </a:t>
            </a:r>
            <a:endParaRPr sz="180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Google Shape;95;p18">
            <a:extLst>
              <a:ext uri="{FF2B5EF4-FFF2-40B4-BE49-F238E27FC236}">
                <a16:creationId xmlns:a16="http://schemas.microsoft.com/office/drawing/2014/main" id="{5398296E-4BCC-4C34-A082-C84B1A7EAA3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18">
            <a:extLst>
              <a:ext uri="{FF2B5EF4-FFF2-40B4-BE49-F238E27FC236}">
                <a16:creationId xmlns:a16="http://schemas.microsoft.com/office/drawing/2014/main" id="{A0FE78E4-1BFB-49CC-A78E-55195354F0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8">
            <a:extLst>
              <a:ext uri="{FF2B5EF4-FFF2-40B4-BE49-F238E27FC236}">
                <a16:creationId xmlns:a16="http://schemas.microsoft.com/office/drawing/2014/main" id="{F6BCD691-E56F-4477-92DE-24A3C1042AA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320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047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25" y="1085675"/>
            <a:ext cx="6891300" cy="318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5;p18">
            <a:extLst>
              <a:ext uri="{FF2B5EF4-FFF2-40B4-BE49-F238E27FC236}">
                <a16:creationId xmlns:a16="http://schemas.microsoft.com/office/drawing/2014/main" id="{426E599F-2FA7-4CA5-A06A-8FEE1EFE26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6;p18">
            <a:extLst>
              <a:ext uri="{FF2B5EF4-FFF2-40B4-BE49-F238E27FC236}">
                <a16:creationId xmlns:a16="http://schemas.microsoft.com/office/drawing/2014/main" id="{643EB91B-0BD7-4290-8A88-15D0EA25C96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7;p18">
            <a:extLst>
              <a:ext uri="{FF2B5EF4-FFF2-40B4-BE49-F238E27FC236}">
                <a16:creationId xmlns:a16="http://schemas.microsoft.com/office/drawing/2014/main" id="{F34577B7-3E12-4E51-873E-8306D73D85D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1314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5271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157450" y="484450"/>
            <a:ext cx="38271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rgbClr val="0070C0"/>
                </a:solidFill>
                <a:latin typeface="Roboto" panose="020B0604020202020204" charset="0"/>
                <a:ea typeface="Roboto" panose="020B0604020202020204" charset="0"/>
                <a:cs typeface="Lato"/>
                <a:sym typeface="Lato"/>
              </a:rPr>
              <a:t>High Correlation filter</a:t>
            </a:r>
            <a:r>
              <a:rPr lang="en" sz="2400" b="1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400" b="1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24"/>
          <p:cNvSpPr txBox="1"/>
          <p:nvPr/>
        </p:nvSpPr>
        <p:spPr>
          <a:xfrm>
            <a:off x="230125" y="1512100"/>
            <a:ext cx="7375800" cy="27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High correlation between two variables means they have similar trends and are likely to carry similar information. 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Calculate the correlation between independent numerical variables that are numerical in nature.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If the correlation coefficient crosses a certain threshold value,  drop one of the variables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Let’s perform the correlation calculation in Python.  drop the dependent variable (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Item_Outlet_Sales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first and save the remaining variables in a new dataframe (</a:t>
            </a:r>
            <a:r>
              <a:rPr lang="en" sz="1800" i="1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df</a:t>
            </a:r>
            <a:r>
              <a:rPr lang="en" sz="1800" dirty="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).</a:t>
            </a:r>
            <a:endParaRPr sz="1800" dirty="0">
              <a:solidFill>
                <a:srgbClr val="595858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Google Shape;95;p18">
            <a:extLst>
              <a:ext uri="{FF2B5EF4-FFF2-40B4-BE49-F238E27FC236}">
                <a16:creationId xmlns:a16="http://schemas.microsoft.com/office/drawing/2014/main" id="{61474A12-1A4C-4B0F-8189-BAEE8ED381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6;p18">
            <a:extLst>
              <a:ext uri="{FF2B5EF4-FFF2-40B4-BE49-F238E27FC236}">
                <a16:creationId xmlns:a16="http://schemas.microsoft.com/office/drawing/2014/main" id="{48634EB9-D40A-4868-9140-88A3A60BE9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F9655365-ED04-4B80-8F3E-FBDAEF4E06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645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254325" y="681050"/>
            <a:ext cx="6234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drop the dependent variable (</a:t>
            </a:r>
            <a:r>
              <a:rPr lang="en" sz="1800" i="1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Item_Outlet_Sales</a:t>
            </a: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first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00" y="1198988"/>
            <a:ext cx="6416774" cy="253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39125" y="3536150"/>
            <a:ext cx="7209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95858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we don’t have any variables with a high correlation in our dataset.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Google Shape;95;p18">
            <a:extLst>
              <a:ext uri="{FF2B5EF4-FFF2-40B4-BE49-F238E27FC236}">
                <a16:creationId xmlns:a16="http://schemas.microsoft.com/office/drawing/2014/main" id="{4648BDE8-039A-4A06-A9FF-7647BADBCD1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18">
            <a:extLst>
              <a:ext uri="{FF2B5EF4-FFF2-40B4-BE49-F238E27FC236}">
                <a16:creationId xmlns:a16="http://schemas.microsoft.com/office/drawing/2014/main" id="{B0AE5764-505D-4E10-B5A5-E95E0037C5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8">
            <a:extLst>
              <a:ext uri="{FF2B5EF4-FFF2-40B4-BE49-F238E27FC236}">
                <a16:creationId xmlns:a16="http://schemas.microsoft.com/office/drawing/2014/main" id="{115A9140-8CF9-4C17-BC68-E281F1E06E5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46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Backward Feature Elimination:</a:t>
            </a:r>
            <a:endParaRPr sz="2400" b="1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1D1F22"/>
              </a:buClr>
              <a:buSzPts val="1400"/>
              <a:buChar char="●"/>
            </a:pPr>
            <a:r>
              <a:rPr lang="en" sz="1400">
                <a:solidFill>
                  <a:srgbClr val="1D1F22"/>
                </a:solidFill>
                <a:highlight>
                  <a:schemeClr val="lt1"/>
                </a:highlight>
              </a:rPr>
              <a:t>This module can be used for dimensionality reduction on sample sets, either to improve estimators’ accuracy scores or to boost their performance on very high-dimensional datasets.</a:t>
            </a:r>
            <a:endParaRPr sz="1400">
              <a:solidFill>
                <a:srgbClr val="1D1F22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400"/>
              <a:buChar char="●"/>
            </a:pPr>
            <a:r>
              <a:rPr lang="en" sz="1400" b="1">
                <a:solidFill>
                  <a:srgbClr val="1D1F22"/>
                </a:solidFill>
                <a:highlight>
                  <a:schemeClr val="lt1"/>
                </a:highlight>
              </a:rPr>
              <a:t>Recursive feature elimination</a:t>
            </a:r>
            <a:r>
              <a:rPr lang="en" sz="1400">
                <a:solidFill>
                  <a:srgbClr val="1D1F22"/>
                </a:solidFill>
                <a:highlight>
                  <a:schemeClr val="lt1"/>
                </a:highlight>
              </a:rPr>
              <a:t>  is to select features by recursively considering smaller and smaller sets of features. First, the estimator is trained on the initial set of features and the importance of each feature is obtained.</a:t>
            </a:r>
            <a:endParaRPr sz="1400">
              <a:solidFill>
                <a:srgbClr val="1D1F22"/>
              </a:solidFill>
              <a:highlight>
                <a:schemeClr val="lt1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400"/>
              <a:buChar char="●"/>
            </a:pPr>
            <a:r>
              <a:rPr lang="en" sz="1400">
                <a:solidFill>
                  <a:srgbClr val="1D1F22"/>
                </a:solidFill>
                <a:highlight>
                  <a:schemeClr val="lt1"/>
                </a:highlight>
              </a:rPr>
              <a:t>Least important features are pruned from current set of features.</a:t>
            </a:r>
            <a:endParaRPr sz="1400" b="1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Follow the below steps to understand and use the ‘Backward Feature Elimination’ technique:</a:t>
            </a:r>
            <a:endParaRPr sz="1400" b="1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First take all the n variables present in our dataset and train the model using them.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Now, we compute the performance of the model after eliminating each variable (n times), i.e., we drop one variable every time and train the model on the remaining n-1 variables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Identify the variable whose removal has produced the smallest (or no) change in the performance of the model, and then drop that variable.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Repeat this process until no variable can be dropped.</a:t>
            </a:r>
            <a:endParaRPr sz="1400" b="1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314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This method can be used when building Linear Regression or Logistic Regression models</a:t>
            </a: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First we import The libraries.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read the CSV file.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9420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1423950"/>
            <a:ext cx="7895549" cy="31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Drop the target variable from the Dataset  and we also we drop the features which we don’t use for predicting.</a:t>
            </a: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838" y="1095300"/>
            <a:ext cx="7888574" cy="33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Convert the categorical features to numeric:</a:t>
            </a: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9420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25" y="813875"/>
            <a:ext cx="7819349" cy="34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Importing RFE function and run the model.</a:t>
            </a: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 sz="1400" b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the algorithm to specify the  number of features to select, and we get back the list of variables obtained from backward feature elimination.</a:t>
            </a:r>
            <a:endParaRPr sz="1400" b="1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b="1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38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800" y="1201550"/>
            <a:ext cx="6514474" cy="33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</a:rPr>
              <a:t>Forward Feature Selection: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This is the opposite process of the Backward Feature Elimination.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Instead of eliminating features, we try to find the best features which improve the performance of the model. 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Start with a single feature. Essentially, we train the model n number of times using each feature separately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The variable giving the best performance is selected as the starting variable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Then we repeat this process and add one variable at a time. The variable that produces the highest increase in performance is retained</a:t>
            </a:r>
            <a:endParaRPr sz="1400">
              <a:solidFill>
                <a:srgbClr val="59585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latin typeface="Roboto"/>
                <a:ea typeface="Roboto"/>
                <a:cs typeface="Roboto"/>
                <a:sym typeface="Roboto"/>
              </a:rPr>
              <a:t>Repeat this process until no significant improvement is seen in the model’s performance.</a:t>
            </a:r>
            <a:endParaRPr sz="1400" b="1">
              <a:solidFill>
                <a:srgbClr val="0000FF"/>
              </a:solidFill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764800" cy="46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Apply the Forward Feature selection in python:</a:t>
            </a:r>
            <a:endParaRPr sz="14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888" y="922400"/>
            <a:ext cx="8081025" cy="35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0" y="4368500"/>
            <a:ext cx="76521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the above an array containing the F-values of the variables and the p-values corresponding to each F value.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832300" cy="47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select the top most variables based on the forward feature selection algorithm.we will select the variables having F-value greater than 10.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00" y="834225"/>
            <a:ext cx="6308625" cy="3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73763" y="4033125"/>
            <a:ext cx="75645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Both Backward Feature Elimination and Forward Feature Selection are time consuming and computationally expensive.</a:t>
            </a:r>
            <a:endParaRPr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They are practically only used on datasets that have a small number of input variables.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</a:rPr>
              <a:t> Factor Analysis:</a:t>
            </a:r>
            <a:endParaRPr sz="2400" b="1" dirty="0">
              <a:solidFill>
                <a:srgbClr val="0000FF"/>
              </a:solidFill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Factor analysis  is a statistical technique used to identify latent relationships among sets of observed variables in a dataset. </a:t>
            </a:r>
            <a:endParaRPr sz="1400" dirty="0">
              <a:solidFill>
                <a:srgbClr val="464646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This model </a:t>
            </a:r>
            <a:r>
              <a:rPr lang="en-US" sz="1400" dirty="0">
                <a:solidFill>
                  <a:srgbClr val="464646"/>
                </a:solidFill>
                <a:highlight>
                  <a:srgbClr val="FDFDFD"/>
                </a:highlight>
              </a:rPr>
              <a:t>has</a:t>
            </a: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 a large set of observed variables as linear combinations of some smaller set of unobserved, latent factors.</a:t>
            </a:r>
            <a:endParaRPr sz="1400" dirty="0">
              <a:solidFill>
                <a:srgbClr val="464646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Factor loadings, generated from an </a:t>
            </a:r>
            <a:r>
              <a:rPr lang="en" sz="1400" b="1" dirty="0">
                <a:solidFill>
                  <a:srgbClr val="464646"/>
                </a:solidFill>
                <a:highlight>
                  <a:srgbClr val="FDFDFD"/>
                </a:highlight>
              </a:rPr>
              <a:t>Factor Analysis</a:t>
            </a: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 model describes the underlying relationships between each variable and the latent factors.</a:t>
            </a:r>
            <a:endParaRPr sz="1400" dirty="0">
              <a:solidFill>
                <a:srgbClr val="464646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The factor analysis model can be estimated using a variety of standard estimation methods  minres or MLE. </a:t>
            </a:r>
            <a:endParaRPr sz="1400" dirty="0">
              <a:solidFill>
                <a:srgbClr val="464646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Number of factors (K) is selected such that it is substantially smaller than the number of variables.</a:t>
            </a:r>
            <a:endParaRPr sz="1400" dirty="0">
              <a:solidFill>
                <a:srgbClr val="464646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Char char="●"/>
            </a:pPr>
            <a:r>
              <a:rPr lang="en" sz="1400" dirty="0">
                <a:solidFill>
                  <a:srgbClr val="464646"/>
                </a:solidFill>
                <a:highlight>
                  <a:srgbClr val="FDFDFD"/>
                </a:highlight>
              </a:rPr>
              <a:t>Factor loadings are similar to standardized regression coefficients.</a:t>
            </a:r>
            <a:endParaRPr sz="1400" b="1" dirty="0">
              <a:solidFill>
                <a:srgbClr val="0000FF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8473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For Factor Analysis we have a stand-alone Python module FactorAnalyzer() class.</a:t>
            </a:r>
            <a:endParaRPr sz="14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975" y="998688"/>
            <a:ext cx="62103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which feature have the heighest uniqueness value that feature is the first importent variable.</a:t>
            </a:r>
            <a:endParaRPr sz="14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314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900" y="1117575"/>
            <a:ext cx="5619750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</a:rPr>
              <a:t>Principal Component Analysis (PCA):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Principal component analysis is a method of extracting important variables  from a large set of variables available in a data set.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this technique, variables are transformed into a new set of variables, which are linear combination of original variables. These new set of variables are known as </a:t>
            </a: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principal components.</a:t>
            </a: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is always performed on a symmetric correlation or covariance matrix. This means the matrix should be numeric and have standardized data.</a:t>
            </a:r>
            <a:endParaRPr sz="1400" b="1">
              <a:solidFill>
                <a:srgbClr val="0000FF"/>
              </a:solidFill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</a:rPr>
              <a:t>Principal components:</a:t>
            </a:r>
            <a:endParaRPr sz="2400" b="1" dirty="0">
              <a:solidFill>
                <a:srgbClr val="0000FF"/>
              </a:solidFill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principal component is a normalized linear combination of the original predictors in a data set.</a:t>
            </a:r>
            <a:endParaRPr sz="1400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 have a set of predictors x1,x2 ….xn</a:t>
            </a:r>
            <a:endParaRPr sz="1400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principal component can be written as:</a:t>
            </a:r>
            <a:endParaRPr sz="1400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r>
              <a:rPr lang="en" sz="1150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400" dirty="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Z¹ = Φ¹¹X¹ + Φ²¹X² + Φ³¹X³ + .... +</a:t>
            </a:r>
            <a:r>
              <a:rPr lang="en" sz="1400" dirty="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cs typeface="Courier New"/>
                <a:sym typeface="Roboto"/>
              </a:rPr>
              <a:t>Φp</a:t>
            </a:r>
            <a:r>
              <a:rPr lang="en" sz="1400" dirty="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cs typeface="Courier New"/>
                <a:sym typeface="Courier New"/>
              </a:rPr>
              <a:t>¹Xp</a:t>
            </a:r>
            <a:endParaRPr sz="1400" dirty="0">
              <a:solidFill>
                <a:srgbClr val="C7254E"/>
              </a:solidFill>
              <a:highlight>
                <a:srgbClr val="F9F2F4"/>
              </a:highlight>
              <a:latin typeface="Courier New"/>
              <a:cs typeface="Courier New"/>
              <a:sym typeface="Roboto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/>
        </p:nvSpPr>
        <p:spPr>
          <a:xfrm>
            <a:off x="25057" y="2797475"/>
            <a:ext cx="86340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First principal component(z1):</a:t>
            </a: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This is a linear combination of original predictor variables .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captures the maximum variance in the data set. 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determines the direction of highest variability in the data.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Larger the variability captured in first component, larger the information captured by component.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 other component can have variability higher than first principal component.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minimizes the sum of squared distance between a data point and the line.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0" y="42600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Second principal component(z2):</a:t>
            </a:r>
            <a:endParaRPr sz="1400" b="1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Is also a linear combination of original predictors which captures the remaining variance in the data set and is uncorrelated with z1.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correlation between first and second component should is zero. 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It can be represented as: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</a:t>
            </a:r>
            <a:r>
              <a:rPr lang="en" sz="140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Z² = Φ¹²X¹ + Φ²²X² + Φ³²X³ + .... + Φ</a:t>
            </a:r>
            <a:r>
              <a:rPr lang="en" sz="1400">
                <a:solidFill>
                  <a:srgbClr val="C7254E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" sz="140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Xp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314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0" y="2924700"/>
            <a:ext cx="8721600" cy="13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the two components are uncorrelated, their directions should be orthogonal . 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 correlation between these principle components in zero.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All succeeding principal component follows a similar concept i.e. they capture the remaining variation without being correlated with the previous component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general, for </a:t>
            </a:r>
            <a:r>
              <a:rPr lang="en" i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 × p</a:t>
            </a: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dimensional data, min(</a:t>
            </a:r>
            <a:r>
              <a:rPr lang="en" i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n-1, p)</a:t>
            </a: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principal component can be constructed.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body" idx="1"/>
          </p:nvPr>
        </p:nvSpPr>
        <p:spPr>
          <a:xfrm>
            <a:off x="0" y="266225"/>
            <a:ext cx="85206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</a:rPr>
              <a:t>Normalization of variables:</a:t>
            </a:r>
            <a:endParaRPr sz="2400" b="1">
              <a:solidFill>
                <a:srgbClr val="0000FF"/>
              </a:solidFill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principal components are supplied with normalized version of original predictors. 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original predictors may have different scales.so we  normalize the data.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Performing PCA on un-normalized variables will lead to insanely large loadings for variables with high variance. 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This will lead to dependence of a principal component on the variable with high variance. This is undesirable.</a:t>
            </a:r>
            <a:endParaRPr sz="1400" b="1">
              <a:solidFill>
                <a:srgbClr val="0000FF"/>
              </a:solidFill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2261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00F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Implement PCA in python:</a:t>
            </a:r>
            <a:endParaRPr sz="2400" b="1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0000F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2261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250" y="981650"/>
            <a:ext cx="7346324" cy="37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Visualize how much variance has been explained using these 4 components. 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lang="en" sz="1400" i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explained_variance_ratio_</a:t>
            </a: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to calculate the variance ratio of the components.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25" y="4958675"/>
            <a:ext cx="1264001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8473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300" y="1252325"/>
            <a:ext cx="6046224" cy="293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0" y="4232488"/>
            <a:ext cx="76521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the above graph, the blue line represents component-wise explained variance while the orange line represents the cumulative explained variance. </a:t>
            </a:r>
            <a:endParaRPr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We are able to explain around 98% variance in the dataset using just four components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Finally concate the target variable to the principal  components and we  run the algorithm what we want.</a:t>
            </a: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40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9420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125" y="1099650"/>
            <a:ext cx="8036824" cy="3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FF"/>
                </a:solidFill>
              </a:rPr>
              <a:t>Summary:</a:t>
            </a:r>
            <a:endParaRPr sz="2400" b="1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In this Slide show we covered  some topics on Dimensionality reduction. Which are 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Missing Value Ratio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Low Variance Filter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High Correlation Filter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dirty="0" err="1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RandomForest</a:t>
            </a:r>
            <a:endParaRPr lang="en"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Backward Feature Elimination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Forward Feature Selection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Factor Analysis</a:t>
            </a:r>
            <a:endParaRPr sz="1400" b="1" dirty="0">
              <a:solidFill>
                <a:srgbClr val="595858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595858"/>
              </a:buClr>
              <a:buSzPts val="1400"/>
              <a:buFont typeface="Roboto"/>
              <a:buChar char="●"/>
            </a:pPr>
            <a:r>
              <a:rPr lang="en" sz="1400" b="1" dirty="0">
                <a:solidFill>
                  <a:srgbClr val="59585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Principal Component Analysis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	</a:t>
            </a:r>
            <a:endParaRPr sz="1400" dirty="0">
              <a:solidFill>
                <a:srgbClr val="000000"/>
              </a:solidFill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475"/>
            <a:ext cx="1409850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050" y="140725"/>
            <a:ext cx="1491949" cy="1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367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body" idx="1"/>
          </p:nvPr>
        </p:nvSpPr>
        <p:spPr>
          <a:xfrm>
            <a:off x="0" y="305125"/>
            <a:ext cx="8832300" cy="44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63" name="Google Shape;2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261" y="4598025"/>
            <a:ext cx="1568576" cy="5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750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 txBox="1"/>
          <p:nvPr/>
        </p:nvSpPr>
        <p:spPr>
          <a:xfrm>
            <a:off x="4180900" y="1806550"/>
            <a:ext cx="27126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4A86E8"/>
                </a:solidFill>
              </a:rPr>
              <a:t>Thank You</a:t>
            </a:r>
            <a:endParaRPr sz="3000" b="1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1752</Words>
  <Application>Microsoft Office PowerPoint</Application>
  <PresentationFormat>On-screen Show (16:9)</PresentationFormat>
  <Paragraphs>141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Courier New</vt:lpstr>
      <vt:lpstr>Arial</vt:lpstr>
      <vt:lpstr>Lato</vt:lpstr>
      <vt:lpstr>Wingdings</vt:lpstr>
      <vt:lpstr>Roboto</vt:lpstr>
      <vt:lpstr>Simple Light</vt:lpstr>
      <vt:lpstr>PowerPoint Presentation</vt:lpstr>
      <vt:lpstr>             Dimensionality Reduction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Neelima Vobugari</cp:lastModifiedBy>
  <cp:revision>37</cp:revision>
  <dcterms:modified xsi:type="dcterms:W3CDTF">2018-10-05T15:11:14Z</dcterms:modified>
</cp:coreProperties>
</file>
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0"/>
  </p:notesMasterIdLst>
  <p:sldIdLst>
    <p:sldId id="256" r:id="rId2"/>
    <p:sldId id="257" r:id="rId3"/>
    <p:sldId id="259" r:id="rId4"/>
    <p:sldId id="262" r:id="rId5"/>
    <p:sldId id="263" r:id="rId6"/>
    <p:sldId id="264" r:id="rId7"/>
    <p:sldId id="268" r:id="rId8"/>
    <p:sldId id="270" r:id="rId9"/>
    <p:sldId id="271" r:id="rId10"/>
    <p:sldId id="272" r:id="rId11"/>
    <p:sldId id="273" r:id="rId12"/>
    <p:sldId id="274" r:id="rId13"/>
    <p:sldId id="275" r:id="rId14"/>
    <p:sldId id="279" r:id="rId15"/>
    <p:sldId id="281" r:id="rId16"/>
    <p:sldId id="282" r:id="rId17"/>
    <p:sldId id="283" r:id="rId18"/>
    <p:sldId id="284" r:id="rId19"/>
    <p:sldId id="285" r:id="rId20"/>
    <p:sldId id="286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6" r:id="rId34"/>
    <p:sldId id="309" r:id="rId35"/>
    <p:sldId id="310" r:id="rId36"/>
    <p:sldId id="311" r:id="rId37"/>
    <p:sldId id="312" r:id="rId38"/>
    <p:sldId id="313" r:id="rId39"/>
    <p:sldId id="317" r:id="rId40"/>
    <p:sldId id="318" r:id="rId41"/>
    <p:sldId id="319" r:id="rId42"/>
    <p:sldId id="320" r:id="rId43"/>
    <p:sldId id="321" r:id="rId44"/>
    <p:sldId id="322" r:id="rId45"/>
    <p:sldId id="323" r:id="rId46"/>
    <p:sldId id="324" r:id="rId47"/>
    <p:sldId id="325" r:id="rId48"/>
    <p:sldId id="326" r:id="rId49"/>
    <p:sldId id="327" r:id="rId50"/>
    <p:sldId id="330" r:id="rId51"/>
    <p:sldId id="332" r:id="rId52"/>
    <p:sldId id="333" r:id="rId53"/>
    <p:sldId id="334" r:id="rId54"/>
    <p:sldId id="343" r:id="rId55"/>
    <p:sldId id="340" r:id="rId56"/>
    <p:sldId id="341" r:id="rId57"/>
    <p:sldId id="342" r:id="rId58"/>
    <p:sldId id="339" r:id="rId59"/>
  </p:sldIdLst>
  <p:sldSz cx="9144000" cy="5143500" type="screen16x9"/>
  <p:notesSz cx="6858000" cy="9144000"/>
  <p:embeddedFontLst>
    <p:embeddedFont>
      <p:font typeface="Microsoft YaHei" pitchFamily="34" charset="-122"/>
      <p:regular r:id="rId61"/>
      <p:bold r:id="rId62"/>
    </p:embeddedFont>
    <p:embeddedFont>
      <p:font typeface="Calibri" pitchFamily="34" charset="0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-774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3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430fef319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430fef319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430fef3192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430fef3192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430fef3192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430fef3192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430fef3192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430fef3192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30fef3192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430fef3192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30fef3192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30fef3192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30fef3192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430fef3192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430fef3192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430fef3192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30fef3192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30fef3192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430fef3192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430fef3192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30fef3192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30fef3192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430fef3192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430fef3192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430fef3192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430fef3192_0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430fef3192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430fef3192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30fef3192_0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430fef3192_0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430fef3192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430fef3192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430fef3192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430fef3192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430fef3192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430fef3192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430fef3192_0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430fef3192_0_4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430fef3192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430fef3192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430fef3192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430fef3192_0_4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430fef3192_0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430fef3192_0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430fef3192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430fef3192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430fef3192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430fef3192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430fef3192_0_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430fef3192_0_4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430fef3192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430fef3192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430fef3192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430fef3192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430fef3192_0_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430fef3192_0_5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430fef3192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430fef3192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430fef3192_0_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430fef3192_0_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430fef3192_0_5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430fef3192_0_5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430fef3192_0_6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430fef3192_0_6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430fef3192_0_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430fef3192_0_6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430fef3192_0_6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430fef3192_0_6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430fef3192_0_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430fef3192_0_6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430fef3192_0_6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430fef3192_0_6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430fef3192_0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430fef3192_0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430fef3192_0_7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430fef3192_0_7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430fef3192_0_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430fef3192_0_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430fef3192_0_7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430fef3192_0_7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430fef3192_0_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430fef3192_0_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430fef3192_0_7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430fef3192_0_7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430fef3192_0_7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430fef3192_0_7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430fef3192_0_7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430fef3192_0_7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430fef3192_0_7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430fef3192_0_7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430fef3192_0_7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430fef3192_0_7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430fef3192_0_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430fef3192_0_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430fef3192_0_8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430fef3192_0_8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430fef3192_0_9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430fef3192_0_9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430fef3192_0_8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430fef3192_0_8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430fef3192_0_8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430fef3192_0_8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430fef3192_0_8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430fef3192_0_8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/>
          <p:cNvSpPr>
            <a:spLocks noGrp="1" noChangeArrowheads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/>
        </p:spPr>
        <p:txBody>
          <a:bodyPr/>
          <a:lstStyle/>
          <a:p>
            <a:fld id="{633B7C20-779D-4447-BBDC-F5ADF730DFFA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/>
        </p:spPr>
        <p:txBody>
          <a:bodyPr wrap="none" anchor="ctr"/>
          <a:lstStyle/>
          <a:p>
            <a:pPr marL="215900" indent="-214313" eaLnBrk="1">
              <a:spcBef>
                <a:spcPct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</a:pPr>
            <a:endParaRPr lang="en-US" altLang="en-US" sz="2000" smtClean="0">
              <a:latin typeface="Arial" pitchFamily="34" charset="0"/>
              <a:ea typeface="Microsoft YaHei" pitchFamily="34" charset="-122"/>
            </a:endParaRPr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3417654C-C688-40DB-B57B-49990DF6001A}" type="slidenum">
              <a:rPr lang="en-US" altLang="en-US" sz="1900">
                <a:solidFill>
                  <a:srgbClr val="000000"/>
                </a:solidFill>
                <a:latin typeface="Calibri" pitchFamily="34" charset="0"/>
              </a:rPr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</a:pPr>
              <a:t>55</a:t>
            </a:fld>
            <a:endParaRPr lang="en-US" altLang="en-US" sz="1900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/>
          <p:cNvSpPr>
            <a:spLocks noGrp="1" noChangeArrowheads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/>
        </p:spPr>
        <p:txBody>
          <a:bodyPr/>
          <a:lstStyle/>
          <a:p>
            <a:fld id="{318A5620-A22C-42A8-B283-94D4D601BCFC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4403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403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/>
        </p:spPr>
        <p:txBody>
          <a:bodyPr wrap="none" anchor="ctr"/>
          <a:lstStyle/>
          <a:p>
            <a:pPr marL="215900" indent="-214313" eaLnBrk="1">
              <a:spcBef>
                <a:spcPct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</a:pPr>
            <a:endParaRPr lang="en-US" altLang="en-US" sz="2000" smtClean="0">
              <a:latin typeface="Arial" pitchFamily="34" charset="0"/>
              <a:ea typeface="Microsoft YaHei" pitchFamily="34" charset="-122"/>
            </a:endParaRPr>
          </a:p>
        </p:txBody>
      </p:sp>
      <p:sp>
        <p:nvSpPr>
          <p:cNvPr id="44037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683D5F48-C880-4D3F-997F-B3CE19BD6C9B}" type="slidenum">
              <a:rPr lang="en-US" altLang="en-US" sz="1900">
                <a:solidFill>
                  <a:srgbClr val="000000"/>
                </a:solidFill>
                <a:latin typeface="Calibri" pitchFamily="34" charset="0"/>
              </a:rPr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</a:pPr>
              <a:t>56</a:t>
            </a:fld>
            <a:endParaRPr lang="en-US" altLang="en-US" sz="1900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43133f8b3d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43133f8b3d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430fef3192_0_8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430fef3192_0_8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981916" y="2624223"/>
            <a:ext cx="3593082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300" i="1" baseline="0">
                <a:solidFill>
                  <a:schemeClr val="tx1"/>
                </a:solidFill>
                <a:latin typeface="Helvetica LT Std Cond Light" panose="020B040602020203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the Topic Title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109" y="2057702"/>
            <a:ext cx="680400" cy="6735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81975" y="2134510"/>
            <a:ext cx="3593024" cy="4847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IN" sz="2700" b="1" dirty="0">
                <a:solidFill>
                  <a:srgbClr val="02918B"/>
                </a:solidFill>
                <a:latin typeface="Helvetica LT Std Cond Light" panose="020B0406020202030204" pitchFamily="34" charset="0"/>
                <a:cs typeface="Arial" panose="020B0604020202020204" pitchFamily="34" charset="0"/>
              </a:rPr>
              <a:t>INTRODUCTION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109" y="2057702"/>
            <a:ext cx="680400" cy="673527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4981975" y="2134510"/>
            <a:ext cx="3593024" cy="4847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IN" sz="2700" b="1" dirty="0">
                <a:solidFill>
                  <a:srgbClr val="02918B"/>
                </a:solidFill>
                <a:latin typeface="Helvetica LT Std Cond Light" panose="020B040602020203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35000" y="4840944"/>
            <a:ext cx="451822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fld id="{80185F77-B28D-4181-BD8D-423D01B3D466}" type="slidenum">
              <a:rPr lang="en-IN" sz="900" smtClean="0">
                <a:solidFill>
                  <a:schemeClr val="bg1">
                    <a:lumMod val="50000"/>
                  </a:schemeClr>
                </a:solidFill>
              </a:rPr>
              <a:pPr algn="ctr"/>
              <a:t>‹#›</a:t>
            </a:fld>
            <a:endParaRPr lang="en-IN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8"/>
          <p:cNvSpPr/>
          <p:nvPr userDrawn="1"/>
        </p:nvSpPr>
        <p:spPr>
          <a:xfrm>
            <a:off x="-1" y="4805307"/>
            <a:ext cx="2142637" cy="223512"/>
          </a:xfrm>
          <a:custGeom>
            <a:avLst/>
            <a:gdLst>
              <a:gd name="connsiteX0" fmla="*/ 0 w 7272169"/>
              <a:gd name="connsiteY0" fmla="*/ 0 h 1161826"/>
              <a:gd name="connsiteX1" fmla="*/ 7272169 w 7272169"/>
              <a:gd name="connsiteY1" fmla="*/ 0 h 1161826"/>
              <a:gd name="connsiteX2" fmla="*/ 7272169 w 7272169"/>
              <a:gd name="connsiteY2" fmla="*/ 1161826 h 1161826"/>
              <a:gd name="connsiteX3" fmla="*/ 0 w 7272169"/>
              <a:gd name="connsiteY3" fmla="*/ 1161826 h 1161826"/>
              <a:gd name="connsiteX4" fmla="*/ 0 w 7272169"/>
              <a:gd name="connsiteY4" fmla="*/ 0 h 1161826"/>
              <a:gd name="connsiteX0" fmla="*/ 0 w 7906870"/>
              <a:gd name="connsiteY0" fmla="*/ 0 h 1161826"/>
              <a:gd name="connsiteX1" fmla="*/ 7906870 w 7906870"/>
              <a:gd name="connsiteY1" fmla="*/ 0 h 1161826"/>
              <a:gd name="connsiteX2" fmla="*/ 7272169 w 7906870"/>
              <a:gd name="connsiteY2" fmla="*/ 1161826 h 1161826"/>
              <a:gd name="connsiteX3" fmla="*/ 0 w 7906870"/>
              <a:gd name="connsiteY3" fmla="*/ 1161826 h 1161826"/>
              <a:gd name="connsiteX4" fmla="*/ 0 w 7906870"/>
              <a:gd name="connsiteY4" fmla="*/ 0 h 1161826"/>
              <a:gd name="connsiteX0" fmla="*/ 0 w 7906870"/>
              <a:gd name="connsiteY0" fmla="*/ 0 h 1172583"/>
              <a:gd name="connsiteX1" fmla="*/ 7906870 w 7906870"/>
              <a:gd name="connsiteY1" fmla="*/ 0 h 1172583"/>
              <a:gd name="connsiteX2" fmla="*/ 7250654 w 7906870"/>
              <a:gd name="connsiteY2" fmla="*/ 1172583 h 1172583"/>
              <a:gd name="connsiteX3" fmla="*/ 0 w 7906870"/>
              <a:gd name="connsiteY3" fmla="*/ 1161826 h 1172583"/>
              <a:gd name="connsiteX4" fmla="*/ 0 w 7906870"/>
              <a:gd name="connsiteY4" fmla="*/ 0 h 1172583"/>
              <a:gd name="connsiteX0" fmla="*/ 0 w 7906870"/>
              <a:gd name="connsiteY0" fmla="*/ 0 h 1181050"/>
              <a:gd name="connsiteX1" fmla="*/ 7906870 w 7906870"/>
              <a:gd name="connsiteY1" fmla="*/ 0 h 1181050"/>
              <a:gd name="connsiteX2" fmla="*/ 7221021 w 7906870"/>
              <a:gd name="connsiteY2" fmla="*/ 1181050 h 1181050"/>
              <a:gd name="connsiteX3" fmla="*/ 0 w 7906870"/>
              <a:gd name="connsiteY3" fmla="*/ 1161826 h 1181050"/>
              <a:gd name="connsiteX4" fmla="*/ 0 w 7906870"/>
              <a:gd name="connsiteY4" fmla="*/ 0 h 1181050"/>
              <a:gd name="connsiteX0" fmla="*/ 0 w 7916598"/>
              <a:gd name="connsiteY0" fmla="*/ 0 h 1181050"/>
              <a:gd name="connsiteX1" fmla="*/ 7916598 w 7916598"/>
              <a:gd name="connsiteY1" fmla="*/ 0 h 1181050"/>
              <a:gd name="connsiteX2" fmla="*/ 7221021 w 7916598"/>
              <a:gd name="connsiteY2" fmla="*/ 1181050 h 1181050"/>
              <a:gd name="connsiteX3" fmla="*/ 0 w 7916598"/>
              <a:gd name="connsiteY3" fmla="*/ 1161826 h 1181050"/>
              <a:gd name="connsiteX4" fmla="*/ 0 w 7916598"/>
              <a:gd name="connsiteY4" fmla="*/ 0 h 1181050"/>
              <a:gd name="connsiteX0" fmla="*/ 0 w 7916598"/>
              <a:gd name="connsiteY0" fmla="*/ 0 h 1185914"/>
              <a:gd name="connsiteX1" fmla="*/ 7916598 w 7916598"/>
              <a:gd name="connsiteY1" fmla="*/ 0 h 1185914"/>
              <a:gd name="connsiteX2" fmla="*/ 7225885 w 7916598"/>
              <a:gd name="connsiteY2" fmla="*/ 1185914 h 1185914"/>
              <a:gd name="connsiteX3" fmla="*/ 0 w 7916598"/>
              <a:gd name="connsiteY3" fmla="*/ 1161826 h 1185914"/>
              <a:gd name="connsiteX4" fmla="*/ 0 w 7916598"/>
              <a:gd name="connsiteY4" fmla="*/ 0 h 1185914"/>
              <a:gd name="connsiteX0" fmla="*/ 3469072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3469072 w 11385670"/>
              <a:gd name="connsiteY4" fmla="*/ 0 h 1185914"/>
              <a:gd name="connsiteX0" fmla="*/ 22238 w 11385670"/>
              <a:gd name="connsiteY0" fmla="*/ 0 h 1185914"/>
              <a:gd name="connsiteX1" fmla="*/ 11385670 w 11385670"/>
              <a:gd name="connsiteY1" fmla="*/ 0 h 1185914"/>
              <a:gd name="connsiteX2" fmla="*/ 10694957 w 11385670"/>
              <a:gd name="connsiteY2" fmla="*/ 1185914 h 1185914"/>
              <a:gd name="connsiteX3" fmla="*/ 0 w 11385670"/>
              <a:gd name="connsiteY3" fmla="*/ 1184130 h 1185914"/>
              <a:gd name="connsiteX4" fmla="*/ 22238 w 11385670"/>
              <a:gd name="connsiteY4" fmla="*/ 0 h 1185914"/>
              <a:gd name="connsiteX0" fmla="*/ 0 w 11389453"/>
              <a:gd name="connsiteY0" fmla="*/ 26092 h 1185914"/>
              <a:gd name="connsiteX1" fmla="*/ 11389453 w 11389453"/>
              <a:gd name="connsiteY1" fmla="*/ 0 h 1185914"/>
              <a:gd name="connsiteX2" fmla="*/ 10698740 w 11389453"/>
              <a:gd name="connsiteY2" fmla="*/ 1185914 h 1185914"/>
              <a:gd name="connsiteX3" fmla="*/ 3783 w 11389453"/>
              <a:gd name="connsiteY3" fmla="*/ 1184130 h 1185914"/>
              <a:gd name="connsiteX4" fmla="*/ 0 w 11389453"/>
              <a:gd name="connsiteY4" fmla="*/ 26092 h 1185914"/>
              <a:gd name="connsiteX0" fmla="*/ 0 w 11389453"/>
              <a:gd name="connsiteY0" fmla="*/ 26092 h 1216179"/>
              <a:gd name="connsiteX1" fmla="*/ 11389453 w 11389453"/>
              <a:gd name="connsiteY1" fmla="*/ 0 h 1216179"/>
              <a:gd name="connsiteX2" fmla="*/ 10698740 w 11389453"/>
              <a:gd name="connsiteY2" fmla="*/ 1185914 h 1216179"/>
              <a:gd name="connsiteX3" fmla="*/ 814131 w 11389453"/>
              <a:gd name="connsiteY3" fmla="*/ 1216179 h 1216179"/>
              <a:gd name="connsiteX4" fmla="*/ 0 w 11389453"/>
              <a:gd name="connsiteY4" fmla="*/ 26092 h 1216179"/>
              <a:gd name="connsiteX0" fmla="*/ 0 w 10579107"/>
              <a:gd name="connsiteY0" fmla="*/ 58139 h 1216179"/>
              <a:gd name="connsiteX1" fmla="*/ 10579107 w 10579107"/>
              <a:gd name="connsiteY1" fmla="*/ 0 h 1216179"/>
              <a:gd name="connsiteX2" fmla="*/ 9888394 w 10579107"/>
              <a:gd name="connsiteY2" fmla="*/ 1185914 h 1216179"/>
              <a:gd name="connsiteX3" fmla="*/ 3785 w 10579107"/>
              <a:gd name="connsiteY3" fmla="*/ 1216179 h 1216179"/>
              <a:gd name="connsiteX4" fmla="*/ 0 w 10579107"/>
              <a:gd name="connsiteY4" fmla="*/ 58139 h 1216179"/>
              <a:gd name="connsiteX0" fmla="*/ 0 w 10579107"/>
              <a:gd name="connsiteY0" fmla="*/ 0 h 1222142"/>
              <a:gd name="connsiteX1" fmla="*/ 10579107 w 10579107"/>
              <a:gd name="connsiteY1" fmla="*/ 5963 h 1222142"/>
              <a:gd name="connsiteX2" fmla="*/ 9888394 w 10579107"/>
              <a:gd name="connsiteY2" fmla="*/ 1191877 h 1222142"/>
              <a:gd name="connsiteX3" fmla="*/ 3785 w 10579107"/>
              <a:gd name="connsiteY3" fmla="*/ 1222142 h 1222142"/>
              <a:gd name="connsiteX4" fmla="*/ 0 w 10579107"/>
              <a:gd name="connsiteY4" fmla="*/ 0 h 122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9107" h="1222142">
                <a:moveTo>
                  <a:pt x="0" y="0"/>
                </a:moveTo>
                <a:lnTo>
                  <a:pt x="10579107" y="5963"/>
                </a:lnTo>
                <a:lnTo>
                  <a:pt x="9888394" y="1191877"/>
                </a:lnTo>
                <a:lnTo>
                  <a:pt x="3785" y="1222142"/>
                </a:lnTo>
                <a:cubicBezTo>
                  <a:pt x="2523" y="836129"/>
                  <a:pt x="1262" y="386013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500264" y="4818959"/>
            <a:ext cx="2322978" cy="19620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|  Manipalprolearn.com</a:t>
            </a:r>
            <a:endParaRPr lang="en-US" sz="900" b="1" dirty="0">
              <a:solidFill>
                <a:schemeClr val="bg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1753" y="4811171"/>
            <a:ext cx="451822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fld id="{80185F77-B28D-4181-BD8D-423D01B3D466}" type="slidenum">
              <a:rPr lang="en-IN" sz="900" smtClean="0">
                <a:solidFill>
                  <a:schemeClr val="bg1">
                    <a:lumMod val="50000"/>
                  </a:schemeClr>
                </a:solidFill>
              </a:rPr>
              <a:pPr algn="ctr"/>
              <a:t>‹#›</a:t>
            </a:fld>
            <a:endParaRPr lang="en-IN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9914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www.tarahtech.com/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550" y="993950"/>
            <a:ext cx="5693176" cy="203384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136825" y="3027825"/>
            <a:ext cx="25554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hlinkClick r:id="rId5"/>
              </a:rPr>
              <a:t>www.tarahtech.com</a:t>
            </a:r>
            <a:endParaRPr u="sng">
              <a:hlinkClick r:id="rId5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0050" y="0"/>
            <a:ext cx="1743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3050" y="0"/>
            <a:ext cx="50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214325" y="1464475"/>
            <a:ext cx="6084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dirty="0"/>
              <a:t>A primer on </a:t>
            </a:r>
            <a:r>
              <a:rPr lang="en" sz="4400" b="1" dirty="0" smtClean="0"/>
              <a:t>Analytics and AI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dirty="0" smtClean="0"/>
              <a:t> 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151263" y="3170840"/>
            <a:ext cx="60840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dk1"/>
                </a:solidFill>
              </a:rPr>
              <a:t>Srinivas Padmanabhuni</a:t>
            </a:r>
            <a:endParaRPr sz="40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7013" y="1817300"/>
            <a:ext cx="360997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979350"/>
            <a:ext cx="2688700" cy="48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8425" y="1283775"/>
            <a:ext cx="2834024" cy="48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0725" y="4285636"/>
            <a:ext cx="2473274" cy="883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9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/>
        </p:nvSpPr>
        <p:spPr>
          <a:xfrm>
            <a:off x="314900" y="358600"/>
            <a:ext cx="7121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2918B"/>
                </a:solidFill>
              </a:rPr>
              <a:t>Why Analytics?</a:t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617675" y="739238"/>
            <a:ext cx="8211300" cy="3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•</a:t>
            </a:r>
            <a:r>
              <a:rPr lang="en" sz="1800" b="1">
                <a:solidFill>
                  <a:schemeClr val="dk1"/>
                </a:solidFill>
              </a:rPr>
              <a:t>Decision making is critical to success of Businesses</a:t>
            </a:r>
            <a:r>
              <a:rPr lang="en" sz="1800">
                <a:solidFill>
                  <a:srgbClr val="666666"/>
                </a:solidFill>
              </a:rPr>
              <a:t>.</a:t>
            </a:r>
            <a:endParaRPr sz="1800">
              <a:solidFill>
                <a:srgbClr val="666666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• Quality of decision making is hence important for businesses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• Usually several kinds of biases play out in decision making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• Important to understand that there are several ways of avoiding biases in decision making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• Analytics Technology brings objectivity to decision</a:t>
            </a:r>
            <a:r>
              <a:rPr lang="en" sz="2400">
                <a:solidFill>
                  <a:schemeClr val="dk1"/>
                </a:solidFill>
              </a:rPr>
              <a:t> making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0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450" y="993063"/>
            <a:ext cx="7393051" cy="3174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309925" y="399675"/>
            <a:ext cx="73932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2918B"/>
                </a:solidFill>
              </a:rPr>
              <a:t>Analytics Process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1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 txBox="1"/>
          <p:nvPr/>
        </p:nvSpPr>
        <p:spPr>
          <a:xfrm>
            <a:off x="314900" y="375450"/>
            <a:ext cx="71214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2918B"/>
                </a:solidFill>
              </a:rPr>
              <a:t>Analytics Technologies (Representative)</a:t>
            </a:r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7025" y="1017350"/>
            <a:ext cx="3488050" cy="29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175" y="1579175"/>
            <a:ext cx="3200400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52025"/>
            <a:ext cx="2688700" cy="48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5300" y="1056000"/>
            <a:ext cx="2688700" cy="48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0725" y="4285636"/>
            <a:ext cx="2473274" cy="883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7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7"/>
          <p:cNvSpPr txBox="1"/>
          <p:nvPr/>
        </p:nvSpPr>
        <p:spPr>
          <a:xfrm>
            <a:off x="302775" y="394950"/>
            <a:ext cx="73152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2918B"/>
                </a:solidFill>
              </a:rPr>
              <a:t>Different Kinds of Analytics</a:t>
            </a:r>
            <a:endParaRPr/>
          </a:p>
        </p:txBody>
      </p:sp>
      <p:pic>
        <p:nvPicPr>
          <p:cNvPr id="186" name="Google Shape;18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3925" y="932550"/>
            <a:ext cx="6604050" cy="32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8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8"/>
          <p:cNvSpPr txBox="1"/>
          <p:nvPr/>
        </p:nvSpPr>
        <p:spPr>
          <a:xfrm>
            <a:off x="230125" y="375450"/>
            <a:ext cx="72303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Descriptive Analytics</a:t>
            </a:r>
            <a:endParaRPr/>
          </a:p>
        </p:txBody>
      </p:sp>
      <p:sp>
        <p:nvSpPr>
          <p:cNvPr id="195" name="Google Shape;195;p28"/>
          <p:cNvSpPr txBox="1"/>
          <p:nvPr/>
        </p:nvSpPr>
        <p:spPr>
          <a:xfrm>
            <a:off x="738775" y="999500"/>
            <a:ext cx="5377500" cy="3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First Step in Analytics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Answers the question: What happened?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Summary of the historical data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Measures of Central Tendency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Mean , Median, Mode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Measures of Dispersion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Standard Deviation, Variance, Kurtosis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9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4300" y="4221925"/>
            <a:ext cx="2579700" cy="921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9"/>
          <p:cNvSpPr txBox="1"/>
          <p:nvPr/>
        </p:nvSpPr>
        <p:spPr>
          <a:xfrm>
            <a:off x="242225" y="375450"/>
            <a:ext cx="74847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Exploratory Analytics</a:t>
            </a:r>
            <a:endParaRPr/>
          </a:p>
        </p:txBody>
      </p:sp>
      <p:sp>
        <p:nvSpPr>
          <p:cNvPr id="204" name="Google Shape;204;p29"/>
          <p:cNvSpPr txBox="1"/>
          <p:nvPr/>
        </p:nvSpPr>
        <p:spPr>
          <a:xfrm>
            <a:off x="811450" y="920450"/>
            <a:ext cx="7097400" cy="3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Second Step in Analytics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Opposite to Confirmatory model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Commonly uses different visualizations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Line Plots for Continuous Variables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Histogram Plots for Discrete Variables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Analyzing data for outliers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Box Plots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Reducing Dimensions in Data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0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0"/>
          <p:cNvSpPr txBox="1"/>
          <p:nvPr/>
        </p:nvSpPr>
        <p:spPr>
          <a:xfrm>
            <a:off x="290675" y="375450"/>
            <a:ext cx="6309900" cy="5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Predictive Analytics</a:t>
            </a:r>
            <a:endParaRPr/>
          </a:p>
        </p:txBody>
      </p:sp>
      <p:sp>
        <p:nvSpPr>
          <p:cNvPr id="213" name="Google Shape;213;p30"/>
          <p:cNvSpPr txBox="1"/>
          <p:nvPr/>
        </p:nvSpPr>
        <p:spPr>
          <a:xfrm>
            <a:off x="690350" y="835675"/>
            <a:ext cx="6770100" cy="3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Analytics for Future Prediction: what will happen?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Uses following techniques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Data Mining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Machine Learning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Predictive Modeling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Time Series Models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Building Models and Validate Models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Modeling of input variables and likelihood of outcomes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1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/>
          <p:nvPr/>
        </p:nvSpPr>
        <p:spPr>
          <a:xfrm>
            <a:off x="339125" y="375450"/>
            <a:ext cx="72792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Prescriptive Analytics</a:t>
            </a:r>
            <a:endParaRPr/>
          </a:p>
        </p:txBody>
      </p:sp>
      <p:sp>
        <p:nvSpPr>
          <p:cNvPr id="222" name="Google Shape;222;p31"/>
          <p:cNvSpPr txBox="1"/>
          <p:nvPr/>
        </p:nvSpPr>
        <p:spPr>
          <a:xfrm>
            <a:off x="702450" y="1017350"/>
            <a:ext cx="7727100" cy="3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The ACTION part of all the previous kinds of analytics is referred to as “Prescriptive Analytics” – what can be done now?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Choosing the best possible alternative with the background descriptive, inferential, exploratory and predictive models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Lends itself to an optimization problem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Also often termed as Multi Criteria Decision Making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Expert Systems and Decision Support Systems can be built using predictive techniques to suggest which ACTION is best for the targeted situation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2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/>
          <p:nvPr/>
        </p:nvSpPr>
        <p:spPr>
          <a:xfrm>
            <a:off x="242225" y="327000"/>
            <a:ext cx="72426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Analytics Maturity in India</a:t>
            </a:r>
            <a:endParaRPr/>
          </a:p>
        </p:txBody>
      </p:sp>
      <p:pic>
        <p:nvPicPr>
          <p:cNvPr id="231" name="Google Shape;23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125" y="816350"/>
            <a:ext cx="6140399" cy="3510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2"/>
          <p:cNvSpPr txBox="1"/>
          <p:nvPr/>
        </p:nvSpPr>
        <p:spPr>
          <a:xfrm>
            <a:off x="7085075" y="816350"/>
            <a:ext cx="1768200" cy="28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•</a:t>
            </a:r>
            <a:r>
              <a:rPr lang="en" sz="1800">
                <a:solidFill>
                  <a:schemeClr val="dk1"/>
                </a:solidFill>
              </a:rPr>
              <a:t>Source: Nasscom 2015 report : Application,Innovation,And Maturity of Indian Analytics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21575"/>
            <a:ext cx="2688700" cy="48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5300" y="975975"/>
            <a:ext cx="2688700" cy="48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225" y="1564400"/>
            <a:ext cx="3844300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8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8"/>
          <p:cNvSpPr txBox="1"/>
          <p:nvPr/>
        </p:nvSpPr>
        <p:spPr>
          <a:xfrm>
            <a:off x="266450" y="375450"/>
            <a:ext cx="75576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Descriptive Analytics</a:t>
            </a:r>
            <a:endParaRPr/>
          </a:p>
        </p:txBody>
      </p:sp>
      <p:sp>
        <p:nvSpPr>
          <p:cNvPr id="286" name="Google Shape;286;p38"/>
          <p:cNvSpPr txBox="1"/>
          <p:nvPr/>
        </p:nvSpPr>
        <p:spPr>
          <a:xfrm>
            <a:off x="787225" y="896225"/>
            <a:ext cx="7727100" cy="3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First Step in Analytics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Answers the question: What happened?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Summary of the historical data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Measures of Central Tendency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Mean , Median, Mode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Measures of Dispersion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Standard Deviation, Variance, Kurtosis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9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9"/>
          <p:cNvSpPr txBox="1"/>
          <p:nvPr/>
        </p:nvSpPr>
        <p:spPr>
          <a:xfrm>
            <a:off x="302775" y="375450"/>
            <a:ext cx="73881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2918B"/>
                </a:solidFill>
              </a:rPr>
              <a:t>Measures of central tendency</a:t>
            </a:r>
            <a:endParaRPr/>
          </a:p>
        </p:txBody>
      </p:sp>
      <p:sp>
        <p:nvSpPr>
          <p:cNvPr id="295" name="Google Shape;295;p39"/>
          <p:cNvSpPr txBox="1"/>
          <p:nvPr/>
        </p:nvSpPr>
        <p:spPr>
          <a:xfrm>
            <a:off x="847800" y="1065800"/>
            <a:ext cx="7472700" cy="31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Mean – average of the data across the stream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Median – Mid point of the data across the stream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Percentile –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Quartile –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First Quartile is the 25</a:t>
            </a:r>
            <a:r>
              <a:rPr lang="en" sz="1800" baseline="30000">
                <a:solidFill>
                  <a:schemeClr val="dk1"/>
                </a:solidFill>
              </a:rPr>
              <a:t>th</a:t>
            </a:r>
            <a:r>
              <a:rPr lang="en" sz="1800">
                <a:solidFill>
                  <a:schemeClr val="dk1"/>
                </a:solidFill>
              </a:rPr>
              <a:t> percentile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Second Quartile is the median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Third Quartile is the 75</a:t>
            </a:r>
            <a:r>
              <a:rPr lang="en" sz="1800" baseline="30000">
                <a:solidFill>
                  <a:schemeClr val="dk1"/>
                </a:solidFill>
              </a:rPr>
              <a:t>th</a:t>
            </a:r>
            <a:r>
              <a:rPr lang="en" sz="1800">
                <a:solidFill>
                  <a:schemeClr val="dk1"/>
                </a:solidFill>
              </a:rPr>
              <a:t> Percentile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40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0"/>
          <p:cNvSpPr txBox="1"/>
          <p:nvPr/>
        </p:nvSpPr>
        <p:spPr>
          <a:xfrm>
            <a:off x="302775" y="375450"/>
            <a:ext cx="73275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Measures of dispersion</a:t>
            </a:r>
            <a:endParaRPr/>
          </a:p>
        </p:txBody>
      </p:sp>
      <p:sp>
        <p:nvSpPr>
          <p:cNvPr id="304" name="Google Shape;304;p40"/>
          <p:cNvSpPr txBox="1"/>
          <p:nvPr/>
        </p:nvSpPr>
        <p:spPr>
          <a:xfrm>
            <a:off x="956800" y="1126325"/>
            <a:ext cx="7485000" cy="3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Absolute Standard Deviation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Variance – Measure of spread of distance from mean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InterQuartile Distance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Distance between First and Third Quartile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IQR is a good measure for determining outliers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Range is a good measure of the difference between large and small data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Variance to Mean Ratio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41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1"/>
          <p:cNvSpPr txBox="1"/>
          <p:nvPr/>
        </p:nvSpPr>
        <p:spPr>
          <a:xfrm>
            <a:off x="266450" y="382825"/>
            <a:ext cx="77754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2918B"/>
                </a:solidFill>
              </a:rPr>
              <a:t>SKEWNESS</a:t>
            </a:r>
            <a:endParaRPr/>
          </a:p>
        </p:txBody>
      </p:sp>
      <p:sp>
        <p:nvSpPr>
          <p:cNvPr id="313" name="Google Shape;313;p41"/>
          <p:cNvSpPr txBox="1"/>
          <p:nvPr/>
        </p:nvSpPr>
        <p:spPr>
          <a:xfrm>
            <a:off x="920450" y="823525"/>
            <a:ext cx="7339500" cy="3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•</a:t>
            </a:r>
            <a:r>
              <a:rPr lang="en" sz="1800">
                <a:solidFill>
                  <a:schemeClr val="dk1"/>
                </a:solidFill>
              </a:rPr>
              <a:t>Skewness formula is given by</a:t>
            </a:r>
            <a:endParaRPr sz="18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•Skewness = (mean-mode)/Standard deviation</a:t>
            </a: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•The skewness provides the data values diverging from the mean values of the data set</a:t>
            </a: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•The skewness can be used to estimate the symmetry and divergence of the data set</a:t>
            </a: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•The ideal normal distribution function skewness and kurtosis should be zero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42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2"/>
          <p:cNvSpPr txBox="1"/>
          <p:nvPr/>
        </p:nvSpPr>
        <p:spPr>
          <a:xfrm>
            <a:off x="230125" y="407050"/>
            <a:ext cx="72546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KURTOSIS</a:t>
            </a:r>
            <a:endParaRPr/>
          </a:p>
        </p:txBody>
      </p:sp>
      <p:sp>
        <p:nvSpPr>
          <p:cNvPr id="322" name="Google Shape;322;p42"/>
          <p:cNvSpPr txBox="1"/>
          <p:nvPr/>
        </p:nvSpPr>
        <p:spPr>
          <a:xfrm>
            <a:off x="569225" y="908350"/>
            <a:ext cx="8320200" cy="34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•</a:t>
            </a:r>
            <a:r>
              <a:rPr lang="en" sz="1800">
                <a:solidFill>
                  <a:schemeClr val="dk1"/>
                </a:solidFill>
              </a:rPr>
              <a:t>Kurtosis is a parameter that depicts the state of an arbitrary variable's probability distribution</a:t>
            </a: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•The sharper peak in the center of the distribution provides larger kurtosis value than the normal distribution</a:t>
            </a: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•Like the skewness, Kurtosis also depicts three states as follows</a:t>
            </a: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•If kurtosis value is zero,then type of distribution is known to be </a:t>
            </a:r>
            <a:r>
              <a:rPr lang="en" sz="1800" b="1">
                <a:solidFill>
                  <a:schemeClr val="dk1"/>
                </a:solidFill>
              </a:rPr>
              <a:t>meso kurtic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•If kurtosis value is negative, then type of distribution is known to be </a:t>
            </a:r>
            <a:r>
              <a:rPr lang="en" sz="1800" b="1">
                <a:solidFill>
                  <a:schemeClr val="dk1"/>
                </a:solidFill>
              </a:rPr>
              <a:t>platy kurtic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•If kurtosis value is positive, then type of distribution is known to be </a:t>
            </a:r>
            <a:r>
              <a:rPr lang="en" sz="1800" b="1">
                <a:solidFill>
                  <a:schemeClr val="dk1"/>
                </a:solidFill>
              </a:rPr>
              <a:t>lepto kurtic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3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3"/>
          <p:cNvSpPr txBox="1"/>
          <p:nvPr/>
        </p:nvSpPr>
        <p:spPr>
          <a:xfrm>
            <a:off x="327000" y="375450"/>
            <a:ext cx="71943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Use Cases of Descriptive Analytics</a:t>
            </a:r>
            <a:endParaRPr/>
          </a:p>
        </p:txBody>
      </p:sp>
      <p:sp>
        <p:nvSpPr>
          <p:cNvPr id="331" name="Google Shape;331;p43"/>
          <p:cNvSpPr txBox="1"/>
          <p:nvPr/>
        </p:nvSpPr>
        <p:spPr>
          <a:xfrm>
            <a:off x="1017350" y="1211125"/>
            <a:ext cx="7484700" cy="29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Let us assume we want to get an idea of average rainfall in different parts of India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We will first get raw data from weather dept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Then we will slice it by region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Then we will compute descriptive analytics of local data in a region for a specified period of time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6325" y="1642100"/>
            <a:ext cx="384810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221575"/>
            <a:ext cx="2688700" cy="48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5300" y="1157625"/>
            <a:ext cx="2688700" cy="48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48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8"/>
          <p:cNvSpPr txBox="1"/>
          <p:nvPr/>
        </p:nvSpPr>
        <p:spPr>
          <a:xfrm>
            <a:off x="278550" y="375450"/>
            <a:ext cx="7242600" cy="4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02918B"/>
                </a:solidFill>
              </a:rPr>
              <a:t>LEARNING OBJECTIVES:</a:t>
            </a:r>
            <a:endParaRPr/>
          </a:p>
        </p:txBody>
      </p:sp>
      <p:sp>
        <p:nvSpPr>
          <p:cNvPr id="377" name="Google Shape;377;p48"/>
          <p:cNvSpPr txBox="1"/>
          <p:nvPr/>
        </p:nvSpPr>
        <p:spPr>
          <a:xfrm>
            <a:off x="872000" y="872000"/>
            <a:ext cx="5328900" cy="3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At the end of this lesson, you will be able to :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 </a:t>
            </a:r>
            <a:r>
              <a:rPr lang="en" sz="1800">
                <a:solidFill>
                  <a:srgbClr val="02918B"/>
                </a:solidFill>
              </a:rPr>
              <a:t>Understand exploratory  analytics</a:t>
            </a:r>
            <a:endParaRPr sz="1800">
              <a:solidFill>
                <a:srgbClr val="02918B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 </a:t>
            </a:r>
            <a:r>
              <a:rPr lang="en" sz="1800">
                <a:solidFill>
                  <a:srgbClr val="02918B"/>
                </a:solidFill>
              </a:rPr>
              <a:t>What steps are typically used in exploratory</a:t>
            </a:r>
            <a:endParaRPr sz="1800">
              <a:solidFill>
                <a:srgbClr val="02918B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2918B"/>
                </a:solidFill>
              </a:rPr>
              <a:t>Analytics</a:t>
            </a:r>
            <a:endParaRPr sz="1800">
              <a:solidFill>
                <a:srgbClr val="02918B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Cleanse Data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Treat missing values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Treat outliers and errors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Reduce Dimensions of Data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 </a:t>
            </a:r>
            <a:r>
              <a:rPr lang="en" sz="1800">
                <a:solidFill>
                  <a:srgbClr val="02918B"/>
                </a:solidFill>
              </a:rPr>
              <a:t>Use case of exploratory analytics</a:t>
            </a:r>
            <a:endParaRPr sz="1800">
              <a:solidFill>
                <a:srgbClr val="02918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8" name="Google Shape;378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0850" y="1259888"/>
            <a:ext cx="2601825" cy="2288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49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9"/>
          <p:cNvSpPr txBox="1"/>
          <p:nvPr/>
        </p:nvSpPr>
        <p:spPr>
          <a:xfrm>
            <a:off x="302775" y="375450"/>
            <a:ext cx="73032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Exploratory Analytics</a:t>
            </a:r>
            <a:endParaRPr/>
          </a:p>
        </p:txBody>
      </p:sp>
      <p:sp>
        <p:nvSpPr>
          <p:cNvPr id="387" name="Google Shape;387;p49"/>
          <p:cNvSpPr txBox="1"/>
          <p:nvPr/>
        </p:nvSpPr>
        <p:spPr>
          <a:xfrm>
            <a:off x="690350" y="981000"/>
            <a:ext cx="7460700" cy="34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Second Step in Analytics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Less of Formal Models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Typical tasks include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Data visualization to get a big picture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Correlation Analysis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Dealing with Missing Values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Treating Anomalies and Outliers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Reducing Dimensions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50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0"/>
          <p:cNvSpPr txBox="1"/>
          <p:nvPr/>
        </p:nvSpPr>
        <p:spPr>
          <a:xfrm>
            <a:off x="242225" y="358600"/>
            <a:ext cx="73518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Data Visualization for Exploratory Analysis</a:t>
            </a:r>
            <a:endParaRPr/>
          </a:p>
        </p:txBody>
      </p:sp>
      <p:sp>
        <p:nvSpPr>
          <p:cNvPr id="396" name="Google Shape;396;p50"/>
          <p:cNvSpPr txBox="1"/>
          <p:nvPr/>
        </p:nvSpPr>
        <p:spPr>
          <a:xfrm>
            <a:off x="714575" y="1041575"/>
            <a:ext cx="6673200" cy="3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Univariate Plots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Line Plots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Histograms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Box Plots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Bivariate Plots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Scatter Plots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Correlograms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Multivariate Plots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Mesh Plots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3D plots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51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51"/>
          <p:cNvSpPr txBox="1"/>
          <p:nvPr/>
        </p:nvSpPr>
        <p:spPr>
          <a:xfrm>
            <a:off x="327000" y="375450"/>
            <a:ext cx="7242600" cy="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Data Imputation</a:t>
            </a:r>
            <a:endParaRPr/>
          </a:p>
        </p:txBody>
      </p:sp>
      <p:sp>
        <p:nvSpPr>
          <p:cNvPr id="405" name="Google Shape;405;p51"/>
          <p:cNvSpPr txBox="1"/>
          <p:nvPr/>
        </p:nvSpPr>
        <p:spPr>
          <a:xfrm>
            <a:off x="763000" y="981000"/>
            <a:ext cx="7678800" cy="3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To Treat Missing or Null Values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Different Approaches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Data Imputation by Measures of Central Tendency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Imputation by Mean of Column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Imputation by Median of Column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Imputation by Mode of Columns (Categorical Variables)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Nearest Neighbour Methods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KNN Based Imputation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Regression based approach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Hot Deck approach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52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2"/>
          <p:cNvSpPr txBox="1"/>
          <p:nvPr/>
        </p:nvSpPr>
        <p:spPr>
          <a:xfrm>
            <a:off x="290675" y="375450"/>
            <a:ext cx="70851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Anomaly or Outlier Detection</a:t>
            </a:r>
            <a:endParaRPr/>
          </a:p>
        </p:txBody>
      </p:sp>
      <p:sp>
        <p:nvSpPr>
          <p:cNvPr id="414" name="Google Shape;414;p52"/>
          <p:cNvSpPr txBox="1"/>
          <p:nvPr/>
        </p:nvSpPr>
        <p:spPr>
          <a:xfrm>
            <a:off x="750900" y="1102125"/>
            <a:ext cx="7678800" cy="3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Identification of items,  observations which do not follow expected pattern or are dissimilar to  other items in a dataset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Examples: Fraud Detection, Hack Attacks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Techniques: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Descriptive Analytics driven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Clustering Based Approaches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Distance based approaches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Classification based approaches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53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53"/>
          <p:cNvSpPr txBox="1"/>
          <p:nvPr/>
        </p:nvSpPr>
        <p:spPr>
          <a:xfrm>
            <a:off x="302775" y="370725"/>
            <a:ext cx="72426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Types of anomalies</a:t>
            </a:r>
            <a:endParaRPr/>
          </a:p>
        </p:txBody>
      </p:sp>
      <p:sp>
        <p:nvSpPr>
          <p:cNvPr id="423" name="Google Shape;423;p53"/>
          <p:cNvSpPr txBox="1"/>
          <p:nvPr/>
        </p:nvSpPr>
        <p:spPr>
          <a:xfrm>
            <a:off x="884125" y="872025"/>
            <a:ext cx="7509000" cy="16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Point anomalies - An individual data instance is anomalous w.r.t. the data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Contextual Anomaly – Individual data instance anomalous in a context, also known as conditional anomaly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 collection of related data instances is anomalous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4" name="Google Shape;424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853686"/>
            <a:ext cx="9143999" cy="1455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54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4"/>
          <p:cNvSpPr txBox="1"/>
          <p:nvPr/>
        </p:nvSpPr>
        <p:spPr>
          <a:xfrm>
            <a:off x="327000" y="375450"/>
            <a:ext cx="76542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Example Anomaly Detection Technique</a:t>
            </a:r>
            <a:endParaRPr/>
          </a:p>
        </p:txBody>
      </p:sp>
      <p:sp>
        <p:nvSpPr>
          <p:cNvPr id="433" name="Google Shape;433;p54"/>
          <p:cNvSpPr txBox="1"/>
          <p:nvPr/>
        </p:nvSpPr>
        <p:spPr>
          <a:xfrm>
            <a:off x="781025" y="968850"/>
            <a:ext cx="8363100" cy="33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Using Descriptive Analytics and visualization of Box Plot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Formula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An outlier if: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Point &gt; Q3 + 1.5 * IQR 	OR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Point &lt; Q1 – 1.5* IQR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434" name="Google Shape;434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4750" y="1865125"/>
            <a:ext cx="2749250" cy="227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9275" y="1940725"/>
            <a:ext cx="476225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55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55"/>
          <p:cNvSpPr txBox="1"/>
          <p:nvPr/>
        </p:nvSpPr>
        <p:spPr>
          <a:xfrm>
            <a:off x="242225" y="375450"/>
            <a:ext cx="7654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Dimensionality Reduction</a:t>
            </a:r>
            <a:endParaRPr/>
          </a:p>
        </p:txBody>
      </p:sp>
      <p:sp>
        <p:nvSpPr>
          <p:cNvPr id="444" name="Google Shape;444;p55"/>
          <p:cNvSpPr txBox="1"/>
          <p:nvPr/>
        </p:nvSpPr>
        <p:spPr>
          <a:xfrm>
            <a:off x="593450" y="981000"/>
            <a:ext cx="7824000" cy="3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Univariate Analysis to Drop Variables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Too Uniform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Too low density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Bivariate Correlogram Analysis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Remove one among a pair of highly correlated input variable pair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Principal Component Analysis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An idea to reduce overall dimensions while keeping the overall coverage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Works with far fewer dimensions than original dimensions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56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56"/>
          <p:cNvSpPr txBox="1"/>
          <p:nvPr/>
        </p:nvSpPr>
        <p:spPr>
          <a:xfrm>
            <a:off x="254325" y="387550"/>
            <a:ext cx="74850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Bivariate Correlogram Analysis</a:t>
            </a:r>
            <a:endParaRPr/>
          </a:p>
        </p:txBody>
      </p:sp>
      <p:sp>
        <p:nvSpPr>
          <p:cNvPr id="453" name="Google Shape;453;p56"/>
          <p:cNvSpPr txBox="1"/>
          <p:nvPr/>
        </p:nvSpPr>
        <p:spPr>
          <a:xfrm>
            <a:off x="738775" y="884050"/>
            <a:ext cx="69399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•</a:t>
            </a:r>
            <a:r>
              <a:rPr lang="en" sz="1800">
                <a:solidFill>
                  <a:schemeClr val="dk1"/>
                </a:solidFill>
              </a:rPr>
              <a:t>Pairwise analysing input variables for correlation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4" name="Google Shape;454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5350" y="1622900"/>
            <a:ext cx="3924050" cy="273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57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57"/>
          <p:cNvSpPr txBox="1"/>
          <p:nvPr/>
        </p:nvSpPr>
        <p:spPr>
          <a:xfrm>
            <a:off x="266450" y="375450"/>
            <a:ext cx="7678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2918B"/>
                </a:solidFill>
              </a:rPr>
              <a:t>What is PCA</a:t>
            </a:r>
            <a:endParaRPr sz="2400">
              <a:solidFill>
                <a:srgbClr val="02918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57"/>
          <p:cNvSpPr txBox="1"/>
          <p:nvPr/>
        </p:nvSpPr>
        <p:spPr>
          <a:xfrm>
            <a:off x="520800" y="1295713"/>
            <a:ext cx="80418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PCA stands for Principal Component Analysis 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PCA is extraction of important variables from a large number of variables in a Data Set.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PCA extracts low dimensional set of features from a high dimensional data set, with a motive to capture as much information as possible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Useful only when the number of attributes is 3 or greater than that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58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8"/>
          <p:cNvSpPr txBox="1"/>
          <p:nvPr/>
        </p:nvSpPr>
        <p:spPr>
          <a:xfrm>
            <a:off x="278550" y="169550"/>
            <a:ext cx="75819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2918B"/>
                </a:solidFill>
              </a:rPr>
              <a:t>PCA Example</a:t>
            </a:r>
            <a:endParaRPr sz="2400">
              <a:solidFill>
                <a:srgbClr val="02918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58"/>
          <p:cNvSpPr txBox="1"/>
          <p:nvPr/>
        </p:nvSpPr>
        <p:spPr>
          <a:xfrm>
            <a:off x="702450" y="690350"/>
            <a:ext cx="7787700" cy="3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As an example if there are 30 attributes in a data set,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it requires 30 * 29 (30-1)/2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	plots i.e. more than 400 plots to analyze the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relationship between the attributes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PCA helps us minimize the number of attributes,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making it is easier for the analysis.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3" name="Google Shape;473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0925" y="2700800"/>
            <a:ext cx="5629275" cy="167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7950" y="1316738"/>
            <a:ext cx="3848100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403225"/>
            <a:ext cx="2688700" cy="48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5300" y="1012300"/>
            <a:ext cx="2688700" cy="48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66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66"/>
          <p:cNvSpPr txBox="1"/>
          <p:nvPr/>
        </p:nvSpPr>
        <p:spPr>
          <a:xfrm>
            <a:off x="290675" y="382825"/>
            <a:ext cx="72669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Data Mining vs Machine Learning</a:t>
            </a:r>
            <a:endParaRPr/>
          </a:p>
        </p:txBody>
      </p:sp>
      <p:sp>
        <p:nvSpPr>
          <p:cNvPr id="547" name="Google Shape;547;p66"/>
          <p:cNvSpPr txBox="1"/>
          <p:nvPr/>
        </p:nvSpPr>
        <p:spPr>
          <a:xfrm>
            <a:off x="763000" y="1162675"/>
            <a:ext cx="7787700" cy="29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Large Overlap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Typically core set of techniques same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Data Mining and Machine Learning though have separate roots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But a unifying model can be obtained by considering data mining as one kind of machine learning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Data Mining largely refers to pattern extraction from large data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67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67"/>
          <p:cNvSpPr txBox="1"/>
          <p:nvPr/>
        </p:nvSpPr>
        <p:spPr>
          <a:xfrm>
            <a:off x="327000" y="375450"/>
            <a:ext cx="7569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Machine Learning Defined</a:t>
            </a:r>
            <a:endParaRPr/>
          </a:p>
        </p:txBody>
      </p:sp>
      <p:sp>
        <p:nvSpPr>
          <p:cNvPr id="556" name="Google Shape;556;p67"/>
          <p:cNvSpPr txBox="1"/>
          <p:nvPr/>
        </p:nvSpPr>
        <p:spPr>
          <a:xfrm>
            <a:off x="787225" y="1265375"/>
            <a:ext cx="7109400" cy="29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 computer</a:t>
            </a:r>
            <a:r>
              <a:rPr lang="en" sz="1800" b="1">
                <a:solidFill>
                  <a:schemeClr val="dk1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program is said to</a:t>
            </a:r>
            <a:r>
              <a:rPr lang="en" sz="1800">
                <a:solidFill>
                  <a:srgbClr val="FF0000"/>
                </a:solidFill>
              </a:rPr>
              <a:t> </a:t>
            </a:r>
            <a:r>
              <a:rPr lang="en" sz="1800" i="1">
                <a:solidFill>
                  <a:srgbClr val="FF0000"/>
                </a:solidFill>
              </a:rPr>
              <a:t>learn</a:t>
            </a:r>
            <a:r>
              <a:rPr lang="en" sz="1800">
                <a:solidFill>
                  <a:srgbClr val="FF0000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from experience if its performance at tasks </a:t>
            </a:r>
            <a:r>
              <a:rPr lang="en" sz="1800" i="1">
                <a:solidFill>
                  <a:srgbClr val="FF0000"/>
                </a:solidFill>
              </a:rPr>
              <a:t>improves</a:t>
            </a:r>
            <a:r>
              <a:rPr lang="en" sz="1800">
                <a:solidFill>
                  <a:srgbClr val="FF0000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with experience 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-Can be </a:t>
            </a:r>
            <a:r>
              <a:rPr lang="en" sz="1800" i="1">
                <a:solidFill>
                  <a:schemeClr val="dk1"/>
                </a:solidFill>
              </a:rPr>
              <a:t>Unsupervised</a:t>
            </a:r>
            <a:r>
              <a:rPr lang="en" sz="1800">
                <a:solidFill>
                  <a:schemeClr val="dk1"/>
                </a:solidFill>
              </a:rPr>
              <a:t>, or </a:t>
            </a:r>
            <a:r>
              <a:rPr lang="en" sz="1800" i="1">
                <a:solidFill>
                  <a:schemeClr val="dk1"/>
                </a:solidFill>
              </a:rPr>
              <a:t>Supervised or Reinforcement</a:t>
            </a:r>
            <a:endParaRPr sz="1800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68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68"/>
          <p:cNvSpPr txBox="1"/>
          <p:nvPr/>
        </p:nvSpPr>
        <p:spPr>
          <a:xfrm>
            <a:off x="290675" y="407050"/>
            <a:ext cx="69762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2918B"/>
                </a:solidFill>
              </a:rPr>
              <a:t>Types of Machine Learning</a:t>
            </a:r>
            <a:endParaRPr/>
          </a:p>
        </p:txBody>
      </p:sp>
      <p:pic>
        <p:nvPicPr>
          <p:cNvPr id="565" name="Google Shape;565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7575" y="905825"/>
            <a:ext cx="6540075" cy="320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69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69"/>
          <p:cNvSpPr txBox="1"/>
          <p:nvPr/>
        </p:nvSpPr>
        <p:spPr>
          <a:xfrm>
            <a:off x="290675" y="375450"/>
            <a:ext cx="76182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The path of pursuit</a:t>
            </a:r>
            <a:endParaRPr/>
          </a:p>
        </p:txBody>
      </p:sp>
      <p:pic>
        <p:nvPicPr>
          <p:cNvPr id="574" name="Google Shape;574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4400" y="948175"/>
            <a:ext cx="6835799" cy="32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70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70"/>
          <p:cNvSpPr txBox="1"/>
          <p:nvPr/>
        </p:nvSpPr>
        <p:spPr>
          <a:xfrm>
            <a:off x="278550" y="375450"/>
            <a:ext cx="7448700" cy="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ML as a continuum of analytics</a:t>
            </a:r>
            <a:endParaRPr/>
          </a:p>
        </p:txBody>
      </p:sp>
      <p:pic>
        <p:nvPicPr>
          <p:cNvPr id="583" name="Google Shape;583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2864" y="1053675"/>
            <a:ext cx="6519636" cy="307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74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74"/>
          <p:cNvSpPr txBox="1"/>
          <p:nvPr/>
        </p:nvSpPr>
        <p:spPr>
          <a:xfrm>
            <a:off x="278550" y="375450"/>
            <a:ext cx="74487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Fine Grained ML Types</a:t>
            </a:r>
            <a:endParaRPr/>
          </a:p>
        </p:txBody>
      </p:sp>
      <p:sp>
        <p:nvSpPr>
          <p:cNvPr id="620" name="Google Shape;620;p74"/>
          <p:cNvSpPr txBox="1"/>
          <p:nvPr/>
        </p:nvSpPr>
        <p:spPr>
          <a:xfrm>
            <a:off x="847800" y="1211125"/>
            <a:ext cx="7351500" cy="30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Reinforcement Learning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Supervised Learning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Classification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Regression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Unsupervised Learning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Clustering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Association Rule Mining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Feature Extraction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Anomaly Detection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75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75"/>
          <p:cNvSpPr txBox="1"/>
          <p:nvPr/>
        </p:nvSpPr>
        <p:spPr>
          <a:xfrm>
            <a:off x="363350" y="375450"/>
            <a:ext cx="75576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Reinforcement Learning</a:t>
            </a:r>
            <a:endParaRPr/>
          </a:p>
        </p:txBody>
      </p:sp>
      <p:sp>
        <p:nvSpPr>
          <p:cNvPr id="629" name="Google Shape;629;p75"/>
          <p:cNvSpPr txBox="1"/>
          <p:nvPr/>
        </p:nvSpPr>
        <p:spPr>
          <a:xfrm>
            <a:off x="738775" y="1368575"/>
            <a:ext cx="7412100" cy="2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Reinforcement Learning need not have past data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Notion of a set of states from start to finish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At each state a set of rewards and punishments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Goal is improve performance of reaching goal by changing values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Example Applications include games, dynamic path planning for robots etc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76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76"/>
          <p:cNvSpPr txBox="1"/>
          <p:nvPr/>
        </p:nvSpPr>
        <p:spPr>
          <a:xfrm>
            <a:off x="278550" y="221925"/>
            <a:ext cx="74850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Supervised Classification</a:t>
            </a:r>
            <a:endParaRPr/>
          </a:p>
        </p:txBody>
      </p:sp>
      <p:sp>
        <p:nvSpPr>
          <p:cNvPr id="638" name="Google Shape;638;p76"/>
          <p:cNvSpPr txBox="1"/>
          <p:nvPr/>
        </p:nvSpPr>
        <p:spPr>
          <a:xfrm>
            <a:off x="763000" y="763000"/>
            <a:ext cx="8187300" cy="38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In </a:t>
            </a:r>
            <a:r>
              <a:rPr lang="en" sz="1800" b="1">
                <a:solidFill>
                  <a:schemeClr val="dk1"/>
                </a:solidFill>
              </a:rPr>
              <a:t>classification</a:t>
            </a:r>
            <a:r>
              <a:rPr lang="en" sz="1800">
                <a:solidFill>
                  <a:schemeClr val="dk1"/>
                </a:solidFill>
              </a:rPr>
              <a:t>, the target variable is categorical.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For a new input, you have to put it in one of the categories into which it will fit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Example : Classify Sentiments from Tweets into Neutral, Positive and Negative.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Example: Classifying patient profiles as risky or safe  based on historical data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Simplest: binary classification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Given: a set of m examples (xi,yi)  i = 1,2…m sampled from some distribution D, where xiÎRn and yiÎ{-1,+1}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Find: a function f  f: Rn -&gt; {-1,+1}  which classifies ‘well’ examples xj sampled from D.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77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77"/>
          <p:cNvSpPr txBox="1"/>
          <p:nvPr/>
        </p:nvSpPr>
        <p:spPr>
          <a:xfrm>
            <a:off x="314900" y="278550"/>
            <a:ext cx="75333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Supervised Regression</a:t>
            </a:r>
            <a:endParaRPr/>
          </a:p>
        </p:txBody>
      </p:sp>
      <p:sp>
        <p:nvSpPr>
          <p:cNvPr id="647" name="Google Shape;647;p77"/>
          <p:cNvSpPr txBox="1"/>
          <p:nvPr/>
        </p:nvSpPr>
        <p:spPr>
          <a:xfrm>
            <a:off x="835675" y="1235350"/>
            <a:ext cx="7811700" cy="29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In </a:t>
            </a:r>
            <a:r>
              <a:rPr lang="en" sz="1800" b="1">
                <a:solidFill>
                  <a:schemeClr val="dk1"/>
                </a:solidFill>
              </a:rPr>
              <a:t>regression</a:t>
            </a:r>
            <a:r>
              <a:rPr lang="en" sz="1800">
                <a:solidFill>
                  <a:schemeClr val="dk1"/>
                </a:solidFill>
              </a:rPr>
              <a:t>, the target variable is continuous.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For a new input you have to predict the potential value of the output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Example: Derive the model for Fuel Consumption based on model, time of day, age of vehicle etc.</a:t>
            </a:r>
            <a:endParaRPr sz="18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800">
                <a:solidFill>
                  <a:schemeClr val="dk1"/>
                </a:solidFill>
              </a:rPr>
              <a:t>Example: Derive the potential future price of a stock based on historical analysis of data deriving from features like stock, quantity, news related to stock</a:t>
            </a:r>
            <a:r>
              <a:rPr lang="en" sz="2400">
                <a:solidFill>
                  <a:schemeClr val="dk1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etc.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78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78"/>
          <p:cNvSpPr txBox="1"/>
          <p:nvPr/>
        </p:nvSpPr>
        <p:spPr>
          <a:xfrm>
            <a:off x="230125" y="221925"/>
            <a:ext cx="7642200" cy="8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Classification versus Regression</a:t>
            </a:r>
            <a:endParaRPr/>
          </a:p>
        </p:txBody>
      </p:sp>
      <p:pic>
        <p:nvPicPr>
          <p:cNvPr id="656" name="Google Shape;656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125" y="1041625"/>
            <a:ext cx="6382625" cy="325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79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79"/>
          <p:cNvSpPr txBox="1"/>
          <p:nvPr/>
        </p:nvSpPr>
        <p:spPr>
          <a:xfrm>
            <a:off x="351225" y="278550"/>
            <a:ext cx="75333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</a:rPr>
              <a:t>Unsupervised Clustering</a:t>
            </a:r>
            <a:endParaRPr/>
          </a:p>
        </p:txBody>
      </p:sp>
      <p:sp>
        <p:nvSpPr>
          <p:cNvPr id="665" name="Google Shape;665;p79"/>
          <p:cNvSpPr txBox="1"/>
          <p:nvPr/>
        </p:nvSpPr>
        <p:spPr>
          <a:xfrm>
            <a:off x="726675" y="1271675"/>
            <a:ext cx="43116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No Output Class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Data point is not labeled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Group the items which are close to each other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Identify structure or pattern in data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Example: Identify customers with similar buying habits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6" name="Google Shape;666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9213" y="1545150"/>
            <a:ext cx="2705100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1" name="Google Shape;671;p80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80"/>
          <p:cNvSpPr txBox="1"/>
          <p:nvPr/>
        </p:nvSpPr>
        <p:spPr>
          <a:xfrm>
            <a:off x="205900" y="358600"/>
            <a:ext cx="8356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Unsupervised Association Rule Mining</a:t>
            </a:r>
            <a:endParaRPr sz="3600"/>
          </a:p>
        </p:txBody>
      </p:sp>
      <p:sp>
        <p:nvSpPr>
          <p:cNvPr id="675" name="Google Shape;675;p80"/>
          <p:cNvSpPr txBox="1"/>
          <p:nvPr/>
        </p:nvSpPr>
        <p:spPr>
          <a:xfrm>
            <a:off x="423900" y="1247450"/>
            <a:ext cx="4347900" cy="29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No Output Class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Items Bought together Most Frequently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Identify items occurring together in market baskets or shopping carts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Example: Identify items to cross sell with market basket analysis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6" name="Google Shape;676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5900" y="1005100"/>
            <a:ext cx="4148099" cy="141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95900" y="2488525"/>
            <a:ext cx="4148100" cy="163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81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81"/>
          <p:cNvSpPr txBox="1"/>
          <p:nvPr/>
        </p:nvSpPr>
        <p:spPr>
          <a:xfrm>
            <a:off x="363350" y="327000"/>
            <a:ext cx="73518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</a:rPr>
              <a:t>Anomaly Detection</a:t>
            </a:r>
            <a:endParaRPr/>
          </a:p>
        </p:txBody>
      </p:sp>
      <p:sp>
        <p:nvSpPr>
          <p:cNvPr id="686" name="Google Shape;686;p81"/>
          <p:cNvSpPr txBox="1"/>
          <p:nvPr/>
        </p:nvSpPr>
        <p:spPr>
          <a:xfrm>
            <a:off x="593450" y="1211125"/>
            <a:ext cx="4347900" cy="30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Often data points exist which do not follow usual behaviour as rest of data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Identifying such anomalies/outliers is a key ML task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Example: Fraud Detection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7" name="Google Shape;687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6150" y="1232775"/>
            <a:ext cx="3897850" cy="2791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692;p82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82"/>
          <p:cNvSpPr txBox="1"/>
          <p:nvPr/>
        </p:nvSpPr>
        <p:spPr>
          <a:xfrm>
            <a:off x="327000" y="382825"/>
            <a:ext cx="85143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Use Cases of Predictive Analytics and Machine Learning</a:t>
            </a:r>
            <a:endParaRPr/>
          </a:p>
        </p:txBody>
      </p:sp>
      <p:sp>
        <p:nvSpPr>
          <p:cNvPr id="696" name="Google Shape;696;p82"/>
          <p:cNvSpPr txBox="1"/>
          <p:nvPr/>
        </p:nvSpPr>
        <p:spPr>
          <a:xfrm>
            <a:off x="932575" y="1005225"/>
            <a:ext cx="7182000" cy="3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Sales Performance Analysis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Customer Segmentation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Competitor Analysis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Marketing Mix Optimization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Sales Pipeline Analysis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Campaign Analysis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Talent Analytics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Supply Chain Analytics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Customer Life Cycle Management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Corporate Performance Management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83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83"/>
          <p:cNvSpPr txBox="1"/>
          <p:nvPr/>
        </p:nvSpPr>
        <p:spPr>
          <a:xfrm>
            <a:off x="242225" y="314900"/>
            <a:ext cx="74121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2918B"/>
                </a:solidFill>
              </a:rPr>
              <a:t>Granular Machine Learning Tasks</a:t>
            </a:r>
            <a:endParaRPr/>
          </a:p>
        </p:txBody>
      </p:sp>
      <p:sp>
        <p:nvSpPr>
          <p:cNvPr id="705" name="Google Shape;705;p83"/>
          <p:cNvSpPr txBox="1"/>
          <p:nvPr/>
        </p:nvSpPr>
        <p:spPr>
          <a:xfrm>
            <a:off x="726675" y="738775"/>
            <a:ext cx="7472700" cy="41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Understand written texts, say old classics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Recognizing speech as in Automation of Call Centre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Separating HeadNotes in Legal Documents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Recognizing an animal in Youtube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Finding obstacles and avoiding it in Robots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Pinpoint Breast cancer occurrence to guide Doctors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Understand Dementia Patients and Guiding them to the context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Generate Art, Music, Literature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Robotics (Manufacturing, High Tech)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Autonomous vehicles (Transportation, Logistics)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Speech recognition (Financial Services, BPO)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Language recognition (Publishing, Media, Healthcare, Social Media)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84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84"/>
          <p:cNvSpPr txBox="1"/>
          <p:nvPr/>
        </p:nvSpPr>
        <p:spPr>
          <a:xfrm>
            <a:off x="327000" y="375450"/>
            <a:ext cx="7388100" cy="4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02918B"/>
                </a:solidFill>
              </a:rPr>
              <a:t>Let us check our understanding</a:t>
            </a:r>
            <a:endParaRPr sz="2400" b="1">
              <a:solidFill>
                <a:srgbClr val="02918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84"/>
          <p:cNvSpPr txBox="1"/>
          <p:nvPr/>
        </p:nvSpPr>
        <p:spPr>
          <a:xfrm>
            <a:off x="738775" y="1065800"/>
            <a:ext cx="84051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Which of the following is not a predictive analytics use case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1.Find best route to office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2.Predicting next years profit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3.Which customer segment buys what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4.Cancer is malignant or benign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715" name="Google Shape;715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8388" y="1790600"/>
            <a:ext cx="1895475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3675" y="1898550"/>
            <a:ext cx="367665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174900"/>
            <a:ext cx="2688700" cy="48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5300" y="1315050"/>
            <a:ext cx="2688700" cy="48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89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89"/>
          <p:cNvSpPr txBox="1"/>
          <p:nvPr/>
        </p:nvSpPr>
        <p:spPr>
          <a:xfrm>
            <a:off x="273850" y="476250"/>
            <a:ext cx="7524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2918B"/>
                </a:solidFill>
              </a:rPr>
              <a:t>Prescriptive Analytics</a:t>
            </a:r>
            <a:endParaRPr/>
          </a:p>
        </p:txBody>
      </p:sp>
      <p:sp>
        <p:nvSpPr>
          <p:cNvPr id="760" name="Google Shape;760;p89"/>
          <p:cNvSpPr txBox="1"/>
          <p:nvPr/>
        </p:nvSpPr>
        <p:spPr>
          <a:xfrm>
            <a:off x="821525" y="1053450"/>
            <a:ext cx="7072200" cy="3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The ACTION part of all the previous kinds of analytics is referred to as “Prescriptive Analytics” – what can be done now?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Choosing the best possible alternative with the background descriptive, inferential, exploratory and predictive models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Lends itself to an optimization problem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Also often termed as Multi Criteria Decision Making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Expert Systems and Decision Support Systems can be built using predictive techniques to suggest which ACTION is best for the targeted situation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90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90"/>
          <p:cNvSpPr txBox="1"/>
          <p:nvPr/>
        </p:nvSpPr>
        <p:spPr>
          <a:xfrm>
            <a:off x="261950" y="392900"/>
            <a:ext cx="7488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2918B"/>
                </a:solidFill>
              </a:rPr>
              <a:t>Prescriptive analytics techniques</a:t>
            </a:r>
            <a:endParaRPr/>
          </a:p>
        </p:txBody>
      </p:sp>
      <p:sp>
        <p:nvSpPr>
          <p:cNvPr id="769" name="Google Shape;769;p90"/>
          <p:cNvSpPr txBox="1"/>
          <p:nvPr/>
        </p:nvSpPr>
        <p:spPr>
          <a:xfrm>
            <a:off x="1000125" y="1012025"/>
            <a:ext cx="7084200" cy="3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Rule based systems aided by Predictive Analytics tools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Expert Systems and Decision Support Systems can be built using predictive techniques to suggest which ACTION is best for the targeted situation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Optimization techniques with tools like CPLEX could range from simplex kind of simple optimization techniques to complex constraint programming kind of scenarios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4" name="Google Shape;774;p91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91"/>
          <p:cNvSpPr txBox="1"/>
          <p:nvPr/>
        </p:nvSpPr>
        <p:spPr>
          <a:xfrm>
            <a:off x="297650" y="360225"/>
            <a:ext cx="74415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02918B"/>
                </a:solidFill>
              </a:rPr>
              <a:t>Prescriptive analytics use cases</a:t>
            </a:r>
            <a:endParaRPr/>
          </a:p>
        </p:txBody>
      </p:sp>
      <p:sp>
        <p:nvSpPr>
          <p:cNvPr id="778" name="Google Shape;778;p91"/>
          <p:cNvSpPr txBox="1"/>
          <p:nvPr/>
        </p:nvSpPr>
        <p:spPr>
          <a:xfrm>
            <a:off x="928700" y="857325"/>
            <a:ext cx="7084200" cy="3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Business strategy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A CEO can decide upon either expanding to a new country or expand business in a country based on prescriptive analytics of strategic alternatives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Agriculture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Via right kind of sensor data, key parameters of soil, moisture etc can be measured and the right strategy for crops can be prescribed apt for the condition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Smart Traffic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By use of dynamic real time traffic information planning of alternative routes is possible in form of prescriptions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Analytics Life Cycle</a:t>
            </a:r>
            <a:endParaRPr lang="en-IN" dirty="0"/>
          </a:p>
        </p:txBody>
      </p:sp>
      <p:pic>
        <p:nvPicPr>
          <p:cNvPr id="3" name="Google Shape;813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63900" y="1234800"/>
            <a:ext cx="2688700" cy="48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812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424250"/>
            <a:ext cx="2688700" cy="484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1238051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9" name="Line 7"/>
          <p:cNvSpPr>
            <a:spLocks noChangeShapeType="1"/>
          </p:cNvSpPr>
          <p:nvPr/>
        </p:nvSpPr>
        <p:spPr bwMode="auto">
          <a:xfrm>
            <a:off x="-486635" y="818590"/>
            <a:ext cx="6900529" cy="1031"/>
          </a:xfrm>
          <a:prstGeom prst="line">
            <a:avLst/>
          </a:prstGeom>
          <a:noFill/>
          <a:ln w="25560">
            <a:solidFill>
              <a:srgbClr val="767171"/>
            </a:solidFill>
            <a:miter lim="800000"/>
            <a:headEnd type="oval" w="med" len="med"/>
            <a:tailEnd/>
          </a:ln>
        </p:spPr>
        <p:txBody>
          <a:bodyPr lIns="66504" tIns="33252" rIns="66504" bIns="33252"/>
          <a:lstStyle/>
          <a:p>
            <a:endParaRPr lang="en-IN"/>
          </a:p>
        </p:txBody>
      </p:sp>
      <p:sp>
        <p:nvSpPr>
          <p:cNvPr id="13319" name="TextBox 12">
            <a:extLst>
              <a:ext uri="{FF2B5EF4-FFF2-40B4-BE49-F238E27FC236}">
                <a16:creationId xmlns:a16="http://schemas.microsoft.com/office/drawing/2014/main" xmlns="" id="{D3DC2A06-073B-4604-9B39-23C7E6063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57250"/>
            <a:ext cx="5146786" cy="4217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6504" tIns="33252" rIns="66504" bIns="33252">
            <a:spAutoFit/>
          </a:bodyPr>
          <a:lstStyle/>
          <a:p>
            <a:pPr marL="457200" indent="-342900" eaLnBrk="1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/>
              <a:buChar char="●"/>
              <a:defRPr/>
            </a:pPr>
            <a:r>
              <a:rPr lang="en-US" sz="1800" dirty="0">
                <a:solidFill>
                  <a:schemeClr val="dk1"/>
                </a:solidFill>
              </a:rPr>
              <a:t>CRISP-DM Model(</a:t>
            </a:r>
            <a:r>
              <a:rPr lang="en-GB" sz="1800" dirty="0">
                <a:solidFill>
                  <a:schemeClr val="dk1"/>
                </a:solidFill>
              </a:rPr>
              <a:t>Cross Industry Standard Process for Data </a:t>
            </a:r>
            <a:r>
              <a:rPr lang="en-GB" sz="1800" dirty="0" smtClean="0">
                <a:solidFill>
                  <a:schemeClr val="dk1"/>
                </a:solidFill>
              </a:rPr>
              <a:t>Mining) </a:t>
            </a:r>
            <a:r>
              <a:rPr lang="en-GB" sz="1800" dirty="0">
                <a:solidFill>
                  <a:schemeClr val="dk1"/>
                </a:solidFill>
              </a:rPr>
              <a:t>was conceived in late 1996 </a:t>
            </a:r>
          </a:p>
          <a:p>
            <a:pPr marL="457200" indent="-342900" eaLnBrk="1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/>
              <a:buChar char="●"/>
              <a:defRPr/>
            </a:pPr>
            <a:r>
              <a:rPr lang="en-GB" sz="1800" dirty="0" smtClean="0">
                <a:solidFill>
                  <a:schemeClr val="dk1"/>
                </a:solidFill>
              </a:rPr>
              <a:t>Different </a:t>
            </a:r>
            <a:r>
              <a:rPr lang="en-GB" sz="1800" dirty="0">
                <a:solidFill>
                  <a:schemeClr val="dk1"/>
                </a:solidFill>
              </a:rPr>
              <a:t>steps are as below:</a:t>
            </a:r>
          </a:p>
          <a:p>
            <a:pPr marL="457200" lvl="3" indent="-342900">
              <a:spcBef>
                <a:spcPts val="1000"/>
              </a:spcBef>
              <a:buClr>
                <a:schemeClr val="dk1"/>
              </a:buClr>
              <a:buSzPts val="1800"/>
              <a:buFont typeface="Arial"/>
              <a:buChar char="●"/>
              <a:defRPr/>
            </a:pPr>
            <a:r>
              <a:rPr lang="en-US" sz="1600" dirty="0" smtClean="0">
                <a:solidFill>
                  <a:schemeClr val="dk1"/>
                </a:solidFill>
              </a:rPr>
              <a:t>Business Understanding</a:t>
            </a:r>
          </a:p>
          <a:p>
            <a:pPr marL="457200" lvl="3" indent="-342900">
              <a:spcBef>
                <a:spcPts val="1000"/>
              </a:spcBef>
              <a:buClr>
                <a:schemeClr val="dk1"/>
              </a:buClr>
              <a:buSzPts val="1800"/>
              <a:buFont typeface="Arial"/>
              <a:buChar char="●"/>
              <a:defRPr/>
            </a:pPr>
            <a:r>
              <a:rPr lang="en-US" sz="1600" dirty="0" smtClean="0">
                <a:solidFill>
                  <a:schemeClr val="dk1"/>
                </a:solidFill>
              </a:rPr>
              <a:t>Data Understanding</a:t>
            </a:r>
          </a:p>
          <a:p>
            <a:pPr marL="457200" lvl="3" indent="-342900">
              <a:spcBef>
                <a:spcPts val="1000"/>
              </a:spcBef>
              <a:buClr>
                <a:schemeClr val="dk1"/>
              </a:buClr>
              <a:buSzPts val="1800"/>
              <a:buFont typeface="Arial"/>
              <a:buChar char="●"/>
              <a:defRPr/>
            </a:pPr>
            <a:r>
              <a:rPr lang="en-US" sz="1600" dirty="0" smtClean="0">
                <a:solidFill>
                  <a:schemeClr val="dk1"/>
                </a:solidFill>
              </a:rPr>
              <a:t>Data Preparation</a:t>
            </a:r>
          </a:p>
          <a:p>
            <a:pPr marL="457200" lvl="3" indent="-342900">
              <a:spcBef>
                <a:spcPts val="1000"/>
              </a:spcBef>
              <a:buClr>
                <a:schemeClr val="dk1"/>
              </a:buClr>
              <a:buSzPts val="1800"/>
              <a:buFont typeface="Arial"/>
              <a:buChar char="●"/>
              <a:defRPr/>
            </a:pPr>
            <a:r>
              <a:rPr lang="en-US" sz="1600" dirty="0" smtClean="0">
                <a:solidFill>
                  <a:schemeClr val="dk1"/>
                </a:solidFill>
              </a:rPr>
              <a:t>Modeling</a:t>
            </a:r>
          </a:p>
          <a:p>
            <a:pPr marL="457200" lvl="3" indent="-342900">
              <a:spcBef>
                <a:spcPts val="1000"/>
              </a:spcBef>
              <a:buClr>
                <a:schemeClr val="dk1"/>
              </a:buClr>
              <a:buSzPts val="1800"/>
              <a:buFont typeface="Arial"/>
              <a:buChar char="●"/>
              <a:defRPr/>
            </a:pPr>
            <a:r>
              <a:rPr lang="en-US" sz="1600" dirty="0" smtClean="0">
                <a:solidFill>
                  <a:schemeClr val="dk1"/>
                </a:solidFill>
              </a:rPr>
              <a:t>Evaluation</a:t>
            </a:r>
          </a:p>
          <a:p>
            <a:pPr marL="457200" lvl="3" indent="-342900">
              <a:spcBef>
                <a:spcPts val="1000"/>
              </a:spcBef>
              <a:buClr>
                <a:schemeClr val="dk1"/>
              </a:buClr>
              <a:buSzPts val="1800"/>
              <a:buFont typeface="Arial"/>
              <a:buChar char="●"/>
              <a:defRPr/>
            </a:pPr>
            <a:r>
              <a:rPr lang="en-US" sz="1600" dirty="0" smtClean="0">
                <a:solidFill>
                  <a:schemeClr val="dk1"/>
                </a:solidFill>
              </a:rPr>
              <a:t>Deployment</a:t>
            </a:r>
            <a:endParaRPr lang="en-US" sz="1800" dirty="0" smtClean="0">
              <a:solidFill>
                <a:schemeClr val="dk1"/>
              </a:solidFill>
            </a:endParaRPr>
          </a:p>
          <a:p>
            <a:pPr marL="457200" indent="-342900" eaLnBrk="1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/>
              <a:buChar char="●"/>
              <a:defRPr/>
            </a:pPr>
            <a:endParaRPr lang="en-GB" sz="1800" dirty="0">
              <a:solidFill>
                <a:schemeClr val="dk1"/>
              </a:solidFill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 dirty="0">
              <a:latin typeface="Arial" charset="0"/>
              <a:ea typeface="Microsoft YaHei" charset="-122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 dirty="0">
              <a:latin typeface="Arial" charset="0"/>
              <a:ea typeface="Microsoft YaHei" charset="-122"/>
            </a:endParaRPr>
          </a:p>
        </p:txBody>
      </p:sp>
      <p:sp>
        <p:nvSpPr>
          <p:cNvPr id="40965" name="Rectangle 8"/>
          <p:cNvSpPr>
            <a:spLocks noChangeArrowheads="1"/>
          </p:cNvSpPr>
          <p:nvPr/>
        </p:nvSpPr>
        <p:spPr bwMode="auto">
          <a:xfrm>
            <a:off x="3124200" y="4343400"/>
            <a:ext cx="4540962" cy="267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6504" tIns="33252" rIns="66504" bIns="33252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</a:pPr>
            <a:r>
              <a:rPr lang="en-GB" altLang="en-US" dirty="0" smtClean="0">
                <a:latin typeface="Calibri" pitchFamily="34" charset="0"/>
              </a:rPr>
              <a:t>Source: http://www.sv-europe.com/crisp-dm-methodology/</a:t>
            </a:r>
            <a:endParaRPr lang="en-GB" altLang="en-US" dirty="0">
              <a:latin typeface="Calibri" pitchFamily="34" charset="0"/>
            </a:endParaRPr>
          </a:p>
        </p:txBody>
      </p:sp>
      <p:pic>
        <p:nvPicPr>
          <p:cNvPr id="40966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0201" y="2000250"/>
            <a:ext cx="3148695" cy="2001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8" name="Rectangle 10"/>
          <p:cNvSpPr>
            <a:spLocks noChangeArrowheads="1"/>
          </p:cNvSpPr>
          <p:nvPr/>
        </p:nvSpPr>
        <p:spPr bwMode="auto">
          <a:xfrm>
            <a:off x="280434" y="512392"/>
            <a:ext cx="2879602" cy="24021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65457" tIns="32729" rIns="65457" bIns="32729"/>
          <a:lstStyle/>
          <a:p>
            <a:pPr>
              <a:lnSpc>
                <a:spcPct val="90000"/>
              </a:lnSpc>
              <a:buClr>
                <a:srgbClr val="000000"/>
              </a:buClr>
              <a:buSzPct val="100000"/>
              <a:tabLst>
                <a:tab pos="526492" algn="l"/>
                <a:tab pos="1052985" algn="l"/>
              </a:tabLst>
            </a:pPr>
            <a:endParaRPr lang="en-US" altLang="en-US" sz="32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57200" y="114300"/>
            <a:ext cx="8229600" cy="7429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200" dirty="0" smtClean="0">
                <a:solidFill>
                  <a:srgbClr val="02918B"/>
                </a:solidFill>
              </a:rPr>
              <a:t>Data Science Life Cycle – CRISP </a:t>
            </a:r>
            <a:r>
              <a:rPr lang="en-IN" sz="2200" dirty="0" smtClean="0">
                <a:solidFill>
                  <a:srgbClr val="02918B"/>
                </a:solidFill>
              </a:rPr>
              <a:t>DM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9" name="Line 7"/>
          <p:cNvSpPr>
            <a:spLocks noChangeShapeType="1"/>
          </p:cNvSpPr>
          <p:nvPr/>
        </p:nvSpPr>
        <p:spPr bwMode="auto">
          <a:xfrm>
            <a:off x="762001" y="971551"/>
            <a:ext cx="6900529" cy="1031"/>
          </a:xfrm>
          <a:prstGeom prst="line">
            <a:avLst/>
          </a:prstGeom>
          <a:noFill/>
          <a:ln w="25560">
            <a:solidFill>
              <a:srgbClr val="767171"/>
            </a:solidFill>
            <a:miter lim="800000"/>
            <a:headEnd type="oval" w="med" len="med"/>
            <a:tailEnd/>
          </a:ln>
        </p:spPr>
        <p:txBody>
          <a:bodyPr lIns="66504" tIns="33252" rIns="66504" bIns="33252"/>
          <a:lstStyle/>
          <a:p>
            <a:endParaRPr lang="en-IN"/>
          </a:p>
        </p:txBody>
      </p:sp>
      <p:sp>
        <p:nvSpPr>
          <p:cNvPr id="13319" name="TextBox 12">
            <a:extLst>
              <a:ext uri="{FF2B5EF4-FFF2-40B4-BE49-F238E27FC236}">
                <a16:creationId xmlns:a16="http://schemas.microsoft.com/office/drawing/2014/main" xmlns="" id="{B08B5770-D236-4C3F-8F60-547D452E2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497" y="1335105"/>
            <a:ext cx="5542693" cy="1612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6504" tIns="33252" rIns="66504" bIns="33252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US" sz="1800" dirty="0">
                <a:solidFill>
                  <a:schemeClr val="dk1"/>
                </a:solidFill>
              </a:rPr>
              <a:t>The typical Data Science Life Cycle Model have following steps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sz="1800" dirty="0">
              <a:solidFill>
                <a:schemeClr val="dk1"/>
              </a:solidFill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sz="1800" dirty="0">
              <a:solidFill>
                <a:schemeClr val="dk1"/>
              </a:solidFill>
            </a:endParaRPr>
          </a:p>
          <a:p>
            <a:pPr marL="249391" indent="-24939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AutoNum type="arabicPeriod"/>
              <a:defRPr/>
            </a:pPr>
            <a:endParaRPr lang="en-GB" sz="1800" dirty="0">
              <a:solidFill>
                <a:schemeClr val="dk1"/>
              </a:solidFill>
            </a:endParaRPr>
          </a:p>
          <a:p>
            <a:pPr marL="249391" indent="-249391">
              <a:lnSpc>
                <a:spcPct val="93000"/>
              </a:lnSpc>
              <a:buClr>
                <a:srgbClr val="000000"/>
              </a:buClr>
              <a:buSzPct val="100000"/>
              <a:defRPr/>
            </a:pPr>
            <a:endParaRPr lang="en-GB" sz="1800" dirty="0">
              <a:solidFill>
                <a:schemeClr val="dk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E326306-597E-4D71-BCD1-5C3CDAA766CE}"/>
              </a:ext>
            </a:extLst>
          </p:cNvPr>
          <p:cNvSpPr txBox="1"/>
          <p:nvPr/>
        </p:nvSpPr>
        <p:spPr>
          <a:xfrm>
            <a:off x="316519" y="1928942"/>
            <a:ext cx="2127998" cy="2843876"/>
          </a:xfrm>
          <a:prstGeom prst="rect">
            <a:avLst/>
          </a:prstGeom>
          <a:noFill/>
        </p:spPr>
        <p:txBody>
          <a:bodyPr lIns="66504" tIns="33252" rIns="66504" bIns="33252">
            <a:spAutoFit/>
          </a:bodyPr>
          <a:lstStyle/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sz="1800" dirty="0">
                <a:solidFill>
                  <a:schemeClr val="dk1"/>
                </a:solidFill>
              </a:rPr>
              <a:t>Data acquisition</a:t>
            </a: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sz="1800" dirty="0">
                <a:solidFill>
                  <a:schemeClr val="dk1"/>
                </a:solidFill>
              </a:rPr>
              <a:t>Data Understanding</a:t>
            </a: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sz="1800" dirty="0">
                <a:solidFill>
                  <a:schemeClr val="dk1"/>
                </a:solidFill>
              </a:rPr>
              <a:t>Data Preparation</a:t>
            </a: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sz="1800" dirty="0">
                <a:solidFill>
                  <a:schemeClr val="dk1"/>
                </a:solidFill>
              </a:rPr>
              <a:t>Hypothesis and modeling</a:t>
            </a: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sz="1800" dirty="0">
                <a:solidFill>
                  <a:schemeClr val="dk1"/>
                </a:solidFill>
              </a:rPr>
              <a:t>Evaluation and Interpretation</a:t>
            </a: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sz="1800" dirty="0">
                <a:solidFill>
                  <a:schemeClr val="dk1"/>
                </a:solidFill>
              </a:rPr>
              <a:t>Deployment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 dirty="0">
              <a:latin typeface="Arial" charset="0"/>
              <a:ea typeface="Microsoft YaHei" charset="-122"/>
            </a:endParaRPr>
          </a:p>
        </p:txBody>
      </p:sp>
      <p:pic>
        <p:nvPicPr>
          <p:cNvPr id="4301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1" y="2514600"/>
            <a:ext cx="3198183" cy="1575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457200" y="114300"/>
            <a:ext cx="8229600" cy="7429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200" dirty="0" smtClean="0">
                <a:solidFill>
                  <a:srgbClr val="02918B"/>
                </a:solidFill>
              </a:rPr>
              <a:t>Data Science Life Cycle – CRISP DM Method</a:t>
            </a:r>
            <a:endParaRPr lang="en-IN" sz="2200" dirty="0">
              <a:solidFill>
                <a:srgbClr val="02918B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1" name="Google Shape;81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0100" y="1719263"/>
            <a:ext cx="3783800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424250"/>
            <a:ext cx="2688700" cy="48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3900" y="1234800"/>
            <a:ext cx="2688700" cy="48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819;p96"/>
          <p:cNvPicPr preferRelativeResize="0"/>
          <p:nvPr/>
        </p:nvPicPr>
        <p:blipFill rotWithShape="1">
          <a:blip r:embed="rId3">
            <a:alphaModFix/>
          </a:blip>
          <a:srcRect r="50531" b="4470"/>
          <a:stretch/>
        </p:blipFill>
        <p:spPr>
          <a:xfrm>
            <a:off x="0" y="4590813"/>
            <a:ext cx="1598675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25" y="221925"/>
            <a:ext cx="1683476" cy="15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525" y="4191650"/>
            <a:ext cx="2664476" cy="9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96"/>
          <p:cNvSpPr txBox="1"/>
          <p:nvPr/>
        </p:nvSpPr>
        <p:spPr>
          <a:xfrm>
            <a:off x="1905000" y="1440650"/>
            <a:ext cx="4917300" cy="13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200">
                <a:solidFill>
                  <a:srgbClr val="727CA3"/>
                </a:solidFill>
              </a:rPr>
              <a:t>Thank you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1935</Words>
  <PresentationFormat>On-screen Show (16:9)</PresentationFormat>
  <Paragraphs>306</Paragraphs>
  <Slides>58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Arial</vt:lpstr>
      <vt:lpstr>Courier New</vt:lpstr>
      <vt:lpstr>Helvetica LT Std Cond Light</vt:lpstr>
      <vt:lpstr>Microsoft YaHei</vt:lpstr>
      <vt:lpstr>Times New Roman</vt:lpstr>
      <vt:lpstr>Calibri</vt:lpstr>
      <vt:lpstr>Simple Light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Dr.Srinivas Padmanabhuni</dc:creator>
  <cp:lastModifiedBy>Dr.Srinivas Padmanabhuni</cp:lastModifiedBy>
  <cp:revision>3</cp:revision>
  <dcterms:modified xsi:type="dcterms:W3CDTF">2018-10-04T06:29:59Z</dcterms:modified>
</cp:coreProperties>
</file>